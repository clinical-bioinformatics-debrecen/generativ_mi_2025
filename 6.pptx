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71" r:id="rId14"/>
    <p:sldId id="270" r:id="rId15"/>
    <p:sldId id="272" r:id="rId16"/>
    <p:sldId id="273" r:id="rId17"/>
    <p:sldId id="274" r:id="rId18"/>
    <p:sldId id="277" r:id="rId19"/>
    <p:sldId id="278" r:id="rId20"/>
    <p:sldId id="279" r:id="rId21"/>
    <p:sldId id="280" r:id="rId22"/>
    <p:sldId id="281" r:id="rId23"/>
    <p:sldId id="282" r:id="rId24"/>
    <p:sldId id="283" r:id="rId25"/>
    <p:sldId id="284" r:id="rId26"/>
    <p:sldId id="285" r:id="rId27"/>
    <p:sldId id="286" r:id="rId28"/>
    <p:sldId id="287" r:id="rId29"/>
    <p:sldId id="288" r:id="rId3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1" d="100"/>
          <a:sy n="91" d="100"/>
        </p:scale>
        <p:origin x="-1018" y="-5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Élőfej hely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átum hely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029C65B-7C61-4B3A-A0A9-9F71D9675D7C}" type="datetimeFigureOut">
              <a:rPr lang="en-GB" smtClean="0"/>
              <a:t>03/12/2025</a:t>
            </a:fld>
            <a:endParaRPr lang="en-GB"/>
          </a:p>
        </p:txBody>
      </p:sp>
      <p:sp>
        <p:nvSpPr>
          <p:cNvPr id="4" name="Diakép helye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Jegyzetek helye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hu-HU" smtClean="0"/>
              <a:t>Mintaszöveg szerkesztése</a:t>
            </a:r>
          </a:p>
          <a:p>
            <a:pPr lvl="1"/>
            <a:r>
              <a:rPr lang="hu-HU" smtClean="0"/>
              <a:t>Második szint</a:t>
            </a:r>
          </a:p>
          <a:p>
            <a:pPr lvl="2"/>
            <a:r>
              <a:rPr lang="hu-HU" smtClean="0"/>
              <a:t>Harmadik szint</a:t>
            </a:r>
          </a:p>
          <a:p>
            <a:pPr lvl="3"/>
            <a:r>
              <a:rPr lang="hu-HU" smtClean="0"/>
              <a:t>Negyedik szint</a:t>
            </a:r>
          </a:p>
          <a:p>
            <a:pPr lvl="4"/>
            <a:r>
              <a:rPr lang="hu-HU" smtClean="0"/>
              <a:t>Ötödik szint</a:t>
            </a:r>
            <a:endParaRPr lang="en-GB"/>
          </a:p>
        </p:txBody>
      </p:sp>
      <p:sp>
        <p:nvSpPr>
          <p:cNvPr id="6" name="Élőláb hely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Dia számának hely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313DF2B-5626-4611-807B-90BDED65C379}" type="slidenum">
              <a:rPr lang="en-GB" smtClean="0"/>
              <a:t>‹#›</a:t>
            </a:fld>
            <a:endParaRPr lang="en-GB"/>
          </a:p>
        </p:txBody>
      </p:sp>
    </p:spTree>
    <p:extLst>
      <p:ext uri="{BB962C8B-B14F-4D97-AF65-F5344CB8AC3E}">
        <p14:creationId xmlns:p14="http://schemas.microsoft.com/office/powerpoint/2010/main" val="33094890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endParaRPr lang="en-GB" dirty="0"/>
          </a:p>
        </p:txBody>
      </p:sp>
      <p:sp>
        <p:nvSpPr>
          <p:cNvPr id="4" name="Dia számának helye 3"/>
          <p:cNvSpPr>
            <a:spLocks noGrp="1"/>
          </p:cNvSpPr>
          <p:nvPr>
            <p:ph type="sldNum" sz="quarter" idx="10"/>
          </p:nvPr>
        </p:nvSpPr>
        <p:spPr/>
        <p:txBody>
          <a:bodyPr/>
          <a:lstStyle/>
          <a:p>
            <a:fld id="{C313DF2B-5626-4611-807B-90BDED65C379}" type="slidenum">
              <a:rPr lang="en-GB" smtClean="0"/>
              <a:t>24</a:t>
            </a:fld>
            <a:endParaRPr lang="en-GB"/>
          </a:p>
        </p:txBody>
      </p:sp>
    </p:spTree>
    <p:extLst>
      <p:ext uri="{BB962C8B-B14F-4D97-AF65-F5344CB8AC3E}">
        <p14:creationId xmlns:p14="http://schemas.microsoft.com/office/powerpoint/2010/main" val="9485223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Címdia">
    <p:spTree>
      <p:nvGrpSpPr>
        <p:cNvPr id="1" name=""/>
        <p:cNvGrpSpPr/>
        <p:nvPr/>
      </p:nvGrpSpPr>
      <p:grpSpPr>
        <a:xfrm>
          <a:off x="0" y="0"/>
          <a:ext cx="0" cy="0"/>
          <a:chOff x="0" y="0"/>
          <a:chExt cx="0" cy="0"/>
        </a:xfrm>
      </p:grpSpPr>
      <p:sp>
        <p:nvSpPr>
          <p:cNvPr id="2" name="Cím 1"/>
          <p:cNvSpPr>
            <a:spLocks noGrp="1"/>
          </p:cNvSpPr>
          <p:nvPr>
            <p:ph type="ctrTitle"/>
          </p:nvPr>
        </p:nvSpPr>
        <p:spPr>
          <a:xfrm>
            <a:off x="685800" y="2130425"/>
            <a:ext cx="7772400" cy="1470025"/>
          </a:xfrm>
        </p:spPr>
        <p:txBody>
          <a:bodyPr/>
          <a:lstStyle/>
          <a:p>
            <a:r>
              <a:rPr lang="hu-HU" smtClean="0"/>
              <a:t>Mintacím szerkesztése</a:t>
            </a:r>
            <a:endParaRPr lang="en-GB"/>
          </a:p>
        </p:txBody>
      </p:sp>
      <p:sp>
        <p:nvSpPr>
          <p:cNvPr id="3" name="Alcím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hu-HU" smtClean="0"/>
              <a:t>Alcím mintájának szerkesztése</a:t>
            </a:r>
            <a:endParaRPr lang="en-GB"/>
          </a:p>
        </p:txBody>
      </p:sp>
      <p:sp>
        <p:nvSpPr>
          <p:cNvPr id="4" name="Dátum helye 3"/>
          <p:cNvSpPr>
            <a:spLocks noGrp="1"/>
          </p:cNvSpPr>
          <p:nvPr>
            <p:ph type="dt" sz="half" idx="10"/>
          </p:nvPr>
        </p:nvSpPr>
        <p:spPr/>
        <p:txBody>
          <a:bodyPr/>
          <a:lstStyle/>
          <a:p>
            <a:fld id="{BFFD28A8-DBC0-4F9B-A473-6C8FDAAB49E1}" type="datetimeFigureOut">
              <a:rPr lang="en-GB" smtClean="0"/>
              <a:t>03/12/2025</a:t>
            </a:fld>
            <a:endParaRPr lang="en-GB"/>
          </a:p>
        </p:txBody>
      </p:sp>
      <p:sp>
        <p:nvSpPr>
          <p:cNvPr id="5" name="Élőláb helye 4"/>
          <p:cNvSpPr>
            <a:spLocks noGrp="1"/>
          </p:cNvSpPr>
          <p:nvPr>
            <p:ph type="ftr" sz="quarter" idx="11"/>
          </p:nvPr>
        </p:nvSpPr>
        <p:spPr/>
        <p:txBody>
          <a:bodyPr/>
          <a:lstStyle/>
          <a:p>
            <a:endParaRPr lang="en-GB"/>
          </a:p>
        </p:txBody>
      </p:sp>
      <p:sp>
        <p:nvSpPr>
          <p:cNvPr id="6" name="Dia számának helye 5"/>
          <p:cNvSpPr>
            <a:spLocks noGrp="1"/>
          </p:cNvSpPr>
          <p:nvPr>
            <p:ph type="sldNum" sz="quarter" idx="12"/>
          </p:nvPr>
        </p:nvSpPr>
        <p:spPr/>
        <p:txBody>
          <a:bodyPr/>
          <a:lstStyle/>
          <a:p>
            <a:fld id="{BC461720-4705-41F8-A895-62E44136FF1F}" type="slidenum">
              <a:rPr lang="en-GB" smtClean="0"/>
              <a:t>‹#›</a:t>
            </a:fld>
            <a:endParaRPr lang="en-GB"/>
          </a:p>
        </p:txBody>
      </p:sp>
    </p:spTree>
    <p:extLst>
      <p:ext uri="{BB962C8B-B14F-4D97-AF65-F5344CB8AC3E}">
        <p14:creationId xmlns:p14="http://schemas.microsoft.com/office/powerpoint/2010/main" val="20316591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ím és tartalom">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smtClean="0"/>
              <a:t>Mintacím szerkesztése</a:t>
            </a:r>
            <a:endParaRPr lang="en-GB"/>
          </a:p>
        </p:txBody>
      </p:sp>
      <p:sp>
        <p:nvSpPr>
          <p:cNvPr id="3" name="Tartalom helye 2"/>
          <p:cNvSpPr>
            <a:spLocks noGrp="1"/>
          </p:cNvSpPr>
          <p:nvPr>
            <p:ph idx="1"/>
          </p:nvPr>
        </p:nvSpPr>
        <p:spPr/>
        <p:txBody>
          <a:bodyPr/>
          <a:lstStyle/>
          <a:p>
            <a:pPr lvl="0"/>
            <a:r>
              <a:rPr lang="hu-HU" smtClean="0"/>
              <a:t>Mintaszöveg szerkesztése</a:t>
            </a:r>
          </a:p>
          <a:p>
            <a:pPr lvl="1"/>
            <a:r>
              <a:rPr lang="hu-HU" smtClean="0"/>
              <a:t>Második szint</a:t>
            </a:r>
          </a:p>
          <a:p>
            <a:pPr lvl="2"/>
            <a:r>
              <a:rPr lang="hu-HU" smtClean="0"/>
              <a:t>Harmadik szint</a:t>
            </a:r>
          </a:p>
          <a:p>
            <a:pPr lvl="3"/>
            <a:r>
              <a:rPr lang="hu-HU" smtClean="0"/>
              <a:t>Negyedik szint</a:t>
            </a:r>
          </a:p>
          <a:p>
            <a:pPr lvl="4"/>
            <a:r>
              <a:rPr lang="hu-HU" smtClean="0"/>
              <a:t>Ötödik szint</a:t>
            </a:r>
            <a:endParaRPr lang="en-GB"/>
          </a:p>
        </p:txBody>
      </p:sp>
      <p:sp>
        <p:nvSpPr>
          <p:cNvPr id="4" name="Dátum helye 3"/>
          <p:cNvSpPr>
            <a:spLocks noGrp="1"/>
          </p:cNvSpPr>
          <p:nvPr>
            <p:ph type="dt" sz="half" idx="10"/>
          </p:nvPr>
        </p:nvSpPr>
        <p:spPr/>
        <p:txBody>
          <a:bodyPr/>
          <a:lstStyle/>
          <a:p>
            <a:fld id="{BFFD28A8-DBC0-4F9B-A473-6C8FDAAB49E1}" type="datetimeFigureOut">
              <a:rPr lang="en-GB" smtClean="0"/>
              <a:t>03/12/2025</a:t>
            </a:fld>
            <a:endParaRPr lang="en-GB"/>
          </a:p>
        </p:txBody>
      </p:sp>
      <p:sp>
        <p:nvSpPr>
          <p:cNvPr id="5" name="Élőláb helye 4"/>
          <p:cNvSpPr>
            <a:spLocks noGrp="1"/>
          </p:cNvSpPr>
          <p:nvPr>
            <p:ph type="ftr" sz="quarter" idx="11"/>
          </p:nvPr>
        </p:nvSpPr>
        <p:spPr/>
        <p:txBody>
          <a:bodyPr/>
          <a:lstStyle/>
          <a:p>
            <a:endParaRPr lang="en-GB"/>
          </a:p>
        </p:txBody>
      </p:sp>
      <p:sp>
        <p:nvSpPr>
          <p:cNvPr id="6" name="Dia számának helye 5"/>
          <p:cNvSpPr>
            <a:spLocks noGrp="1"/>
          </p:cNvSpPr>
          <p:nvPr>
            <p:ph type="sldNum" sz="quarter" idx="12"/>
          </p:nvPr>
        </p:nvSpPr>
        <p:spPr/>
        <p:txBody>
          <a:bodyPr/>
          <a:lstStyle/>
          <a:p>
            <a:fld id="{BC461720-4705-41F8-A895-62E44136FF1F}" type="slidenum">
              <a:rPr lang="en-GB" smtClean="0"/>
              <a:t>‹#›</a:t>
            </a:fld>
            <a:endParaRPr lang="en-GB"/>
          </a:p>
        </p:txBody>
      </p:sp>
    </p:spTree>
    <p:extLst>
      <p:ext uri="{BB962C8B-B14F-4D97-AF65-F5344CB8AC3E}">
        <p14:creationId xmlns:p14="http://schemas.microsoft.com/office/powerpoint/2010/main" val="42740694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zakaszfejléc">
    <p:spTree>
      <p:nvGrpSpPr>
        <p:cNvPr id="1" name=""/>
        <p:cNvGrpSpPr/>
        <p:nvPr/>
      </p:nvGrpSpPr>
      <p:grpSpPr>
        <a:xfrm>
          <a:off x="0" y="0"/>
          <a:ext cx="0" cy="0"/>
          <a:chOff x="0" y="0"/>
          <a:chExt cx="0" cy="0"/>
        </a:xfrm>
      </p:grpSpPr>
      <p:sp>
        <p:nvSpPr>
          <p:cNvPr id="2" name="Cím 1"/>
          <p:cNvSpPr>
            <a:spLocks noGrp="1"/>
          </p:cNvSpPr>
          <p:nvPr>
            <p:ph type="title"/>
          </p:nvPr>
        </p:nvSpPr>
        <p:spPr>
          <a:xfrm>
            <a:off x="722313" y="4406900"/>
            <a:ext cx="7772400" cy="1362075"/>
          </a:xfrm>
        </p:spPr>
        <p:txBody>
          <a:bodyPr anchor="t"/>
          <a:lstStyle>
            <a:lvl1pPr algn="l">
              <a:defRPr sz="4000" b="1" cap="all"/>
            </a:lvl1pPr>
          </a:lstStyle>
          <a:p>
            <a:r>
              <a:rPr lang="hu-HU" smtClean="0"/>
              <a:t>Mintacím szerkesztése</a:t>
            </a:r>
            <a:endParaRPr lang="en-GB"/>
          </a:p>
        </p:txBody>
      </p:sp>
      <p:sp>
        <p:nvSpPr>
          <p:cNvPr id="3" name="Szöveg hely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u-HU" smtClean="0"/>
              <a:t>Mintaszöveg szerkesztése</a:t>
            </a:r>
          </a:p>
        </p:txBody>
      </p:sp>
      <p:sp>
        <p:nvSpPr>
          <p:cNvPr id="4" name="Dátum helye 3"/>
          <p:cNvSpPr>
            <a:spLocks noGrp="1"/>
          </p:cNvSpPr>
          <p:nvPr>
            <p:ph type="dt" sz="half" idx="10"/>
          </p:nvPr>
        </p:nvSpPr>
        <p:spPr/>
        <p:txBody>
          <a:bodyPr/>
          <a:lstStyle/>
          <a:p>
            <a:fld id="{BFFD28A8-DBC0-4F9B-A473-6C8FDAAB49E1}" type="datetimeFigureOut">
              <a:rPr lang="en-GB" smtClean="0"/>
              <a:t>03/12/2025</a:t>
            </a:fld>
            <a:endParaRPr lang="en-GB"/>
          </a:p>
        </p:txBody>
      </p:sp>
      <p:sp>
        <p:nvSpPr>
          <p:cNvPr id="5" name="Élőláb helye 4"/>
          <p:cNvSpPr>
            <a:spLocks noGrp="1"/>
          </p:cNvSpPr>
          <p:nvPr>
            <p:ph type="ftr" sz="quarter" idx="11"/>
          </p:nvPr>
        </p:nvSpPr>
        <p:spPr/>
        <p:txBody>
          <a:bodyPr/>
          <a:lstStyle/>
          <a:p>
            <a:endParaRPr lang="en-GB"/>
          </a:p>
        </p:txBody>
      </p:sp>
      <p:sp>
        <p:nvSpPr>
          <p:cNvPr id="6" name="Dia számának helye 5"/>
          <p:cNvSpPr>
            <a:spLocks noGrp="1"/>
          </p:cNvSpPr>
          <p:nvPr>
            <p:ph type="sldNum" sz="quarter" idx="12"/>
          </p:nvPr>
        </p:nvSpPr>
        <p:spPr/>
        <p:txBody>
          <a:bodyPr/>
          <a:lstStyle/>
          <a:p>
            <a:fld id="{BC461720-4705-41F8-A895-62E44136FF1F}" type="slidenum">
              <a:rPr lang="en-GB" smtClean="0"/>
              <a:t>‹#›</a:t>
            </a:fld>
            <a:endParaRPr lang="en-GB"/>
          </a:p>
        </p:txBody>
      </p:sp>
    </p:spTree>
    <p:extLst>
      <p:ext uri="{BB962C8B-B14F-4D97-AF65-F5344CB8AC3E}">
        <p14:creationId xmlns:p14="http://schemas.microsoft.com/office/powerpoint/2010/main" val="36516762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tartalomrész">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smtClean="0"/>
              <a:t>Mintacím szerkesztése</a:t>
            </a:r>
            <a:endParaRPr lang="en-GB"/>
          </a:p>
        </p:txBody>
      </p:sp>
      <p:sp>
        <p:nvSpPr>
          <p:cNvPr id="3" name="Tartalom helye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hu-HU" smtClean="0"/>
              <a:t>Mintaszöveg szerkesztése</a:t>
            </a:r>
          </a:p>
          <a:p>
            <a:pPr lvl="1"/>
            <a:r>
              <a:rPr lang="hu-HU" smtClean="0"/>
              <a:t>Második szint</a:t>
            </a:r>
          </a:p>
          <a:p>
            <a:pPr lvl="2"/>
            <a:r>
              <a:rPr lang="hu-HU" smtClean="0"/>
              <a:t>Harmadik szint</a:t>
            </a:r>
          </a:p>
          <a:p>
            <a:pPr lvl="3"/>
            <a:r>
              <a:rPr lang="hu-HU" smtClean="0"/>
              <a:t>Negyedik szint</a:t>
            </a:r>
          </a:p>
          <a:p>
            <a:pPr lvl="4"/>
            <a:r>
              <a:rPr lang="hu-HU" smtClean="0"/>
              <a:t>Ötödik szint</a:t>
            </a:r>
            <a:endParaRPr lang="en-GB"/>
          </a:p>
        </p:txBody>
      </p:sp>
      <p:sp>
        <p:nvSpPr>
          <p:cNvPr id="4" name="Tartalom helye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hu-HU" smtClean="0"/>
              <a:t>Mintaszöveg szerkesztése</a:t>
            </a:r>
          </a:p>
          <a:p>
            <a:pPr lvl="1"/>
            <a:r>
              <a:rPr lang="hu-HU" smtClean="0"/>
              <a:t>Második szint</a:t>
            </a:r>
          </a:p>
          <a:p>
            <a:pPr lvl="2"/>
            <a:r>
              <a:rPr lang="hu-HU" smtClean="0"/>
              <a:t>Harmadik szint</a:t>
            </a:r>
          </a:p>
          <a:p>
            <a:pPr lvl="3"/>
            <a:r>
              <a:rPr lang="hu-HU" smtClean="0"/>
              <a:t>Negyedik szint</a:t>
            </a:r>
          </a:p>
          <a:p>
            <a:pPr lvl="4"/>
            <a:r>
              <a:rPr lang="hu-HU" smtClean="0"/>
              <a:t>Ötödik szint</a:t>
            </a:r>
            <a:endParaRPr lang="en-GB"/>
          </a:p>
        </p:txBody>
      </p:sp>
      <p:sp>
        <p:nvSpPr>
          <p:cNvPr id="5" name="Dátum helye 4"/>
          <p:cNvSpPr>
            <a:spLocks noGrp="1"/>
          </p:cNvSpPr>
          <p:nvPr>
            <p:ph type="dt" sz="half" idx="10"/>
          </p:nvPr>
        </p:nvSpPr>
        <p:spPr/>
        <p:txBody>
          <a:bodyPr/>
          <a:lstStyle/>
          <a:p>
            <a:fld id="{BFFD28A8-DBC0-4F9B-A473-6C8FDAAB49E1}" type="datetimeFigureOut">
              <a:rPr lang="en-GB" smtClean="0"/>
              <a:t>03/12/2025</a:t>
            </a:fld>
            <a:endParaRPr lang="en-GB"/>
          </a:p>
        </p:txBody>
      </p:sp>
      <p:sp>
        <p:nvSpPr>
          <p:cNvPr id="6" name="Élőláb helye 5"/>
          <p:cNvSpPr>
            <a:spLocks noGrp="1"/>
          </p:cNvSpPr>
          <p:nvPr>
            <p:ph type="ftr" sz="quarter" idx="11"/>
          </p:nvPr>
        </p:nvSpPr>
        <p:spPr/>
        <p:txBody>
          <a:bodyPr/>
          <a:lstStyle/>
          <a:p>
            <a:endParaRPr lang="en-GB"/>
          </a:p>
        </p:txBody>
      </p:sp>
      <p:sp>
        <p:nvSpPr>
          <p:cNvPr id="7" name="Dia számának helye 6"/>
          <p:cNvSpPr>
            <a:spLocks noGrp="1"/>
          </p:cNvSpPr>
          <p:nvPr>
            <p:ph type="sldNum" sz="quarter" idx="12"/>
          </p:nvPr>
        </p:nvSpPr>
        <p:spPr/>
        <p:txBody>
          <a:bodyPr/>
          <a:lstStyle/>
          <a:p>
            <a:fld id="{BC461720-4705-41F8-A895-62E44136FF1F}" type="slidenum">
              <a:rPr lang="en-GB" smtClean="0"/>
              <a:t>‹#›</a:t>
            </a:fld>
            <a:endParaRPr lang="en-GB"/>
          </a:p>
        </p:txBody>
      </p:sp>
    </p:spTree>
    <p:extLst>
      <p:ext uri="{BB962C8B-B14F-4D97-AF65-F5344CB8AC3E}">
        <p14:creationId xmlns:p14="http://schemas.microsoft.com/office/powerpoint/2010/main" val="5655701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Összehasonlítás">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lvl1pPr>
              <a:defRPr/>
            </a:lvl1pPr>
          </a:lstStyle>
          <a:p>
            <a:r>
              <a:rPr lang="hu-HU" smtClean="0"/>
              <a:t>Mintacím szerkesztése</a:t>
            </a:r>
            <a:endParaRPr lang="en-GB"/>
          </a:p>
        </p:txBody>
      </p:sp>
      <p:sp>
        <p:nvSpPr>
          <p:cNvPr id="3" name="Szöveg hely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smtClean="0"/>
              <a:t>Mintaszöveg szerkesztése</a:t>
            </a:r>
          </a:p>
        </p:txBody>
      </p:sp>
      <p:sp>
        <p:nvSpPr>
          <p:cNvPr id="4" name="Tartalom helye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hu-HU" smtClean="0"/>
              <a:t>Mintaszöveg szerkesztése</a:t>
            </a:r>
          </a:p>
          <a:p>
            <a:pPr lvl="1"/>
            <a:r>
              <a:rPr lang="hu-HU" smtClean="0"/>
              <a:t>Második szint</a:t>
            </a:r>
          </a:p>
          <a:p>
            <a:pPr lvl="2"/>
            <a:r>
              <a:rPr lang="hu-HU" smtClean="0"/>
              <a:t>Harmadik szint</a:t>
            </a:r>
          </a:p>
          <a:p>
            <a:pPr lvl="3"/>
            <a:r>
              <a:rPr lang="hu-HU" smtClean="0"/>
              <a:t>Negyedik szint</a:t>
            </a:r>
          </a:p>
          <a:p>
            <a:pPr lvl="4"/>
            <a:r>
              <a:rPr lang="hu-HU" smtClean="0"/>
              <a:t>Ötödik szint</a:t>
            </a:r>
            <a:endParaRPr lang="en-GB"/>
          </a:p>
        </p:txBody>
      </p:sp>
      <p:sp>
        <p:nvSpPr>
          <p:cNvPr id="5" name="Szöveg hely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smtClean="0"/>
              <a:t>Mintaszöveg szerkesztése</a:t>
            </a:r>
          </a:p>
        </p:txBody>
      </p:sp>
      <p:sp>
        <p:nvSpPr>
          <p:cNvPr id="6" name="Tartalom helye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hu-HU" smtClean="0"/>
              <a:t>Mintaszöveg szerkesztése</a:t>
            </a:r>
          </a:p>
          <a:p>
            <a:pPr lvl="1"/>
            <a:r>
              <a:rPr lang="hu-HU" smtClean="0"/>
              <a:t>Második szint</a:t>
            </a:r>
          </a:p>
          <a:p>
            <a:pPr lvl="2"/>
            <a:r>
              <a:rPr lang="hu-HU" smtClean="0"/>
              <a:t>Harmadik szint</a:t>
            </a:r>
          </a:p>
          <a:p>
            <a:pPr lvl="3"/>
            <a:r>
              <a:rPr lang="hu-HU" smtClean="0"/>
              <a:t>Negyedik szint</a:t>
            </a:r>
          </a:p>
          <a:p>
            <a:pPr lvl="4"/>
            <a:r>
              <a:rPr lang="hu-HU" smtClean="0"/>
              <a:t>Ötödik szint</a:t>
            </a:r>
            <a:endParaRPr lang="en-GB"/>
          </a:p>
        </p:txBody>
      </p:sp>
      <p:sp>
        <p:nvSpPr>
          <p:cNvPr id="7" name="Dátum helye 6"/>
          <p:cNvSpPr>
            <a:spLocks noGrp="1"/>
          </p:cNvSpPr>
          <p:nvPr>
            <p:ph type="dt" sz="half" idx="10"/>
          </p:nvPr>
        </p:nvSpPr>
        <p:spPr/>
        <p:txBody>
          <a:bodyPr/>
          <a:lstStyle/>
          <a:p>
            <a:fld id="{BFFD28A8-DBC0-4F9B-A473-6C8FDAAB49E1}" type="datetimeFigureOut">
              <a:rPr lang="en-GB" smtClean="0"/>
              <a:t>03/12/2025</a:t>
            </a:fld>
            <a:endParaRPr lang="en-GB"/>
          </a:p>
        </p:txBody>
      </p:sp>
      <p:sp>
        <p:nvSpPr>
          <p:cNvPr id="8" name="Élőláb helye 7"/>
          <p:cNvSpPr>
            <a:spLocks noGrp="1"/>
          </p:cNvSpPr>
          <p:nvPr>
            <p:ph type="ftr" sz="quarter" idx="11"/>
          </p:nvPr>
        </p:nvSpPr>
        <p:spPr/>
        <p:txBody>
          <a:bodyPr/>
          <a:lstStyle/>
          <a:p>
            <a:endParaRPr lang="en-GB"/>
          </a:p>
        </p:txBody>
      </p:sp>
      <p:sp>
        <p:nvSpPr>
          <p:cNvPr id="9" name="Dia számának helye 8"/>
          <p:cNvSpPr>
            <a:spLocks noGrp="1"/>
          </p:cNvSpPr>
          <p:nvPr>
            <p:ph type="sldNum" sz="quarter" idx="12"/>
          </p:nvPr>
        </p:nvSpPr>
        <p:spPr/>
        <p:txBody>
          <a:bodyPr/>
          <a:lstStyle/>
          <a:p>
            <a:fld id="{BC461720-4705-41F8-A895-62E44136FF1F}" type="slidenum">
              <a:rPr lang="en-GB" smtClean="0"/>
              <a:t>‹#›</a:t>
            </a:fld>
            <a:endParaRPr lang="en-GB"/>
          </a:p>
        </p:txBody>
      </p:sp>
    </p:spTree>
    <p:extLst>
      <p:ext uri="{BB962C8B-B14F-4D97-AF65-F5344CB8AC3E}">
        <p14:creationId xmlns:p14="http://schemas.microsoft.com/office/powerpoint/2010/main" val="42425302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sak cím">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smtClean="0"/>
              <a:t>Mintacím szerkesztése</a:t>
            </a:r>
            <a:endParaRPr lang="en-GB"/>
          </a:p>
        </p:txBody>
      </p:sp>
      <p:sp>
        <p:nvSpPr>
          <p:cNvPr id="3" name="Dátum helye 2"/>
          <p:cNvSpPr>
            <a:spLocks noGrp="1"/>
          </p:cNvSpPr>
          <p:nvPr>
            <p:ph type="dt" sz="half" idx="10"/>
          </p:nvPr>
        </p:nvSpPr>
        <p:spPr/>
        <p:txBody>
          <a:bodyPr/>
          <a:lstStyle/>
          <a:p>
            <a:fld id="{BFFD28A8-DBC0-4F9B-A473-6C8FDAAB49E1}" type="datetimeFigureOut">
              <a:rPr lang="en-GB" smtClean="0"/>
              <a:t>03/12/2025</a:t>
            </a:fld>
            <a:endParaRPr lang="en-GB"/>
          </a:p>
        </p:txBody>
      </p:sp>
      <p:sp>
        <p:nvSpPr>
          <p:cNvPr id="4" name="Élőláb helye 3"/>
          <p:cNvSpPr>
            <a:spLocks noGrp="1"/>
          </p:cNvSpPr>
          <p:nvPr>
            <p:ph type="ftr" sz="quarter" idx="11"/>
          </p:nvPr>
        </p:nvSpPr>
        <p:spPr/>
        <p:txBody>
          <a:bodyPr/>
          <a:lstStyle/>
          <a:p>
            <a:endParaRPr lang="en-GB"/>
          </a:p>
        </p:txBody>
      </p:sp>
      <p:sp>
        <p:nvSpPr>
          <p:cNvPr id="5" name="Dia számának helye 4"/>
          <p:cNvSpPr>
            <a:spLocks noGrp="1"/>
          </p:cNvSpPr>
          <p:nvPr>
            <p:ph type="sldNum" sz="quarter" idx="12"/>
          </p:nvPr>
        </p:nvSpPr>
        <p:spPr/>
        <p:txBody>
          <a:bodyPr/>
          <a:lstStyle/>
          <a:p>
            <a:fld id="{BC461720-4705-41F8-A895-62E44136FF1F}" type="slidenum">
              <a:rPr lang="en-GB" smtClean="0"/>
              <a:t>‹#›</a:t>
            </a:fld>
            <a:endParaRPr lang="en-GB"/>
          </a:p>
        </p:txBody>
      </p:sp>
    </p:spTree>
    <p:extLst>
      <p:ext uri="{BB962C8B-B14F-4D97-AF65-F5344CB8AC3E}">
        <p14:creationId xmlns:p14="http://schemas.microsoft.com/office/powerpoint/2010/main" val="36942144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Üres">
    <p:spTree>
      <p:nvGrpSpPr>
        <p:cNvPr id="1" name=""/>
        <p:cNvGrpSpPr/>
        <p:nvPr/>
      </p:nvGrpSpPr>
      <p:grpSpPr>
        <a:xfrm>
          <a:off x="0" y="0"/>
          <a:ext cx="0" cy="0"/>
          <a:chOff x="0" y="0"/>
          <a:chExt cx="0" cy="0"/>
        </a:xfrm>
      </p:grpSpPr>
      <p:sp>
        <p:nvSpPr>
          <p:cNvPr id="2" name="Dátum helye 1"/>
          <p:cNvSpPr>
            <a:spLocks noGrp="1"/>
          </p:cNvSpPr>
          <p:nvPr>
            <p:ph type="dt" sz="half" idx="10"/>
          </p:nvPr>
        </p:nvSpPr>
        <p:spPr/>
        <p:txBody>
          <a:bodyPr/>
          <a:lstStyle/>
          <a:p>
            <a:fld id="{BFFD28A8-DBC0-4F9B-A473-6C8FDAAB49E1}" type="datetimeFigureOut">
              <a:rPr lang="en-GB" smtClean="0"/>
              <a:t>03/12/2025</a:t>
            </a:fld>
            <a:endParaRPr lang="en-GB"/>
          </a:p>
        </p:txBody>
      </p:sp>
      <p:sp>
        <p:nvSpPr>
          <p:cNvPr id="3" name="Élőláb helye 2"/>
          <p:cNvSpPr>
            <a:spLocks noGrp="1"/>
          </p:cNvSpPr>
          <p:nvPr>
            <p:ph type="ftr" sz="quarter" idx="11"/>
          </p:nvPr>
        </p:nvSpPr>
        <p:spPr/>
        <p:txBody>
          <a:bodyPr/>
          <a:lstStyle/>
          <a:p>
            <a:endParaRPr lang="en-GB"/>
          </a:p>
        </p:txBody>
      </p:sp>
      <p:sp>
        <p:nvSpPr>
          <p:cNvPr id="4" name="Dia számának helye 3"/>
          <p:cNvSpPr>
            <a:spLocks noGrp="1"/>
          </p:cNvSpPr>
          <p:nvPr>
            <p:ph type="sldNum" sz="quarter" idx="12"/>
          </p:nvPr>
        </p:nvSpPr>
        <p:spPr/>
        <p:txBody>
          <a:bodyPr/>
          <a:lstStyle/>
          <a:p>
            <a:fld id="{BC461720-4705-41F8-A895-62E44136FF1F}" type="slidenum">
              <a:rPr lang="en-GB" smtClean="0"/>
              <a:t>‹#›</a:t>
            </a:fld>
            <a:endParaRPr lang="en-GB"/>
          </a:p>
        </p:txBody>
      </p:sp>
    </p:spTree>
    <p:extLst>
      <p:ext uri="{BB962C8B-B14F-4D97-AF65-F5344CB8AC3E}">
        <p14:creationId xmlns:p14="http://schemas.microsoft.com/office/powerpoint/2010/main" val="26342613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Tartalomrész képaláírással">
    <p:spTree>
      <p:nvGrpSpPr>
        <p:cNvPr id="1" name=""/>
        <p:cNvGrpSpPr/>
        <p:nvPr/>
      </p:nvGrpSpPr>
      <p:grpSpPr>
        <a:xfrm>
          <a:off x="0" y="0"/>
          <a:ext cx="0" cy="0"/>
          <a:chOff x="0" y="0"/>
          <a:chExt cx="0" cy="0"/>
        </a:xfrm>
      </p:grpSpPr>
      <p:sp>
        <p:nvSpPr>
          <p:cNvPr id="2" name="Cím 1"/>
          <p:cNvSpPr>
            <a:spLocks noGrp="1"/>
          </p:cNvSpPr>
          <p:nvPr>
            <p:ph type="title"/>
          </p:nvPr>
        </p:nvSpPr>
        <p:spPr>
          <a:xfrm>
            <a:off x="457200" y="273050"/>
            <a:ext cx="3008313" cy="1162050"/>
          </a:xfrm>
        </p:spPr>
        <p:txBody>
          <a:bodyPr anchor="b"/>
          <a:lstStyle>
            <a:lvl1pPr algn="l">
              <a:defRPr sz="2000" b="1"/>
            </a:lvl1pPr>
          </a:lstStyle>
          <a:p>
            <a:r>
              <a:rPr lang="hu-HU" smtClean="0"/>
              <a:t>Mintacím szerkesztése</a:t>
            </a:r>
            <a:endParaRPr lang="en-GB"/>
          </a:p>
        </p:txBody>
      </p:sp>
      <p:sp>
        <p:nvSpPr>
          <p:cNvPr id="3" name="Tartalom helye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u-HU" smtClean="0"/>
              <a:t>Mintaszöveg szerkesztése</a:t>
            </a:r>
          </a:p>
          <a:p>
            <a:pPr lvl="1"/>
            <a:r>
              <a:rPr lang="hu-HU" smtClean="0"/>
              <a:t>Második szint</a:t>
            </a:r>
          </a:p>
          <a:p>
            <a:pPr lvl="2"/>
            <a:r>
              <a:rPr lang="hu-HU" smtClean="0"/>
              <a:t>Harmadik szint</a:t>
            </a:r>
          </a:p>
          <a:p>
            <a:pPr lvl="3"/>
            <a:r>
              <a:rPr lang="hu-HU" smtClean="0"/>
              <a:t>Negyedik szint</a:t>
            </a:r>
          </a:p>
          <a:p>
            <a:pPr lvl="4"/>
            <a:r>
              <a:rPr lang="hu-HU" smtClean="0"/>
              <a:t>Ötödik szint</a:t>
            </a:r>
            <a:endParaRPr lang="en-GB"/>
          </a:p>
        </p:txBody>
      </p:sp>
      <p:sp>
        <p:nvSpPr>
          <p:cNvPr id="4" name="Szöveg hely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smtClean="0"/>
              <a:t>Mintaszöveg szerkesztése</a:t>
            </a:r>
          </a:p>
        </p:txBody>
      </p:sp>
      <p:sp>
        <p:nvSpPr>
          <p:cNvPr id="5" name="Dátum helye 4"/>
          <p:cNvSpPr>
            <a:spLocks noGrp="1"/>
          </p:cNvSpPr>
          <p:nvPr>
            <p:ph type="dt" sz="half" idx="10"/>
          </p:nvPr>
        </p:nvSpPr>
        <p:spPr/>
        <p:txBody>
          <a:bodyPr/>
          <a:lstStyle/>
          <a:p>
            <a:fld id="{BFFD28A8-DBC0-4F9B-A473-6C8FDAAB49E1}" type="datetimeFigureOut">
              <a:rPr lang="en-GB" smtClean="0"/>
              <a:t>03/12/2025</a:t>
            </a:fld>
            <a:endParaRPr lang="en-GB"/>
          </a:p>
        </p:txBody>
      </p:sp>
      <p:sp>
        <p:nvSpPr>
          <p:cNvPr id="6" name="Élőláb helye 5"/>
          <p:cNvSpPr>
            <a:spLocks noGrp="1"/>
          </p:cNvSpPr>
          <p:nvPr>
            <p:ph type="ftr" sz="quarter" idx="11"/>
          </p:nvPr>
        </p:nvSpPr>
        <p:spPr/>
        <p:txBody>
          <a:bodyPr/>
          <a:lstStyle/>
          <a:p>
            <a:endParaRPr lang="en-GB"/>
          </a:p>
        </p:txBody>
      </p:sp>
      <p:sp>
        <p:nvSpPr>
          <p:cNvPr id="7" name="Dia számának helye 6"/>
          <p:cNvSpPr>
            <a:spLocks noGrp="1"/>
          </p:cNvSpPr>
          <p:nvPr>
            <p:ph type="sldNum" sz="quarter" idx="12"/>
          </p:nvPr>
        </p:nvSpPr>
        <p:spPr/>
        <p:txBody>
          <a:bodyPr/>
          <a:lstStyle/>
          <a:p>
            <a:fld id="{BC461720-4705-41F8-A895-62E44136FF1F}" type="slidenum">
              <a:rPr lang="en-GB" smtClean="0"/>
              <a:t>‹#›</a:t>
            </a:fld>
            <a:endParaRPr lang="en-GB"/>
          </a:p>
        </p:txBody>
      </p:sp>
    </p:spTree>
    <p:extLst>
      <p:ext uri="{BB962C8B-B14F-4D97-AF65-F5344CB8AC3E}">
        <p14:creationId xmlns:p14="http://schemas.microsoft.com/office/powerpoint/2010/main" val="23832111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Kép képaláírással">
    <p:spTree>
      <p:nvGrpSpPr>
        <p:cNvPr id="1" name=""/>
        <p:cNvGrpSpPr/>
        <p:nvPr/>
      </p:nvGrpSpPr>
      <p:grpSpPr>
        <a:xfrm>
          <a:off x="0" y="0"/>
          <a:ext cx="0" cy="0"/>
          <a:chOff x="0" y="0"/>
          <a:chExt cx="0" cy="0"/>
        </a:xfrm>
      </p:grpSpPr>
      <p:sp>
        <p:nvSpPr>
          <p:cNvPr id="2" name="Cím 1"/>
          <p:cNvSpPr>
            <a:spLocks noGrp="1"/>
          </p:cNvSpPr>
          <p:nvPr>
            <p:ph type="title"/>
          </p:nvPr>
        </p:nvSpPr>
        <p:spPr>
          <a:xfrm>
            <a:off x="1792288" y="4800600"/>
            <a:ext cx="5486400" cy="566738"/>
          </a:xfrm>
        </p:spPr>
        <p:txBody>
          <a:bodyPr anchor="b"/>
          <a:lstStyle>
            <a:lvl1pPr algn="l">
              <a:defRPr sz="2000" b="1"/>
            </a:lvl1pPr>
          </a:lstStyle>
          <a:p>
            <a:r>
              <a:rPr lang="hu-HU" smtClean="0"/>
              <a:t>Mintacím szerkesztése</a:t>
            </a:r>
            <a:endParaRPr lang="en-GB"/>
          </a:p>
        </p:txBody>
      </p:sp>
      <p:sp>
        <p:nvSpPr>
          <p:cNvPr id="3" name="Kép hely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Szöveg hely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smtClean="0"/>
              <a:t>Mintaszöveg szerkesztése</a:t>
            </a:r>
          </a:p>
        </p:txBody>
      </p:sp>
      <p:sp>
        <p:nvSpPr>
          <p:cNvPr id="5" name="Dátum helye 4"/>
          <p:cNvSpPr>
            <a:spLocks noGrp="1"/>
          </p:cNvSpPr>
          <p:nvPr>
            <p:ph type="dt" sz="half" idx="10"/>
          </p:nvPr>
        </p:nvSpPr>
        <p:spPr/>
        <p:txBody>
          <a:bodyPr/>
          <a:lstStyle/>
          <a:p>
            <a:fld id="{BFFD28A8-DBC0-4F9B-A473-6C8FDAAB49E1}" type="datetimeFigureOut">
              <a:rPr lang="en-GB" smtClean="0"/>
              <a:t>03/12/2025</a:t>
            </a:fld>
            <a:endParaRPr lang="en-GB"/>
          </a:p>
        </p:txBody>
      </p:sp>
      <p:sp>
        <p:nvSpPr>
          <p:cNvPr id="6" name="Élőláb helye 5"/>
          <p:cNvSpPr>
            <a:spLocks noGrp="1"/>
          </p:cNvSpPr>
          <p:nvPr>
            <p:ph type="ftr" sz="quarter" idx="11"/>
          </p:nvPr>
        </p:nvSpPr>
        <p:spPr/>
        <p:txBody>
          <a:bodyPr/>
          <a:lstStyle/>
          <a:p>
            <a:endParaRPr lang="en-GB"/>
          </a:p>
        </p:txBody>
      </p:sp>
      <p:sp>
        <p:nvSpPr>
          <p:cNvPr id="7" name="Dia számának helye 6"/>
          <p:cNvSpPr>
            <a:spLocks noGrp="1"/>
          </p:cNvSpPr>
          <p:nvPr>
            <p:ph type="sldNum" sz="quarter" idx="12"/>
          </p:nvPr>
        </p:nvSpPr>
        <p:spPr/>
        <p:txBody>
          <a:bodyPr/>
          <a:lstStyle/>
          <a:p>
            <a:fld id="{BC461720-4705-41F8-A895-62E44136FF1F}" type="slidenum">
              <a:rPr lang="en-GB" smtClean="0"/>
              <a:t>‹#›</a:t>
            </a:fld>
            <a:endParaRPr lang="en-GB"/>
          </a:p>
        </p:txBody>
      </p:sp>
    </p:spTree>
    <p:extLst>
      <p:ext uri="{BB962C8B-B14F-4D97-AF65-F5344CB8AC3E}">
        <p14:creationId xmlns:p14="http://schemas.microsoft.com/office/powerpoint/2010/main" val="7338738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Cím és függőleges szöveg">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smtClean="0"/>
              <a:t>Mintacím szerkesztése</a:t>
            </a:r>
            <a:endParaRPr lang="en-GB"/>
          </a:p>
        </p:txBody>
      </p:sp>
      <p:sp>
        <p:nvSpPr>
          <p:cNvPr id="3" name="Függőleges szöveg helye 2"/>
          <p:cNvSpPr>
            <a:spLocks noGrp="1"/>
          </p:cNvSpPr>
          <p:nvPr>
            <p:ph type="body" orient="vert" idx="1"/>
          </p:nvPr>
        </p:nvSpPr>
        <p:spPr/>
        <p:txBody>
          <a:bodyPr vert="eaVert"/>
          <a:lstStyle/>
          <a:p>
            <a:pPr lvl="0"/>
            <a:r>
              <a:rPr lang="hu-HU" smtClean="0"/>
              <a:t>Mintaszöveg szerkesztése</a:t>
            </a:r>
          </a:p>
          <a:p>
            <a:pPr lvl="1"/>
            <a:r>
              <a:rPr lang="hu-HU" smtClean="0"/>
              <a:t>Második szint</a:t>
            </a:r>
          </a:p>
          <a:p>
            <a:pPr lvl="2"/>
            <a:r>
              <a:rPr lang="hu-HU" smtClean="0"/>
              <a:t>Harmadik szint</a:t>
            </a:r>
          </a:p>
          <a:p>
            <a:pPr lvl="3"/>
            <a:r>
              <a:rPr lang="hu-HU" smtClean="0"/>
              <a:t>Negyedik szint</a:t>
            </a:r>
          </a:p>
          <a:p>
            <a:pPr lvl="4"/>
            <a:r>
              <a:rPr lang="hu-HU" smtClean="0"/>
              <a:t>Ötödik szint</a:t>
            </a:r>
            <a:endParaRPr lang="en-GB"/>
          </a:p>
        </p:txBody>
      </p:sp>
      <p:sp>
        <p:nvSpPr>
          <p:cNvPr id="4" name="Dátum helye 3"/>
          <p:cNvSpPr>
            <a:spLocks noGrp="1"/>
          </p:cNvSpPr>
          <p:nvPr>
            <p:ph type="dt" sz="half" idx="10"/>
          </p:nvPr>
        </p:nvSpPr>
        <p:spPr/>
        <p:txBody>
          <a:bodyPr/>
          <a:lstStyle/>
          <a:p>
            <a:fld id="{BFFD28A8-DBC0-4F9B-A473-6C8FDAAB49E1}" type="datetimeFigureOut">
              <a:rPr lang="en-GB" smtClean="0"/>
              <a:t>03/12/2025</a:t>
            </a:fld>
            <a:endParaRPr lang="en-GB"/>
          </a:p>
        </p:txBody>
      </p:sp>
      <p:sp>
        <p:nvSpPr>
          <p:cNvPr id="5" name="Élőláb helye 4"/>
          <p:cNvSpPr>
            <a:spLocks noGrp="1"/>
          </p:cNvSpPr>
          <p:nvPr>
            <p:ph type="ftr" sz="quarter" idx="11"/>
          </p:nvPr>
        </p:nvSpPr>
        <p:spPr/>
        <p:txBody>
          <a:bodyPr/>
          <a:lstStyle/>
          <a:p>
            <a:endParaRPr lang="en-GB"/>
          </a:p>
        </p:txBody>
      </p:sp>
      <p:sp>
        <p:nvSpPr>
          <p:cNvPr id="6" name="Dia számának helye 5"/>
          <p:cNvSpPr>
            <a:spLocks noGrp="1"/>
          </p:cNvSpPr>
          <p:nvPr>
            <p:ph type="sldNum" sz="quarter" idx="12"/>
          </p:nvPr>
        </p:nvSpPr>
        <p:spPr/>
        <p:txBody>
          <a:bodyPr/>
          <a:lstStyle/>
          <a:p>
            <a:fld id="{BC461720-4705-41F8-A895-62E44136FF1F}" type="slidenum">
              <a:rPr lang="en-GB" smtClean="0"/>
              <a:t>‹#›</a:t>
            </a:fld>
            <a:endParaRPr lang="en-GB"/>
          </a:p>
        </p:txBody>
      </p:sp>
    </p:spTree>
    <p:extLst>
      <p:ext uri="{BB962C8B-B14F-4D97-AF65-F5344CB8AC3E}">
        <p14:creationId xmlns:p14="http://schemas.microsoft.com/office/powerpoint/2010/main" val="21622386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Függőleges cím és szöveg">
    <p:spTree>
      <p:nvGrpSpPr>
        <p:cNvPr id="1" name=""/>
        <p:cNvGrpSpPr/>
        <p:nvPr/>
      </p:nvGrpSpPr>
      <p:grpSpPr>
        <a:xfrm>
          <a:off x="0" y="0"/>
          <a:ext cx="0" cy="0"/>
          <a:chOff x="0" y="0"/>
          <a:chExt cx="0" cy="0"/>
        </a:xfrm>
      </p:grpSpPr>
      <p:sp>
        <p:nvSpPr>
          <p:cNvPr id="2" name="Függőleges cím 1"/>
          <p:cNvSpPr>
            <a:spLocks noGrp="1"/>
          </p:cNvSpPr>
          <p:nvPr>
            <p:ph type="title" orient="vert"/>
          </p:nvPr>
        </p:nvSpPr>
        <p:spPr>
          <a:xfrm>
            <a:off x="6629400" y="274638"/>
            <a:ext cx="2057400" cy="5851525"/>
          </a:xfrm>
        </p:spPr>
        <p:txBody>
          <a:bodyPr vert="eaVert"/>
          <a:lstStyle/>
          <a:p>
            <a:r>
              <a:rPr lang="hu-HU" smtClean="0"/>
              <a:t>Mintacím szerkesztése</a:t>
            </a:r>
            <a:endParaRPr lang="en-GB"/>
          </a:p>
        </p:txBody>
      </p:sp>
      <p:sp>
        <p:nvSpPr>
          <p:cNvPr id="3" name="Függőleges szöveg helye 2"/>
          <p:cNvSpPr>
            <a:spLocks noGrp="1"/>
          </p:cNvSpPr>
          <p:nvPr>
            <p:ph type="body" orient="vert" idx="1"/>
          </p:nvPr>
        </p:nvSpPr>
        <p:spPr>
          <a:xfrm>
            <a:off x="457200" y="274638"/>
            <a:ext cx="6019800" cy="5851525"/>
          </a:xfrm>
        </p:spPr>
        <p:txBody>
          <a:bodyPr vert="eaVert"/>
          <a:lstStyle/>
          <a:p>
            <a:pPr lvl="0"/>
            <a:r>
              <a:rPr lang="hu-HU" smtClean="0"/>
              <a:t>Mintaszöveg szerkesztése</a:t>
            </a:r>
          </a:p>
          <a:p>
            <a:pPr lvl="1"/>
            <a:r>
              <a:rPr lang="hu-HU" smtClean="0"/>
              <a:t>Második szint</a:t>
            </a:r>
          </a:p>
          <a:p>
            <a:pPr lvl="2"/>
            <a:r>
              <a:rPr lang="hu-HU" smtClean="0"/>
              <a:t>Harmadik szint</a:t>
            </a:r>
          </a:p>
          <a:p>
            <a:pPr lvl="3"/>
            <a:r>
              <a:rPr lang="hu-HU" smtClean="0"/>
              <a:t>Negyedik szint</a:t>
            </a:r>
          </a:p>
          <a:p>
            <a:pPr lvl="4"/>
            <a:r>
              <a:rPr lang="hu-HU" smtClean="0"/>
              <a:t>Ötödik szint</a:t>
            </a:r>
            <a:endParaRPr lang="en-GB"/>
          </a:p>
        </p:txBody>
      </p:sp>
      <p:sp>
        <p:nvSpPr>
          <p:cNvPr id="4" name="Dátum helye 3"/>
          <p:cNvSpPr>
            <a:spLocks noGrp="1"/>
          </p:cNvSpPr>
          <p:nvPr>
            <p:ph type="dt" sz="half" idx="10"/>
          </p:nvPr>
        </p:nvSpPr>
        <p:spPr/>
        <p:txBody>
          <a:bodyPr/>
          <a:lstStyle/>
          <a:p>
            <a:fld id="{BFFD28A8-DBC0-4F9B-A473-6C8FDAAB49E1}" type="datetimeFigureOut">
              <a:rPr lang="en-GB" smtClean="0"/>
              <a:t>03/12/2025</a:t>
            </a:fld>
            <a:endParaRPr lang="en-GB"/>
          </a:p>
        </p:txBody>
      </p:sp>
      <p:sp>
        <p:nvSpPr>
          <p:cNvPr id="5" name="Élőláb helye 4"/>
          <p:cNvSpPr>
            <a:spLocks noGrp="1"/>
          </p:cNvSpPr>
          <p:nvPr>
            <p:ph type="ftr" sz="quarter" idx="11"/>
          </p:nvPr>
        </p:nvSpPr>
        <p:spPr/>
        <p:txBody>
          <a:bodyPr/>
          <a:lstStyle/>
          <a:p>
            <a:endParaRPr lang="en-GB"/>
          </a:p>
        </p:txBody>
      </p:sp>
      <p:sp>
        <p:nvSpPr>
          <p:cNvPr id="6" name="Dia számának helye 5"/>
          <p:cNvSpPr>
            <a:spLocks noGrp="1"/>
          </p:cNvSpPr>
          <p:nvPr>
            <p:ph type="sldNum" sz="quarter" idx="12"/>
          </p:nvPr>
        </p:nvSpPr>
        <p:spPr/>
        <p:txBody>
          <a:bodyPr/>
          <a:lstStyle/>
          <a:p>
            <a:fld id="{BC461720-4705-41F8-A895-62E44136FF1F}" type="slidenum">
              <a:rPr lang="en-GB" smtClean="0"/>
              <a:t>‹#›</a:t>
            </a:fld>
            <a:endParaRPr lang="en-GB"/>
          </a:p>
        </p:txBody>
      </p:sp>
    </p:spTree>
    <p:extLst>
      <p:ext uri="{BB962C8B-B14F-4D97-AF65-F5344CB8AC3E}">
        <p14:creationId xmlns:p14="http://schemas.microsoft.com/office/powerpoint/2010/main" val="24760554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ím hely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hu-HU" smtClean="0"/>
              <a:t>Mintacím szerkesztése</a:t>
            </a:r>
            <a:endParaRPr lang="en-GB"/>
          </a:p>
        </p:txBody>
      </p:sp>
      <p:sp>
        <p:nvSpPr>
          <p:cNvPr id="3" name="Szöveg hely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hu-HU" smtClean="0"/>
              <a:t>Mintaszöveg szerkesztése</a:t>
            </a:r>
          </a:p>
          <a:p>
            <a:pPr lvl="1"/>
            <a:r>
              <a:rPr lang="hu-HU" smtClean="0"/>
              <a:t>Második szint</a:t>
            </a:r>
          </a:p>
          <a:p>
            <a:pPr lvl="2"/>
            <a:r>
              <a:rPr lang="hu-HU" smtClean="0"/>
              <a:t>Harmadik szint</a:t>
            </a:r>
          </a:p>
          <a:p>
            <a:pPr lvl="3"/>
            <a:r>
              <a:rPr lang="hu-HU" smtClean="0"/>
              <a:t>Negyedik szint</a:t>
            </a:r>
          </a:p>
          <a:p>
            <a:pPr lvl="4"/>
            <a:r>
              <a:rPr lang="hu-HU" smtClean="0"/>
              <a:t>Ötödik szint</a:t>
            </a:r>
            <a:endParaRPr lang="en-GB"/>
          </a:p>
        </p:txBody>
      </p:sp>
      <p:sp>
        <p:nvSpPr>
          <p:cNvPr id="4" name="Dátum hely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FFD28A8-DBC0-4F9B-A473-6C8FDAAB49E1}" type="datetimeFigureOut">
              <a:rPr lang="en-GB" smtClean="0"/>
              <a:t>03/12/2025</a:t>
            </a:fld>
            <a:endParaRPr lang="en-GB"/>
          </a:p>
        </p:txBody>
      </p:sp>
      <p:sp>
        <p:nvSpPr>
          <p:cNvPr id="5" name="Élőláb hely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Dia számának hely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C461720-4705-41F8-A895-62E44136FF1F}" type="slidenum">
              <a:rPr lang="en-GB" smtClean="0"/>
              <a:t>‹#›</a:t>
            </a:fld>
            <a:endParaRPr lang="en-GB"/>
          </a:p>
        </p:txBody>
      </p:sp>
    </p:spTree>
    <p:extLst>
      <p:ext uri="{BB962C8B-B14F-4D97-AF65-F5344CB8AC3E}">
        <p14:creationId xmlns:p14="http://schemas.microsoft.com/office/powerpoint/2010/main" val="15925904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arxiv.org/abs/1409.3215"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arxiv.org/abs/1706.03762"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https://github.com/google/sentencepiece"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hyperlink" Target="https://arxiv.org/abs/2109.10282" TargetMode="External"/><Relationship Id="rId3" Type="http://schemas.openxmlformats.org/officeDocument/2006/relationships/hyperlink" Target="https://arxiv.org/abs/1910.13461" TargetMode="External"/><Relationship Id="rId7" Type="http://schemas.openxmlformats.org/officeDocument/2006/relationships/hyperlink" Target="https://arxiv.org/abs/2205.14100"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hyperlink" Target="https://arxiv.org/abs/2212.04356" TargetMode="External"/><Relationship Id="rId5" Type="http://schemas.openxmlformats.org/officeDocument/2006/relationships/hyperlink" Target="https://arxiv.org/abs/1804.00344" TargetMode="External"/><Relationship Id="rId4" Type="http://schemas.openxmlformats.org/officeDocument/2006/relationships/hyperlink" Target="https://arxiv.org/abs/1910.10683"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hyperlink" Target="https://arxiv.org/abs/1810.04805"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ctrTitle"/>
          </p:nvPr>
        </p:nvSpPr>
        <p:spPr/>
        <p:txBody>
          <a:bodyPr/>
          <a:lstStyle/>
          <a:p>
            <a:r>
              <a:rPr lang="hu-HU" dirty="0"/>
              <a:t>Generatív mesterséges intelligencia</a:t>
            </a:r>
            <a:br>
              <a:rPr lang="hu-HU" dirty="0"/>
            </a:br>
            <a:r>
              <a:rPr lang="hu-HU" sz="4000" i="1" dirty="0" smtClean="0"/>
              <a:t>Szöveggenerálás mélytanulási modellekkel</a:t>
            </a:r>
            <a:endParaRPr lang="en-GB" sz="4000" i="1" dirty="0"/>
          </a:p>
        </p:txBody>
      </p:sp>
      <p:sp>
        <p:nvSpPr>
          <p:cNvPr id="3" name="Alcím 2"/>
          <p:cNvSpPr>
            <a:spLocks noGrp="1"/>
          </p:cNvSpPr>
          <p:nvPr>
            <p:ph type="subTitle" idx="1"/>
          </p:nvPr>
        </p:nvSpPr>
        <p:spPr>
          <a:xfrm>
            <a:off x="1403648" y="4365104"/>
            <a:ext cx="6400800" cy="1752600"/>
          </a:xfrm>
        </p:spPr>
        <p:txBody>
          <a:bodyPr/>
          <a:lstStyle/>
          <a:p>
            <a:r>
              <a:rPr lang="hu-HU" dirty="0" smtClean="0"/>
              <a:t>2025.11.20.</a:t>
            </a:r>
            <a:endParaRPr lang="hu-HU" dirty="0"/>
          </a:p>
          <a:p>
            <a:r>
              <a:rPr lang="hu-HU" dirty="0"/>
              <a:t>Pethő Gergely</a:t>
            </a:r>
          </a:p>
          <a:p>
            <a:r>
              <a:rPr lang="hu-HU" dirty="0"/>
              <a:t>DE </a:t>
            </a:r>
            <a:r>
              <a:rPr lang="hu-HU" dirty="0" err="1"/>
              <a:t>ETK</a:t>
            </a:r>
            <a:r>
              <a:rPr lang="hu-HU" dirty="0"/>
              <a:t> </a:t>
            </a:r>
            <a:r>
              <a:rPr lang="hu-HU" dirty="0" err="1"/>
              <a:t>Bioinformatikai</a:t>
            </a:r>
            <a:r>
              <a:rPr lang="hu-HU" dirty="0"/>
              <a:t> Tanszék</a:t>
            </a:r>
            <a:endParaRPr lang="en-GB" dirty="0"/>
          </a:p>
          <a:p>
            <a:endParaRPr lang="en-GB" dirty="0"/>
          </a:p>
        </p:txBody>
      </p:sp>
    </p:spTree>
    <p:extLst>
      <p:ext uri="{BB962C8B-B14F-4D97-AF65-F5344CB8AC3E}">
        <p14:creationId xmlns:p14="http://schemas.microsoft.com/office/powerpoint/2010/main" val="337078186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smtClean="0"/>
              <a:t>Természetes nyelvek feldolgozása</a:t>
            </a:r>
            <a:endParaRPr lang="en-GB" dirty="0"/>
          </a:p>
        </p:txBody>
      </p:sp>
      <p:sp>
        <p:nvSpPr>
          <p:cNvPr id="3" name="Tartalom helye 2"/>
          <p:cNvSpPr>
            <a:spLocks noGrp="1"/>
          </p:cNvSpPr>
          <p:nvPr>
            <p:ph idx="1"/>
          </p:nvPr>
        </p:nvSpPr>
        <p:spPr/>
        <p:txBody>
          <a:bodyPr>
            <a:normAutofit fontScale="70000" lnSpcReduction="20000"/>
          </a:bodyPr>
          <a:lstStyle/>
          <a:p>
            <a:r>
              <a:rPr lang="hu-HU" dirty="0" smtClean="0"/>
              <a:t>A mesterséges intelligenciában két fő célkitűzést különböztetünk meg a természetes (= emberi, nem formális) nyelvek feldolgozásával (</a:t>
            </a:r>
            <a:r>
              <a:rPr lang="hu-HU" dirty="0" err="1" smtClean="0"/>
              <a:t>natural</a:t>
            </a:r>
            <a:r>
              <a:rPr lang="hu-HU" dirty="0" smtClean="0"/>
              <a:t> </a:t>
            </a:r>
            <a:r>
              <a:rPr lang="hu-HU" dirty="0" err="1" smtClean="0"/>
              <a:t>language</a:t>
            </a:r>
            <a:r>
              <a:rPr lang="hu-HU" dirty="0" smtClean="0"/>
              <a:t> </a:t>
            </a:r>
            <a:r>
              <a:rPr lang="hu-HU" dirty="0" err="1" smtClean="0"/>
              <a:t>processing</a:t>
            </a:r>
            <a:r>
              <a:rPr lang="hu-HU" dirty="0" smtClean="0"/>
              <a:t>, </a:t>
            </a:r>
            <a:r>
              <a:rPr lang="hu-HU" dirty="0" err="1" smtClean="0"/>
              <a:t>NLP</a:t>
            </a:r>
            <a:r>
              <a:rPr lang="hu-HU" dirty="0" smtClean="0"/>
              <a:t>) kapcsolatban:</a:t>
            </a:r>
          </a:p>
          <a:p>
            <a:pPr lvl="1"/>
            <a:r>
              <a:rPr lang="hu-HU" dirty="0" smtClean="0"/>
              <a:t>természetes nyelv megértése (</a:t>
            </a:r>
            <a:r>
              <a:rPr lang="hu-HU" dirty="0" err="1" smtClean="0"/>
              <a:t>natural</a:t>
            </a:r>
            <a:r>
              <a:rPr lang="hu-HU" dirty="0" smtClean="0"/>
              <a:t> </a:t>
            </a:r>
            <a:r>
              <a:rPr lang="hu-HU" dirty="0" err="1" smtClean="0"/>
              <a:t>language</a:t>
            </a:r>
            <a:r>
              <a:rPr lang="hu-HU" dirty="0" smtClean="0"/>
              <a:t> </a:t>
            </a:r>
            <a:r>
              <a:rPr lang="hu-HU" dirty="0" err="1" smtClean="0"/>
              <a:t>understanding</a:t>
            </a:r>
            <a:r>
              <a:rPr lang="hu-HU" dirty="0" smtClean="0"/>
              <a:t>)</a:t>
            </a:r>
          </a:p>
          <a:p>
            <a:pPr lvl="2"/>
            <a:r>
              <a:rPr lang="hu-HU" dirty="0" smtClean="0"/>
              <a:t>nem generatív MI</a:t>
            </a:r>
          </a:p>
          <a:p>
            <a:pPr lvl="1"/>
            <a:r>
              <a:rPr lang="hu-HU" dirty="0" smtClean="0"/>
              <a:t>természetes nyelv generálása (</a:t>
            </a:r>
            <a:r>
              <a:rPr lang="hu-HU" dirty="0" err="1" smtClean="0"/>
              <a:t>natural</a:t>
            </a:r>
            <a:r>
              <a:rPr lang="hu-HU" dirty="0" smtClean="0"/>
              <a:t> </a:t>
            </a:r>
            <a:r>
              <a:rPr lang="hu-HU" dirty="0" err="1" smtClean="0"/>
              <a:t>language</a:t>
            </a:r>
            <a:r>
              <a:rPr lang="hu-HU" dirty="0" smtClean="0"/>
              <a:t> </a:t>
            </a:r>
            <a:r>
              <a:rPr lang="hu-HU" dirty="0" err="1" smtClean="0"/>
              <a:t>generation</a:t>
            </a:r>
            <a:r>
              <a:rPr lang="hu-HU" dirty="0" smtClean="0"/>
              <a:t>)</a:t>
            </a:r>
          </a:p>
          <a:p>
            <a:pPr lvl="2"/>
            <a:r>
              <a:rPr lang="hu-HU" dirty="0" smtClean="0"/>
              <a:t>generatív MI</a:t>
            </a:r>
          </a:p>
          <a:p>
            <a:r>
              <a:rPr lang="hu-HU" dirty="0" smtClean="0"/>
              <a:t>Nem természeteses nyelvek: formális nyelvek pontosan, matematikai, formális logikai módszerekkel meghatározott szintaxissal és szemantikával</a:t>
            </a:r>
          </a:p>
          <a:p>
            <a:pPr lvl="1"/>
            <a:r>
              <a:rPr lang="hu-HU" dirty="0" smtClean="0"/>
              <a:t>formális logikai nyelvek, pl. </a:t>
            </a:r>
            <a:r>
              <a:rPr lang="hu-HU" dirty="0" err="1" smtClean="0"/>
              <a:t>propozicionális</a:t>
            </a:r>
            <a:r>
              <a:rPr lang="hu-HU" dirty="0" smtClean="0"/>
              <a:t> logika, elsőrendű predikátumlogika, modális, intenzionális logika, típuselméleti logika</a:t>
            </a:r>
          </a:p>
          <a:p>
            <a:pPr lvl="1"/>
            <a:r>
              <a:rPr lang="hu-HU" dirty="0" smtClean="0"/>
              <a:t>programozási nyelvek, pl. C, Java, Python; tágabban számítógépes nyelvek, beleértve ún. </a:t>
            </a:r>
            <a:r>
              <a:rPr lang="hu-HU" dirty="0" err="1" smtClean="0"/>
              <a:t>doménspecifikus</a:t>
            </a:r>
            <a:r>
              <a:rPr lang="hu-HU" dirty="0" smtClean="0"/>
              <a:t> nyelveket is, pl. SQL, </a:t>
            </a:r>
            <a:r>
              <a:rPr lang="hu-HU" dirty="0" err="1" smtClean="0"/>
              <a:t>Verilog</a:t>
            </a:r>
            <a:endParaRPr lang="hu-HU" dirty="0" smtClean="0"/>
          </a:p>
          <a:p>
            <a:endParaRPr lang="en-GB" dirty="0"/>
          </a:p>
        </p:txBody>
      </p:sp>
    </p:spTree>
    <p:extLst>
      <p:ext uri="{BB962C8B-B14F-4D97-AF65-F5344CB8AC3E}">
        <p14:creationId xmlns:p14="http://schemas.microsoft.com/office/powerpoint/2010/main" val="332473255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smtClean="0"/>
              <a:t>Előzmények</a:t>
            </a:r>
            <a:endParaRPr lang="en-GB" dirty="0"/>
          </a:p>
        </p:txBody>
      </p:sp>
      <p:sp>
        <p:nvSpPr>
          <p:cNvPr id="3" name="Tartalom helye 2"/>
          <p:cNvSpPr>
            <a:spLocks noGrp="1"/>
          </p:cNvSpPr>
          <p:nvPr>
            <p:ph idx="1"/>
          </p:nvPr>
        </p:nvSpPr>
        <p:spPr/>
        <p:txBody>
          <a:bodyPr>
            <a:normAutofit fontScale="70000" lnSpcReduction="20000"/>
          </a:bodyPr>
          <a:lstStyle/>
          <a:p>
            <a:r>
              <a:rPr lang="hu-HU" dirty="0" smtClean="0"/>
              <a:t>Természetes nyelvi szövegeket természetesen könnyedén elő tudunk állítani számítógéppel MI nélkül is.</a:t>
            </a:r>
          </a:p>
          <a:p>
            <a:pPr lvl="1"/>
            <a:r>
              <a:rPr lang="hu-HU" dirty="0" smtClean="0"/>
              <a:t>Hello World</a:t>
            </a:r>
          </a:p>
          <a:p>
            <a:pPr lvl="1"/>
            <a:r>
              <a:rPr lang="hu-HU" dirty="0"/>
              <a:t>h</a:t>
            </a:r>
            <a:r>
              <a:rPr lang="hu-HU" dirty="0" smtClean="0"/>
              <a:t>ibaüzenetek</a:t>
            </a:r>
          </a:p>
          <a:p>
            <a:pPr lvl="1"/>
            <a:r>
              <a:rPr lang="hu-HU" dirty="0" smtClean="0"/>
              <a:t>Eliza</a:t>
            </a:r>
          </a:p>
          <a:p>
            <a:pPr lvl="1"/>
            <a:r>
              <a:rPr lang="hu-HU" dirty="0" smtClean="0"/>
              <a:t>generatív nyelvtan</a:t>
            </a:r>
          </a:p>
          <a:p>
            <a:pPr lvl="2"/>
            <a:r>
              <a:rPr lang="hu-HU" dirty="0"/>
              <a:t>A</a:t>
            </a:r>
            <a:r>
              <a:rPr lang="hu-HU" dirty="0" smtClean="0"/>
              <a:t>z 1950-es évek közepe óta máig aktívan művelt, nagyon befolyásos elméleti nyelvészeti megközelítés, amely célja egy olyan, lényegében formális nyelvtan meghatározása természetes nyelvekre, főleg az angolra, amely kijelöli az adott nyelven létrehozható mondatok halmazát.</a:t>
            </a:r>
          </a:p>
          <a:p>
            <a:pPr lvl="3"/>
            <a:r>
              <a:rPr lang="hu-HU" dirty="0" smtClean="0"/>
              <a:t>„generálja” az adott nyelvhez tartozó (az adott nyelvben „helyes”) mondatot, nem generálja a nyelvhez nem tartozó mondatokat</a:t>
            </a:r>
          </a:p>
          <a:p>
            <a:pPr lvl="3"/>
            <a:r>
              <a:rPr lang="hu-HU" i="1" dirty="0" smtClean="0"/>
              <a:t>A kutya a szobában van. </a:t>
            </a:r>
            <a:r>
              <a:rPr lang="hu-HU" dirty="0" smtClean="0"/>
              <a:t>– generálja</a:t>
            </a:r>
          </a:p>
          <a:p>
            <a:pPr lvl="3"/>
            <a:r>
              <a:rPr lang="hu-HU" i="1" dirty="0" smtClean="0"/>
              <a:t>Kutya jön nem szobát egy volna virág. </a:t>
            </a:r>
            <a:r>
              <a:rPr lang="hu-HU" dirty="0" smtClean="0"/>
              <a:t>– nem generálja</a:t>
            </a:r>
          </a:p>
          <a:p>
            <a:pPr lvl="2"/>
            <a:r>
              <a:rPr lang="hu-HU" dirty="0"/>
              <a:t>S</a:t>
            </a:r>
            <a:r>
              <a:rPr lang="hu-HU" dirty="0" smtClean="0"/>
              <a:t>úlyos filozófiai és gyakorlati kérdéseket vet fel, de ha írunk egy ilyen nyelvtant, és implementáljuk, akkor a számítógép mondatokat generál.</a:t>
            </a:r>
          </a:p>
          <a:p>
            <a:r>
              <a:rPr lang="hu-HU" dirty="0" smtClean="0"/>
              <a:t>Hol a határa a generatív </a:t>
            </a:r>
            <a:r>
              <a:rPr lang="hu-HU" dirty="0" err="1" smtClean="0"/>
              <a:t>MI-vel</a:t>
            </a:r>
            <a:r>
              <a:rPr lang="hu-HU" dirty="0" smtClean="0"/>
              <a:t> történő szöveggenerálásnak?</a:t>
            </a:r>
            <a:endParaRPr lang="en-GB" dirty="0"/>
          </a:p>
        </p:txBody>
      </p:sp>
    </p:spTree>
    <p:extLst>
      <p:ext uri="{BB962C8B-B14F-4D97-AF65-F5344CB8AC3E}">
        <p14:creationId xmlns:p14="http://schemas.microsoft.com/office/powerpoint/2010/main" val="85044829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smtClean="0"/>
              <a:t>Előzmények</a:t>
            </a:r>
            <a:endParaRPr lang="en-GB" dirty="0"/>
          </a:p>
        </p:txBody>
      </p:sp>
      <p:sp>
        <p:nvSpPr>
          <p:cNvPr id="3" name="Tartalom helye 2"/>
          <p:cNvSpPr>
            <a:spLocks noGrp="1"/>
          </p:cNvSpPr>
          <p:nvPr>
            <p:ph idx="1"/>
          </p:nvPr>
        </p:nvSpPr>
        <p:spPr/>
        <p:txBody>
          <a:bodyPr>
            <a:normAutofit fontScale="62500" lnSpcReduction="20000"/>
          </a:bodyPr>
          <a:lstStyle/>
          <a:p>
            <a:r>
              <a:rPr lang="hu-HU" dirty="0" smtClean="0"/>
              <a:t>Fontos előzmény a gépi fordítás</a:t>
            </a:r>
          </a:p>
          <a:p>
            <a:pPr lvl="1"/>
            <a:r>
              <a:rPr lang="hu-HU" dirty="0" smtClean="0"/>
              <a:t>Volt róla szó, hogy a gépi fordítás klasszikus </a:t>
            </a:r>
            <a:r>
              <a:rPr lang="hu-HU" dirty="0" err="1" smtClean="0"/>
              <a:t>MI-probléma</a:t>
            </a:r>
            <a:r>
              <a:rPr lang="hu-HU" dirty="0" smtClean="0"/>
              <a:t> a kezdetektől, az 1950-es évektől fogva.</a:t>
            </a:r>
          </a:p>
          <a:p>
            <a:pPr lvl="2"/>
            <a:r>
              <a:rPr lang="hu-HU" dirty="0" smtClean="0"/>
              <a:t>Gépi fordítás: egy valamely emberi nyelven, pl. oroszul megfogalmazott mondat egy másik emberi nyelven, pl. angolul megalkotott, azonos tartalmú, jelentésű megfelelőjének megalkotása automatikusan, számítógéppel, emberi közreműködés nélkül.</a:t>
            </a:r>
          </a:p>
          <a:p>
            <a:pPr lvl="3"/>
            <a:r>
              <a:rPr lang="hu-HU" dirty="0" smtClean="0"/>
              <a:t>A számítógép valamilyen szoftvert felhasználva lefordít egy szöveget.</a:t>
            </a:r>
          </a:p>
          <a:p>
            <a:pPr lvl="1"/>
            <a:r>
              <a:rPr lang="hu-HU" dirty="0" smtClean="0"/>
              <a:t>A jó gépi fordítás valóban emberi tevékenységet szimulál, így </a:t>
            </a:r>
            <a:r>
              <a:rPr lang="hu-HU" dirty="0" err="1" smtClean="0"/>
              <a:t>MI-nek</a:t>
            </a:r>
            <a:r>
              <a:rPr lang="hu-HU" dirty="0" smtClean="0"/>
              <a:t> mondható.</a:t>
            </a:r>
          </a:p>
          <a:p>
            <a:pPr lvl="2"/>
            <a:r>
              <a:rPr lang="hu-HU" dirty="0" smtClean="0"/>
              <a:t>Feltételezi a fordítandó szöveg megértését</a:t>
            </a:r>
          </a:p>
          <a:p>
            <a:pPr lvl="2"/>
            <a:r>
              <a:rPr lang="hu-HU" dirty="0" smtClean="0"/>
              <a:t>Nem egyszerűen szavak kikeresése egy kétnyelvű szótárból</a:t>
            </a:r>
          </a:p>
          <a:p>
            <a:pPr lvl="2"/>
            <a:r>
              <a:rPr lang="hu-HU" dirty="0" smtClean="0"/>
              <a:t>Bonyolult intellektuális teljesítmény: átlátjuk, „elemezzük” a mondatszerkezetet, többértelmű szavak adott kontextusban releváns jelentését kiválasztjuk, a csatornában megjelenő zajt (elgépelések, artikulációs hibák, nyelvi hibák) automatikusan javítjuk</a:t>
            </a:r>
          </a:p>
          <a:p>
            <a:pPr lvl="2"/>
            <a:r>
              <a:rPr lang="hu-HU" dirty="0" smtClean="0"/>
              <a:t>Sőt: a célnyelvi szöveg megalkotásához számottevő elmeelméletre van szükség </a:t>
            </a:r>
          </a:p>
          <a:p>
            <a:pPr lvl="3"/>
            <a:r>
              <a:rPr lang="hu-HU" dirty="0"/>
              <a:t>H</a:t>
            </a:r>
            <a:r>
              <a:rPr lang="hu-HU" dirty="0" smtClean="0"/>
              <a:t>ogy alkossam meg a mondatot úgy, hogy az olvasó úgy értse, ahogy szeretném?</a:t>
            </a:r>
          </a:p>
          <a:p>
            <a:pPr lvl="1"/>
            <a:r>
              <a:rPr lang="hu-HU" dirty="0" smtClean="0"/>
              <a:t>Ennek ellenére a gépi fordítást általában nem tekintjük generatív </a:t>
            </a:r>
            <a:r>
              <a:rPr lang="hu-HU" dirty="0" err="1" smtClean="0"/>
              <a:t>MI-nek</a:t>
            </a:r>
            <a:r>
              <a:rPr lang="hu-HU" dirty="0" smtClean="0"/>
              <a:t>, mert a gép nem önállóan alkot valamit, hanem egy forrásnyelvi mondat alapján.</a:t>
            </a:r>
          </a:p>
        </p:txBody>
      </p:sp>
    </p:spTree>
    <p:extLst>
      <p:ext uri="{BB962C8B-B14F-4D97-AF65-F5344CB8AC3E}">
        <p14:creationId xmlns:p14="http://schemas.microsoft.com/office/powerpoint/2010/main" val="280233360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smtClean="0"/>
              <a:t>Szöveggenerálás </a:t>
            </a:r>
            <a:r>
              <a:rPr lang="hu-HU" dirty="0" err="1" smtClean="0"/>
              <a:t>MI-vel</a:t>
            </a:r>
            <a:endParaRPr lang="en-GB" dirty="0"/>
          </a:p>
        </p:txBody>
      </p:sp>
      <p:sp>
        <p:nvSpPr>
          <p:cNvPr id="3" name="Tartalom helye 2"/>
          <p:cNvSpPr>
            <a:spLocks noGrp="1"/>
          </p:cNvSpPr>
          <p:nvPr>
            <p:ph idx="1"/>
          </p:nvPr>
        </p:nvSpPr>
        <p:spPr/>
        <p:txBody>
          <a:bodyPr>
            <a:normAutofit fontScale="70000" lnSpcReduction="20000"/>
          </a:bodyPr>
          <a:lstStyle/>
          <a:p>
            <a:r>
              <a:rPr lang="hu-HU" dirty="0" smtClean="0"/>
              <a:t>Definíciós kísérlet: Azt tekinthetjük </a:t>
            </a:r>
            <a:r>
              <a:rPr lang="hu-HU" dirty="0" err="1" smtClean="0"/>
              <a:t>MI-vel</a:t>
            </a:r>
            <a:r>
              <a:rPr lang="hu-HU" dirty="0" smtClean="0"/>
              <a:t> történő szöveggenerálásnak, amikor egy számítógép</a:t>
            </a:r>
          </a:p>
          <a:p>
            <a:pPr lvl="1"/>
            <a:r>
              <a:rPr lang="hu-HU" dirty="0" smtClean="0"/>
              <a:t>szöveget hoz létre</a:t>
            </a:r>
          </a:p>
          <a:p>
            <a:pPr lvl="2"/>
            <a:r>
              <a:rPr lang="hu-HU" dirty="0" smtClean="0"/>
              <a:t>lehet MI, de nem szöveggenerálás az, amikor kulcsmondatokat emelünk ki egy szövegből a szöveg összefoglalása céljából</a:t>
            </a:r>
          </a:p>
          <a:p>
            <a:pPr lvl="1"/>
            <a:r>
              <a:rPr lang="hu-HU" dirty="0" smtClean="0"/>
              <a:t>nem egy előre megadott szöveget ír ki a képernyőre</a:t>
            </a:r>
          </a:p>
          <a:p>
            <a:pPr lvl="2"/>
            <a:r>
              <a:rPr lang="hu-HU" dirty="0" smtClean="0"/>
              <a:t>kreatív módon</a:t>
            </a:r>
          </a:p>
          <a:p>
            <a:pPr lvl="1"/>
            <a:r>
              <a:rPr lang="hu-HU" dirty="0" smtClean="0"/>
              <a:t>nem mechanikusan, előre meghatározott elemeket véletlenszerűen vagy szisztematikusan összeillesztve</a:t>
            </a:r>
          </a:p>
          <a:p>
            <a:pPr lvl="2"/>
            <a:r>
              <a:rPr lang="hu-HU" dirty="0" smtClean="0"/>
              <a:t>egy alkalmazás, ami mechanikusan elragoz egy megadott szótári szót az összes alakjában, nem intelligens tevékenységet szimulál, nem MI</a:t>
            </a:r>
          </a:p>
          <a:p>
            <a:pPr lvl="1"/>
            <a:r>
              <a:rPr lang="hu-HU" dirty="0" smtClean="0"/>
              <a:t>hanem a környezethez alkalmazkodva más-más nyelvi szerkezeteket hoz létre, az adott nyelv szókészletének és nyelvtanának megfelelően</a:t>
            </a:r>
          </a:p>
          <a:p>
            <a:pPr lvl="1"/>
            <a:r>
              <a:rPr lang="hu-HU" dirty="0" smtClean="0"/>
              <a:t>a létrehozott tartalom az adott kommunikációs helyzetben értelmes, helyénvaló</a:t>
            </a:r>
          </a:p>
        </p:txBody>
      </p:sp>
    </p:spTree>
    <p:extLst>
      <p:ext uri="{BB962C8B-B14F-4D97-AF65-F5344CB8AC3E}">
        <p14:creationId xmlns:p14="http://schemas.microsoft.com/office/powerpoint/2010/main" val="144261284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smtClean="0"/>
              <a:t>Gépi fordítás és kivonatolás</a:t>
            </a:r>
            <a:endParaRPr lang="en-GB" dirty="0"/>
          </a:p>
        </p:txBody>
      </p:sp>
      <p:sp>
        <p:nvSpPr>
          <p:cNvPr id="3" name="Tartalom helye 2"/>
          <p:cNvSpPr>
            <a:spLocks noGrp="1"/>
          </p:cNvSpPr>
          <p:nvPr>
            <p:ph idx="1"/>
          </p:nvPr>
        </p:nvSpPr>
        <p:spPr/>
        <p:txBody>
          <a:bodyPr>
            <a:normAutofit fontScale="62500" lnSpcReduction="20000"/>
          </a:bodyPr>
          <a:lstStyle/>
          <a:p>
            <a:r>
              <a:rPr lang="hu-HU" dirty="0" smtClean="0"/>
              <a:t>A gépi fordítás és kivonatolás (szöveg összefoglalása) klasszikus automatikus nyelvfeldolgozási feladatok, kimenetük generált szöveg.</a:t>
            </a:r>
          </a:p>
          <a:p>
            <a:r>
              <a:rPr lang="hu-HU" dirty="0" smtClean="0"/>
              <a:t>Előállításuk összevethető a feltételes képgenerálással: a neurális háló nem egyszerűen valami hasonlót generál azokhoz az adatokhoz, amelyekre tanítva lett, hanem szöveges bemenettel pontosabban szabályozzuk, hogy mit.</a:t>
            </a:r>
          </a:p>
          <a:p>
            <a:r>
              <a:rPr lang="hu-HU" dirty="0" smtClean="0"/>
              <a:t>Ez a generálás úgynevezett seq2seq (</a:t>
            </a:r>
            <a:r>
              <a:rPr lang="hu-HU" dirty="0" err="1" smtClean="0"/>
              <a:t>sequence</a:t>
            </a:r>
            <a:r>
              <a:rPr lang="hu-HU" dirty="0" smtClean="0"/>
              <a:t> </a:t>
            </a:r>
            <a:r>
              <a:rPr lang="hu-HU" dirty="0" err="1" smtClean="0"/>
              <a:t>to</a:t>
            </a:r>
            <a:r>
              <a:rPr lang="hu-HU" dirty="0" smtClean="0"/>
              <a:t> </a:t>
            </a:r>
            <a:r>
              <a:rPr lang="hu-HU" dirty="0" err="1" smtClean="0"/>
              <a:t>sequence</a:t>
            </a:r>
            <a:r>
              <a:rPr lang="hu-HU" dirty="0" smtClean="0"/>
              <a:t>) architektúrákkal történik, a mély neurális háló bemenete és kimenete is szöveg.</a:t>
            </a:r>
          </a:p>
          <a:p>
            <a:pPr lvl="1"/>
            <a:r>
              <a:rPr lang="hu-HU" dirty="0" smtClean="0"/>
              <a:t>A kimenet nem egyszerűen folytatása a bemenetnek, hanem támaszkodik arra, valamilyen módon átalakítja a bemenetet.</a:t>
            </a:r>
          </a:p>
          <a:p>
            <a:pPr lvl="1"/>
            <a:r>
              <a:rPr lang="hu-HU" dirty="0" smtClean="0"/>
              <a:t>Seq2seq modellek nem feltétlenül szöveget hoznak létre:</a:t>
            </a:r>
          </a:p>
          <a:p>
            <a:pPr lvl="2"/>
            <a:r>
              <a:rPr lang="hu-HU" dirty="0" smtClean="0"/>
              <a:t>beszédszintetizálás (</a:t>
            </a:r>
            <a:r>
              <a:rPr lang="hu-HU" dirty="0" err="1" smtClean="0"/>
              <a:t>TTS</a:t>
            </a:r>
            <a:r>
              <a:rPr lang="hu-HU" dirty="0" smtClean="0"/>
              <a:t> – text </a:t>
            </a:r>
            <a:r>
              <a:rPr lang="hu-HU" dirty="0" err="1" smtClean="0"/>
              <a:t>to</a:t>
            </a:r>
            <a:r>
              <a:rPr lang="hu-HU" dirty="0" smtClean="0"/>
              <a:t> </a:t>
            </a:r>
            <a:r>
              <a:rPr lang="hu-HU" dirty="0" err="1" smtClean="0"/>
              <a:t>speech</a:t>
            </a:r>
            <a:r>
              <a:rPr lang="hu-HU" dirty="0" smtClean="0"/>
              <a:t>)</a:t>
            </a:r>
          </a:p>
          <a:p>
            <a:pPr lvl="2"/>
            <a:r>
              <a:rPr lang="hu-HU" dirty="0" smtClean="0"/>
              <a:t>ennek fordítottja: beszédfelismerés (</a:t>
            </a:r>
            <a:r>
              <a:rPr lang="hu-HU" dirty="0" err="1" smtClean="0"/>
              <a:t>ASR</a:t>
            </a:r>
            <a:r>
              <a:rPr lang="hu-HU" dirty="0" smtClean="0"/>
              <a:t> – </a:t>
            </a:r>
            <a:r>
              <a:rPr lang="hu-HU" dirty="0" err="1" smtClean="0"/>
              <a:t>automatic</a:t>
            </a:r>
            <a:r>
              <a:rPr lang="hu-HU" dirty="0" smtClean="0"/>
              <a:t> </a:t>
            </a:r>
            <a:r>
              <a:rPr lang="hu-HU" dirty="0" err="1" smtClean="0"/>
              <a:t>speech</a:t>
            </a:r>
            <a:r>
              <a:rPr lang="hu-HU" dirty="0" smtClean="0"/>
              <a:t> </a:t>
            </a:r>
            <a:r>
              <a:rPr lang="hu-HU" dirty="0" err="1" smtClean="0"/>
              <a:t>recognition</a:t>
            </a:r>
            <a:r>
              <a:rPr lang="hu-HU" dirty="0" smtClean="0"/>
              <a:t>, </a:t>
            </a:r>
            <a:r>
              <a:rPr lang="hu-HU" dirty="0" err="1" smtClean="0"/>
              <a:t>STT</a:t>
            </a:r>
            <a:r>
              <a:rPr lang="hu-HU" dirty="0" smtClean="0"/>
              <a:t>)</a:t>
            </a:r>
          </a:p>
          <a:p>
            <a:pPr lvl="2"/>
            <a:r>
              <a:rPr lang="hu-HU" dirty="0" smtClean="0"/>
              <a:t>szöveg szavainak címkézése, pl. szófaji, nyelvtani, mondatszerkezeti címkézés (szokásos </a:t>
            </a:r>
            <a:r>
              <a:rPr lang="hu-HU" dirty="0" err="1" smtClean="0"/>
              <a:t>NLP-feladatok</a:t>
            </a:r>
            <a:r>
              <a:rPr lang="hu-HU" dirty="0" smtClean="0"/>
              <a:t>)</a:t>
            </a:r>
          </a:p>
        </p:txBody>
      </p:sp>
    </p:spTree>
    <p:extLst>
      <p:ext uri="{BB962C8B-B14F-4D97-AF65-F5344CB8AC3E}">
        <p14:creationId xmlns:p14="http://schemas.microsoft.com/office/powerpoint/2010/main" val="64865136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smtClean="0"/>
              <a:t>Szekvenciák feldolgozása mély neurális hálókkal</a:t>
            </a:r>
            <a:endParaRPr lang="en-GB" dirty="0"/>
          </a:p>
        </p:txBody>
      </p:sp>
      <p:sp>
        <p:nvSpPr>
          <p:cNvPr id="3" name="Tartalom helye 2"/>
          <p:cNvSpPr>
            <a:spLocks noGrp="1"/>
          </p:cNvSpPr>
          <p:nvPr>
            <p:ph idx="1"/>
          </p:nvPr>
        </p:nvSpPr>
        <p:spPr/>
        <p:txBody>
          <a:bodyPr>
            <a:normAutofit fontScale="70000" lnSpcReduction="20000"/>
          </a:bodyPr>
          <a:lstStyle/>
          <a:p>
            <a:r>
              <a:rPr lang="hu-HU" dirty="0" smtClean="0"/>
              <a:t>Sűrűn kapcsolt neurális háló nem optimális szekvencia ábrázolására</a:t>
            </a:r>
          </a:p>
          <a:p>
            <a:pPr lvl="1"/>
            <a:r>
              <a:rPr lang="hu-HU" dirty="0" smtClean="0"/>
              <a:t>a bemenet elemei között nincs relatív sorrend definiálva, abszolút helyük van a bemenetben</a:t>
            </a:r>
          </a:p>
          <a:p>
            <a:pPr lvl="1"/>
            <a:r>
              <a:rPr lang="hu-HU" dirty="0" smtClean="0"/>
              <a:t>akkor működik jól, amikor a bemeneti réteg elemei egymástól függetlenek, nincs köztük lokális vagy időbeli viszony</a:t>
            </a:r>
          </a:p>
          <a:p>
            <a:r>
              <a:rPr lang="hu-HU" dirty="0" err="1" smtClean="0"/>
              <a:t>Konvolúciós</a:t>
            </a:r>
            <a:r>
              <a:rPr lang="hu-HU" dirty="0" smtClean="0"/>
              <a:t> neurális háló jobb, de nem az igazi</a:t>
            </a:r>
          </a:p>
          <a:p>
            <a:pPr lvl="1"/>
            <a:r>
              <a:rPr lang="hu-HU" dirty="0" smtClean="0"/>
              <a:t>lokális viszonyokat ragad meg a bemenet elemei között</a:t>
            </a:r>
          </a:p>
          <a:p>
            <a:pPr lvl="1"/>
            <a:r>
              <a:rPr lang="hu-HU" dirty="0" smtClean="0"/>
              <a:t>ezek általában 2 dimenziós viszonyok, de nincs akadálya annak, hogy 1 dimenziós szűrőket tanuljon</a:t>
            </a:r>
          </a:p>
          <a:p>
            <a:pPr lvl="1"/>
            <a:r>
              <a:rPr lang="hu-HU" dirty="0" smtClean="0"/>
              <a:t>a szűrők általában elég kicsik, néhány szó távolságra „látnak el”</a:t>
            </a:r>
          </a:p>
          <a:p>
            <a:r>
              <a:rPr lang="hu-HU" dirty="0" smtClean="0"/>
              <a:t>Kifejezetten szekvencia feldolgozására szolgáló neurális architektúra a </a:t>
            </a:r>
            <a:r>
              <a:rPr lang="hu-HU" dirty="0" err="1" smtClean="0"/>
              <a:t>rekurrens</a:t>
            </a:r>
            <a:r>
              <a:rPr lang="hu-HU" dirty="0" smtClean="0"/>
              <a:t> neurális háló</a:t>
            </a:r>
          </a:p>
          <a:p>
            <a:pPr lvl="1"/>
            <a:r>
              <a:rPr lang="hu-HU" dirty="0" smtClean="0"/>
              <a:t>természetes nyelvi adatok feldolgozására (gépi fordítást is beleértve) eleinte a legnépszerűbb megoldás volt</a:t>
            </a:r>
            <a:endParaRPr lang="en-GB" dirty="0"/>
          </a:p>
        </p:txBody>
      </p:sp>
    </p:spTree>
    <p:extLst>
      <p:ext uri="{BB962C8B-B14F-4D97-AF65-F5344CB8AC3E}">
        <p14:creationId xmlns:p14="http://schemas.microsoft.com/office/powerpoint/2010/main" val="288785146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err="1" smtClean="0"/>
              <a:t>Rekurrens</a:t>
            </a:r>
            <a:r>
              <a:rPr lang="hu-HU" dirty="0" smtClean="0"/>
              <a:t> neurális hálók</a:t>
            </a:r>
            <a:endParaRPr lang="en-GB" dirty="0"/>
          </a:p>
        </p:txBody>
      </p:sp>
      <p:sp>
        <p:nvSpPr>
          <p:cNvPr id="3" name="Tartalom helye 2"/>
          <p:cNvSpPr>
            <a:spLocks noGrp="1"/>
          </p:cNvSpPr>
          <p:nvPr>
            <p:ph idx="1"/>
          </p:nvPr>
        </p:nvSpPr>
        <p:spPr>
          <a:xfrm>
            <a:off x="457200" y="1600201"/>
            <a:ext cx="8229600" cy="3196952"/>
          </a:xfrm>
        </p:spPr>
        <p:txBody>
          <a:bodyPr>
            <a:normAutofit fontScale="55000" lnSpcReduction="20000"/>
          </a:bodyPr>
          <a:lstStyle/>
          <a:p>
            <a:r>
              <a:rPr lang="hu-HU" dirty="0" smtClean="0"/>
              <a:t>A bemenetet (x) </a:t>
            </a:r>
            <a:r>
              <a:rPr lang="hu-HU" b="1" dirty="0" smtClean="0"/>
              <a:t>lépésről lépésre </a:t>
            </a:r>
            <a:r>
              <a:rPr lang="hu-HU" dirty="0" smtClean="0"/>
              <a:t>dolgozzák fel, pl. szóról szóra vagy betűről betűre. A rejtett réteg neuronjainak értékét </a:t>
            </a:r>
            <a:r>
              <a:rPr lang="hu-HU" b="1" dirty="0" smtClean="0"/>
              <a:t>két érték súlyozott összegeként </a:t>
            </a:r>
            <a:r>
              <a:rPr lang="hu-HU" dirty="0" smtClean="0"/>
              <a:t>számítják ki:</a:t>
            </a:r>
          </a:p>
          <a:p>
            <a:pPr lvl="1"/>
            <a:r>
              <a:rPr lang="hu-HU" dirty="0" smtClean="0"/>
              <a:t>a bemeneti (vagy a bemenethez eggyel közelebbi) réteg neuronjai</a:t>
            </a:r>
          </a:p>
          <a:p>
            <a:pPr lvl="1"/>
            <a:r>
              <a:rPr lang="hu-HU" dirty="0" smtClean="0"/>
              <a:t>és az előző időpontbeli rejtett réteg neuronjai</a:t>
            </a:r>
          </a:p>
          <a:p>
            <a:pPr lvl="1"/>
            <a:r>
              <a:rPr lang="hu-HU" dirty="0" smtClean="0"/>
              <a:t>tehát </a:t>
            </a:r>
            <a:r>
              <a:rPr lang="hu-HU" i="1" dirty="0" err="1" smtClean="0"/>
              <a:t>a</a:t>
            </a:r>
            <a:r>
              <a:rPr lang="hu-HU" i="1" baseline="-25000" dirty="0" err="1" smtClean="0"/>
              <a:t>t</a:t>
            </a:r>
            <a:r>
              <a:rPr lang="hu-HU" i="1" baseline="-25000" dirty="0" smtClean="0"/>
              <a:t>,1</a:t>
            </a:r>
            <a:r>
              <a:rPr lang="hu-HU" i="1" dirty="0" smtClean="0"/>
              <a:t> </a:t>
            </a:r>
            <a:r>
              <a:rPr lang="hu-HU" dirty="0" smtClean="0"/>
              <a:t>= </a:t>
            </a:r>
            <a:r>
              <a:rPr lang="hu-HU" i="1" dirty="0" err="1" smtClean="0"/>
              <a:t>w</a:t>
            </a:r>
            <a:r>
              <a:rPr lang="hu-HU" i="1" baseline="-25000" dirty="0" err="1" smtClean="0"/>
              <a:t>x</a:t>
            </a:r>
            <a:r>
              <a:rPr lang="hu-HU" i="1" baseline="-25000" dirty="0" smtClean="0"/>
              <a:t>,0</a:t>
            </a:r>
            <a:r>
              <a:rPr lang="hu-HU" i="1" dirty="0" smtClean="0"/>
              <a:t>x</a:t>
            </a:r>
            <a:r>
              <a:rPr lang="hu-HU" i="1" baseline="-25000" dirty="0" smtClean="0"/>
              <a:t>t,0</a:t>
            </a:r>
            <a:r>
              <a:rPr lang="hu-HU" i="1" dirty="0" smtClean="0"/>
              <a:t> </a:t>
            </a:r>
            <a:r>
              <a:rPr lang="hu-HU" dirty="0" smtClean="0"/>
              <a:t>+ </a:t>
            </a:r>
            <a:r>
              <a:rPr lang="hu-HU" i="1" dirty="0" err="1" smtClean="0"/>
              <a:t>w</a:t>
            </a:r>
            <a:r>
              <a:rPr lang="hu-HU" i="1" baseline="-25000" dirty="0" err="1" smtClean="0"/>
              <a:t>x</a:t>
            </a:r>
            <a:r>
              <a:rPr lang="hu-HU" i="1" baseline="-25000" dirty="0" smtClean="0"/>
              <a:t>,1</a:t>
            </a:r>
            <a:r>
              <a:rPr lang="hu-HU" i="1" dirty="0" smtClean="0"/>
              <a:t>x</a:t>
            </a:r>
            <a:r>
              <a:rPr lang="hu-HU" i="1" baseline="-25000" dirty="0" smtClean="0"/>
              <a:t>t,1</a:t>
            </a:r>
            <a:r>
              <a:rPr lang="hu-HU" i="1" dirty="0" smtClean="0"/>
              <a:t> </a:t>
            </a:r>
            <a:r>
              <a:rPr lang="hu-HU" dirty="0" smtClean="0"/>
              <a:t>+ ... + </a:t>
            </a:r>
            <a:r>
              <a:rPr lang="hu-HU" i="1" dirty="0" err="1" smtClean="0"/>
              <a:t>w</a:t>
            </a:r>
            <a:r>
              <a:rPr lang="hu-HU" i="1" baseline="-25000" dirty="0" err="1" smtClean="0"/>
              <a:t>x</a:t>
            </a:r>
            <a:r>
              <a:rPr lang="hu-HU" i="1" baseline="-25000" dirty="0" smtClean="0"/>
              <a:t>,</a:t>
            </a:r>
            <a:r>
              <a:rPr lang="hu-HU" i="1" baseline="-25000" dirty="0" err="1" smtClean="0"/>
              <a:t>k</a:t>
            </a:r>
            <a:r>
              <a:rPr lang="hu-HU" i="1" dirty="0" err="1" smtClean="0"/>
              <a:t>x</a:t>
            </a:r>
            <a:r>
              <a:rPr lang="hu-HU" i="1" baseline="-25000" dirty="0" err="1" smtClean="0"/>
              <a:t>t</a:t>
            </a:r>
            <a:r>
              <a:rPr lang="hu-HU" i="1" baseline="-25000" dirty="0" smtClean="0"/>
              <a:t>,k</a:t>
            </a:r>
            <a:r>
              <a:rPr lang="hu-HU" i="1" dirty="0" smtClean="0"/>
              <a:t> </a:t>
            </a:r>
            <a:r>
              <a:rPr lang="hu-HU" dirty="0" smtClean="0"/>
              <a:t>+ </a:t>
            </a:r>
            <a:r>
              <a:rPr lang="hu-HU" i="1" dirty="0" err="1" smtClean="0"/>
              <a:t>w</a:t>
            </a:r>
            <a:r>
              <a:rPr lang="hu-HU" i="1" baseline="-25000" dirty="0" err="1" smtClean="0"/>
              <a:t>a</a:t>
            </a:r>
            <a:r>
              <a:rPr lang="hu-HU" i="1" baseline="-25000" dirty="0" smtClean="0"/>
              <a:t>,1</a:t>
            </a:r>
            <a:r>
              <a:rPr lang="hu-HU" i="1" dirty="0" smtClean="0"/>
              <a:t>a</a:t>
            </a:r>
            <a:r>
              <a:rPr lang="hu-HU" i="1" baseline="-25000" dirty="0" smtClean="0"/>
              <a:t>t-1,1 </a:t>
            </a:r>
            <a:r>
              <a:rPr lang="hu-HU" dirty="0" smtClean="0"/>
              <a:t>(ahol </a:t>
            </a:r>
            <a:r>
              <a:rPr lang="hu-HU" i="1" dirty="0" smtClean="0"/>
              <a:t>t </a:t>
            </a:r>
            <a:r>
              <a:rPr lang="hu-HU" dirty="0" smtClean="0"/>
              <a:t>a jelenlegi időpont, </a:t>
            </a:r>
            <a:r>
              <a:rPr lang="hu-HU" i="1" dirty="0" smtClean="0"/>
              <a:t>t-1 </a:t>
            </a:r>
            <a:r>
              <a:rPr lang="hu-HU" dirty="0" smtClean="0"/>
              <a:t>az eggyel korábbi időpont), és így tovább minden </a:t>
            </a:r>
            <a:r>
              <a:rPr lang="hu-HU" i="1" dirty="0" smtClean="0"/>
              <a:t>t</a:t>
            </a:r>
            <a:r>
              <a:rPr lang="hu-HU" dirty="0" smtClean="0"/>
              <a:t> időpontbeli </a:t>
            </a:r>
            <a:r>
              <a:rPr lang="hu-HU" dirty="0" err="1" smtClean="0"/>
              <a:t>neuronértékre</a:t>
            </a:r>
            <a:endParaRPr lang="hu-HU" dirty="0" smtClean="0"/>
          </a:p>
          <a:p>
            <a:pPr lvl="1"/>
            <a:r>
              <a:rPr lang="hu-HU" dirty="0" smtClean="0"/>
              <a:t>Az </a:t>
            </a:r>
            <a:r>
              <a:rPr lang="hu-HU" i="1" dirty="0" smtClean="0"/>
              <a:t>a </a:t>
            </a:r>
            <a:r>
              <a:rPr lang="hu-HU" dirty="0" err="1" smtClean="0"/>
              <a:t>a</a:t>
            </a:r>
            <a:r>
              <a:rPr lang="hu-HU" dirty="0" smtClean="0"/>
              <a:t> neurális háló adott pillanatbeli állapotvektoraként fogható fel. Ez a réteg azt reprezentálja, hogy egyrészt jelenleg mit „lát” a </a:t>
            </a:r>
            <a:r>
              <a:rPr lang="hu-HU" dirty="0" err="1" smtClean="0"/>
              <a:t>rekurrens</a:t>
            </a:r>
            <a:r>
              <a:rPr lang="hu-HU" dirty="0" smtClean="0"/>
              <a:t> háló, másrészt mire emlékezik a korábban látottakból.</a:t>
            </a:r>
          </a:p>
          <a:p>
            <a:pPr lvl="1"/>
            <a:r>
              <a:rPr lang="hu-HU" dirty="0" smtClean="0"/>
              <a:t>A </a:t>
            </a:r>
            <a:r>
              <a:rPr lang="hu-HU" i="1" dirty="0" err="1" smtClean="0"/>
              <a:t>w</a:t>
            </a:r>
            <a:r>
              <a:rPr lang="hu-HU" i="1" baseline="-25000" dirty="0" err="1" smtClean="0"/>
              <a:t>a</a:t>
            </a:r>
            <a:r>
              <a:rPr lang="hu-HU" i="1" baseline="-25000" dirty="0" smtClean="0"/>
              <a:t>,k</a:t>
            </a:r>
            <a:r>
              <a:rPr lang="hu-HU" i="1" dirty="0" smtClean="0"/>
              <a:t> </a:t>
            </a:r>
            <a:r>
              <a:rPr lang="hu-HU" dirty="0" smtClean="0"/>
              <a:t>súlyok azt határozzák meg, hogy az </a:t>
            </a:r>
            <a:r>
              <a:rPr lang="hu-HU" i="1" dirty="0" err="1" smtClean="0"/>
              <a:t>a</a:t>
            </a:r>
            <a:r>
              <a:rPr lang="hu-HU" i="1" baseline="-25000" dirty="0" err="1" smtClean="0"/>
              <a:t>t</a:t>
            </a:r>
            <a:r>
              <a:rPr lang="hu-HU" i="1" baseline="-25000" dirty="0" smtClean="0"/>
              <a:t>,k</a:t>
            </a:r>
            <a:r>
              <a:rPr lang="hu-HU" i="1" dirty="0" smtClean="0"/>
              <a:t> </a:t>
            </a:r>
            <a:r>
              <a:rPr lang="hu-HU" dirty="0" smtClean="0"/>
              <a:t>neuronok az értéküket milyen mértékben öröklik az előző időponttól (mennyire emlékszik a korábban látottakra), és milyen mértékben írja az értéküket felül az aktuálisan „beolvasott” </a:t>
            </a:r>
            <a:r>
              <a:rPr lang="hu-HU" i="1" dirty="0" err="1" smtClean="0"/>
              <a:t>x</a:t>
            </a:r>
            <a:r>
              <a:rPr lang="hu-HU" i="1" baseline="-25000" dirty="0" err="1" smtClean="0"/>
              <a:t>t</a:t>
            </a:r>
            <a:r>
              <a:rPr lang="hu-HU" dirty="0" smtClean="0"/>
              <a:t> bemenet (mennyire figyel a jelenlegi eseményre).</a:t>
            </a:r>
          </a:p>
          <a:p>
            <a:pPr lvl="1"/>
            <a:r>
              <a:rPr lang="hu-HU" dirty="0" smtClean="0"/>
              <a:t>A </a:t>
            </a:r>
            <a:r>
              <a:rPr lang="hu-HU" i="1" dirty="0" err="1" smtClean="0"/>
              <a:t>w</a:t>
            </a:r>
            <a:r>
              <a:rPr lang="hu-HU" i="1" baseline="-25000" dirty="0" err="1" smtClean="0"/>
              <a:t>k</a:t>
            </a:r>
            <a:r>
              <a:rPr lang="hu-HU" i="1" dirty="0" smtClean="0"/>
              <a:t> </a:t>
            </a:r>
            <a:r>
              <a:rPr lang="hu-HU" dirty="0" smtClean="0"/>
              <a:t>súlyok minden időpontban azonosak, ugyanúgy a </a:t>
            </a:r>
            <a:r>
              <a:rPr lang="hu-HU" i="1" dirty="0" err="1" smtClean="0"/>
              <a:t>w</a:t>
            </a:r>
            <a:r>
              <a:rPr lang="hu-HU" i="1" baseline="-25000" dirty="0" err="1" smtClean="0"/>
              <a:t>a</a:t>
            </a:r>
            <a:r>
              <a:rPr lang="hu-HU" i="1" baseline="-25000" dirty="0" smtClean="0"/>
              <a:t>,k</a:t>
            </a:r>
            <a:r>
              <a:rPr lang="hu-HU" i="1" dirty="0" smtClean="0"/>
              <a:t> </a:t>
            </a:r>
            <a:r>
              <a:rPr lang="hu-HU" dirty="0" smtClean="0"/>
              <a:t>súlyok is.</a:t>
            </a:r>
          </a:p>
          <a:p>
            <a:pPr lvl="1"/>
            <a:r>
              <a:rPr lang="hu-HU" dirty="0" smtClean="0"/>
              <a:t>Az alábbi </a:t>
            </a:r>
            <a:r>
              <a:rPr lang="hu-HU" dirty="0"/>
              <a:t>n</a:t>
            </a:r>
            <a:r>
              <a:rPr lang="hu-HU" dirty="0" smtClean="0"/>
              <a:t>eurális háló minden időlépésben kiad egy kimenetet, seq2seq.</a:t>
            </a:r>
            <a:endParaRPr lang="en-GB" dirty="0"/>
          </a:p>
        </p:txBody>
      </p:sp>
      <p:pic>
        <p:nvPicPr>
          <p:cNvPr id="4" name="Picture 2" descr="https://stanford.edu/~shervine/teaching/cs-230/illustrations/architecture-rnn-ltr.png?9ea4417fc145b9346a3e288801dbdfd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7664" y="4797152"/>
            <a:ext cx="6552728" cy="17473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524395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a:xfrm>
            <a:off x="467544" y="116632"/>
            <a:ext cx="8229600" cy="1143000"/>
          </a:xfrm>
        </p:spPr>
        <p:txBody>
          <a:bodyPr>
            <a:normAutofit/>
          </a:bodyPr>
          <a:lstStyle/>
          <a:p>
            <a:r>
              <a:rPr lang="hu-HU" sz="3600" dirty="0" err="1" smtClean="0"/>
              <a:t>Rekurrens</a:t>
            </a:r>
            <a:r>
              <a:rPr lang="hu-HU" sz="3600" dirty="0" smtClean="0"/>
              <a:t> neurális architektúrák</a:t>
            </a:r>
            <a:endParaRPr lang="en-GB" sz="3600" dirty="0"/>
          </a:p>
        </p:txBody>
      </p:sp>
      <p:sp>
        <p:nvSpPr>
          <p:cNvPr id="3" name="Tartalom helye 2"/>
          <p:cNvSpPr>
            <a:spLocks noGrp="1"/>
          </p:cNvSpPr>
          <p:nvPr>
            <p:ph idx="1"/>
          </p:nvPr>
        </p:nvSpPr>
        <p:spPr>
          <a:xfrm>
            <a:off x="467544" y="1196752"/>
            <a:ext cx="8229600" cy="5472608"/>
          </a:xfrm>
        </p:spPr>
        <p:txBody>
          <a:bodyPr>
            <a:normAutofit fontScale="85000" lnSpcReduction="10000"/>
          </a:bodyPr>
          <a:lstStyle/>
          <a:p>
            <a:r>
              <a:rPr lang="hu-HU" sz="2200" dirty="0"/>
              <a:t>K</a:t>
            </a:r>
            <a:r>
              <a:rPr lang="hu-HU" sz="2200" dirty="0" smtClean="0"/>
              <a:t>imenet generálása lépésről lépésre, a bemenet beolvasásával párhuzamosan</a:t>
            </a:r>
          </a:p>
          <a:p>
            <a:pPr lvl="1"/>
            <a:r>
              <a:rPr lang="hu-HU" sz="2000" dirty="0" smtClean="0"/>
              <a:t>olyan problémák megoldására alkalmas, amelyeknél nem kell ismernünk az egész bemenő szekvenciát ahhoz, hogy el tudjuk kezdeni a kimenetet generálni, pl. beszédgenerálás, beszédfelismerés, szófaji címkézés</a:t>
            </a:r>
          </a:p>
          <a:p>
            <a:pPr lvl="1"/>
            <a:r>
              <a:rPr lang="hu-HU" sz="2000" dirty="0" smtClean="0"/>
              <a:t>variánsa: egy </a:t>
            </a:r>
            <a:r>
              <a:rPr lang="hu-HU" sz="2000" dirty="0" err="1" smtClean="0"/>
              <a:t>rekurrens</a:t>
            </a:r>
            <a:r>
              <a:rPr lang="hu-HU" sz="2000" dirty="0" smtClean="0"/>
              <a:t> háló halad balról jobbra a szekvenciában, egy másik jobbról balra, a két állapotvektor alapján számolja a kimenetet lépésenként</a:t>
            </a:r>
          </a:p>
          <a:p>
            <a:pPr lvl="2"/>
            <a:r>
              <a:rPr lang="hu-HU" sz="1600" dirty="0" smtClean="0"/>
              <a:t>ún. kétirányú </a:t>
            </a:r>
            <a:r>
              <a:rPr lang="hu-HU" sz="1600" dirty="0" err="1" smtClean="0"/>
              <a:t>rekurrens</a:t>
            </a:r>
            <a:r>
              <a:rPr lang="hu-HU" sz="1600" dirty="0" smtClean="0"/>
              <a:t> neurális háló</a:t>
            </a:r>
          </a:p>
          <a:p>
            <a:pPr lvl="2"/>
            <a:r>
              <a:rPr lang="hu-HU" sz="1600" dirty="0" smtClean="0"/>
              <a:t>(jelentősen) pontosabb </a:t>
            </a:r>
            <a:r>
              <a:rPr lang="hu-HU" sz="1600" dirty="0" err="1" smtClean="0"/>
              <a:t>predikciók</a:t>
            </a:r>
            <a:r>
              <a:rPr lang="hu-HU" sz="1600" dirty="0" smtClean="0"/>
              <a:t> lehetségesek, mint csak balról jobbra haladva</a:t>
            </a:r>
          </a:p>
          <a:p>
            <a:pPr lvl="1"/>
            <a:endParaRPr lang="hu-HU" sz="1800" dirty="0" smtClean="0"/>
          </a:p>
          <a:p>
            <a:pPr lvl="1"/>
            <a:endParaRPr lang="hu-HU" sz="1800" dirty="0"/>
          </a:p>
          <a:p>
            <a:pPr lvl="1"/>
            <a:endParaRPr lang="hu-HU" sz="1800" dirty="0" smtClean="0"/>
          </a:p>
          <a:p>
            <a:pPr lvl="1"/>
            <a:endParaRPr lang="hu-HU" sz="1800" dirty="0" smtClean="0"/>
          </a:p>
          <a:p>
            <a:pPr lvl="1"/>
            <a:endParaRPr lang="hu-HU" sz="1800" dirty="0"/>
          </a:p>
          <a:p>
            <a:pPr lvl="1"/>
            <a:endParaRPr lang="hu-HU" sz="1800" dirty="0" smtClean="0"/>
          </a:p>
          <a:p>
            <a:pPr lvl="1"/>
            <a:endParaRPr lang="hu-HU" sz="1800" dirty="0"/>
          </a:p>
          <a:p>
            <a:pPr lvl="1"/>
            <a:endParaRPr lang="hu-HU" sz="1800" dirty="0" smtClean="0"/>
          </a:p>
          <a:p>
            <a:pPr lvl="1"/>
            <a:endParaRPr lang="hu-HU" sz="1800" dirty="0"/>
          </a:p>
          <a:p>
            <a:r>
              <a:rPr lang="hu-HU" sz="2200" dirty="0"/>
              <a:t>B</a:t>
            </a:r>
            <a:r>
              <a:rPr lang="hu-HU" sz="2200" dirty="0" smtClean="0"/>
              <a:t>emenet beolvasása, a beolvasás végén egyetlen kimenet generálása</a:t>
            </a:r>
          </a:p>
          <a:p>
            <a:pPr lvl="1"/>
            <a:r>
              <a:rPr lang="hu-HU" sz="2000" dirty="0" smtClean="0"/>
              <a:t>szekvencia osztályozása (pl. milyen témáról szól a feldolgozott szöveg), szekvencia következő elemének </a:t>
            </a:r>
            <a:r>
              <a:rPr lang="hu-HU" sz="2000" dirty="0" err="1" smtClean="0"/>
              <a:t>predikciója</a:t>
            </a:r>
            <a:r>
              <a:rPr lang="hu-HU" sz="2000" dirty="0" smtClean="0"/>
              <a:t> (pl. nyelvmodellezés)</a:t>
            </a:r>
          </a:p>
        </p:txBody>
      </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99792" y="3356992"/>
            <a:ext cx="3528392" cy="20469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6979284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err="1" smtClean="0"/>
              <a:t>Rekurrens</a:t>
            </a:r>
            <a:r>
              <a:rPr lang="hu-HU" dirty="0" smtClean="0"/>
              <a:t> neurális architektúrák</a:t>
            </a:r>
            <a:endParaRPr lang="en-GB" dirty="0"/>
          </a:p>
        </p:txBody>
      </p:sp>
      <p:sp>
        <p:nvSpPr>
          <p:cNvPr id="3" name="Tartalom helye 2"/>
          <p:cNvSpPr>
            <a:spLocks noGrp="1"/>
          </p:cNvSpPr>
          <p:nvPr>
            <p:ph idx="1"/>
          </p:nvPr>
        </p:nvSpPr>
        <p:spPr>
          <a:xfrm>
            <a:off x="457200" y="1600200"/>
            <a:ext cx="8219256" cy="3845024"/>
          </a:xfrm>
        </p:spPr>
        <p:txBody>
          <a:bodyPr>
            <a:normAutofit fontScale="55000" lnSpcReduction="20000"/>
          </a:bodyPr>
          <a:lstStyle/>
          <a:p>
            <a:r>
              <a:rPr lang="hu-HU" dirty="0" smtClean="0"/>
              <a:t>Kódoló-dekódoló architektúra</a:t>
            </a:r>
          </a:p>
          <a:p>
            <a:pPr lvl="1"/>
            <a:r>
              <a:rPr lang="hu-HU" dirty="0" smtClean="0"/>
              <a:t>Ez is szekvenciát generál, de nem a bemenet beolvasásával párhuzamosan.</a:t>
            </a:r>
          </a:p>
          <a:p>
            <a:pPr lvl="1"/>
            <a:r>
              <a:rPr lang="hu-HU" dirty="0" smtClean="0"/>
              <a:t>A kimenetet akkor kezdi el generálni, amikor a bemenetet már feldolgozta.</a:t>
            </a:r>
          </a:p>
          <a:p>
            <a:pPr lvl="1"/>
            <a:r>
              <a:rPr lang="hu-HU" dirty="0" smtClean="0"/>
              <a:t>Olyankor alkalmazzák, amikor a teljes bemenet ismerete szükséges a kimenet generálásának megkezdéséhez.</a:t>
            </a:r>
          </a:p>
          <a:p>
            <a:pPr lvl="2"/>
            <a:r>
              <a:rPr lang="hu-HU" dirty="0" smtClean="0"/>
              <a:t>Pl. gépi fordítás, szöveg-összefoglalás</a:t>
            </a:r>
          </a:p>
          <a:p>
            <a:pPr lvl="1"/>
            <a:r>
              <a:rPr lang="hu-HU" b="1" dirty="0" smtClean="0"/>
              <a:t>Kódoló</a:t>
            </a:r>
            <a:r>
              <a:rPr lang="hu-HU" dirty="0" smtClean="0"/>
              <a:t> neurális háló lépésről lépésre beolvassa a bemeneti elemeket (pl. szavakat)</a:t>
            </a:r>
          </a:p>
          <a:p>
            <a:pPr lvl="2"/>
            <a:r>
              <a:rPr lang="hu-HU" dirty="0" smtClean="0"/>
              <a:t>az állapotvektor tárolja a </a:t>
            </a:r>
            <a:r>
              <a:rPr lang="hu-HU" b="1" dirty="0" smtClean="0"/>
              <a:t>teljes bemeneti szekvencia reprezentációját</a:t>
            </a:r>
          </a:p>
          <a:p>
            <a:pPr lvl="2"/>
            <a:r>
              <a:rPr lang="hu-HU" dirty="0" smtClean="0"/>
              <a:t>lehet kétirányú (jobban működik, két állapotvektor)</a:t>
            </a:r>
            <a:endParaRPr lang="hu-HU" dirty="0"/>
          </a:p>
          <a:p>
            <a:pPr lvl="1"/>
            <a:r>
              <a:rPr lang="hu-HU" b="1" dirty="0" smtClean="0"/>
              <a:t>Dekódoló</a:t>
            </a:r>
            <a:r>
              <a:rPr lang="hu-HU" dirty="0" smtClean="0"/>
              <a:t> neurális háló kezdő állapotvektora a kódoló végső állapotvektora, ezt dekódolja szekvenciává</a:t>
            </a:r>
          </a:p>
          <a:p>
            <a:pPr lvl="2"/>
            <a:r>
              <a:rPr lang="hu-HU" dirty="0" smtClean="0"/>
              <a:t>lépésenként egy kimeneti elemet, pl. szót generál</a:t>
            </a:r>
          </a:p>
          <a:p>
            <a:pPr lvl="2"/>
            <a:r>
              <a:rPr lang="hu-HU" dirty="0" smtClean="0"/>
              <a:t>minden lépésben az állapotvektor két értékből frissül:</a:t>
            </a:r>
          </a:p>
          <a:p>
            <a:pPr lvl="3"/>
            <a:r>
              <a:rPr lang="hu-HU" dirty="0" smtClean="0"/>
              <a:t>a dekódoló előző állapota</a:t>
            </a:r>
          </a:p>
          <a:p>
            <a:pPr lvl="3"/>
            <a:r>
              <a:rPr lang="hu-HU" dirty="0" smtClean="0"/>
              <a:t>a dekódoló által az előző lépésben generált elem</a:t>
            </a:r>
          </a:p>
          <a:p>
            <a:pPr lvl="1"/>
            <a:r>
              <a:rPr lang="hu-HU" dirty="0" smtClean="0"/>
              <a:t>Intuitív értelmezése: </a:t>
            </a:r>
            <a:r>
              <a:rPr lang="hu-HU" b="1" dirty="0" smtClean="0"/>
              <a:t>a kódoló értelmezi a bemenetet</a:t>
            </a:r>
            <a:r>
              <a:rPr lang="hu-HU" dirty="0" smtClean="0"/>
              <a:t>, a dekódoló az értelmezés alapján átalakítja más formára</a:t>
            </a:r>
          </a:p>
          <a:p>
            <a:pPr lvl="1"/>
            <a:r>
              <a:rPr lang="hu-HU" dirty="0" smtClean="0"/>
              <a:t>Forrás: </a:t>
            </a:r>
            <a:r>
              <a:rPr lang="hu-HU" dirty="0" err="1" smtClean="0"/>
              <a:t>Sutskever</a:t>
            </a:r>
            <a:r>
              <a:rPr lang="hu-HU" dirty="0" smtClean="0"/>
              <a:t> és </a:t>
            </a:r>
            <a:r>
              <a:rPr lang="hu-HU" dirty="0" err="1" smtClean="0"/>
              <a:t>mtsai</a:t>
            </a:r>
            <a:r>
              <a:rPr lang="hu-HU" dirty="0" smtClean="0"/>
              <a:t>, </a:t>
            </a:r>
            <a:r>
              <a:rPr lang="en-GB" i="1" dirty="0" smtClean="0">
                <a:hlinkClick r:id="rId2"/>
              </a:rPr>
              <a:t>Sequence to Sequence Learning with Neural Networks</a:t>
            </a:r>
            <a:r>
              <a:rPr lang="hu-HU" i="1" dirty="0" smtClean="0"/>
              <a:t>, </a:t>
            </a:r>
            <a:r>
              <a:rPr lang="hu-HU" dirty="0" smtClean="0"/>
              <a:t>2014.</a:t>
            </a:r>
          </a:p>
          <a:p>
            <a:pPr lvl="2"/>
            <a:endParaRPr lang="hu-HU" dirty="0" smtClean="0"/>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5656" y="5445224"/>
            <a:ext cx="6134100" cy="1247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926587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err="1" smtClean="0"/>
              <a:t>Rekurrens</a:t>
            </a:r>
            <a:r>
              <a:rPr lang="hu-HU" dirty="0" smtClean="0"/>
              <a:t> neurális hálók típusai</a:t>
            </a:r>
            <a:endParaRPr lang="en-GB" dirty="0"/>
          </a:p>
        </p:txBody>
      </p:sp>
      <p:sp>
        <p:nvSpPr>
          <p:cNvPr id="3" name="Tartalom helye 2"/>
          <p:cNvSpPr>
            <a:spLocks noGrp="1"/>
          </p:cNvSpPr>
          <p:nvPr>
            <p:ph idx="1"/>
          </p:nvPr>
        </p:nvSpPr>
        <p:spPr/>
        <p:txBody>
          <a:bodyPr>
            <a:normAutofit fontScale="77500" lnSpcReduction="20000"/>
          </a:bodyPr>
          <a:lstStyle/>
          <a:p>
            <a:r>
              <a:rPr lang="hu-HU" dirty="0" smtClean="0"/>
              <a:t>Különböző technikai megoldások:</a:t>
            </a:r>
          </a:p>
          <a:p>
            <a:pPr lvl="1"/>
            <a:r>
              <a:rPr lang="hu-HU" dirty="0" smtClean="0"/>
              <a:t>alap </a:t>
            </a:r>
            <a:r>
              <a:rPr lang="hu-HU" dirty="0" err="1" smtClean="0"/>
              <a:t>rekurrens</a:t>
            </a:r>
            <a:r>
              <a:rPr lang="hu-HU" dirty="0" smtClean="0"/>
              <a:t> háló kétféle súlyt tanul: bemenetből rejtett rétegbe (állapot), rejtett rétegből rejtett rétegbe (emlékezet/felejtés)</a:t>
            </a:r>
          </a:p>
          <a:p>
            <a:pPr lvl="2"/>
            <a:r>
              <a:rPr lang="hu-HU" dirty="0" smtClean="0"/>
              <a:t>hátrány: csak rövid távú emlékezete van, a legutóbb beolvasott bemenetek néhány tíz lépés után felülírják a korábban beolvasottak emlékét</a:t>
            </a:r>
          </a:p>
          <a:p>
            <a:pPr lvl="1"/>
            <a:r>
              <a:rPr lang="hu-HU" dirty="0" smtClean="0"/>
              <a:t>két fontos továbbfejlesztése: </a:t>
            </a:r>
            <a:r>
              <a:rPr lang="hu-HU" dirty="0" err="1" smtClean="0"/>
              <a:t>LSTM</a:t>
            </a:r>
            <a:r>
              <a:rPr lang="hu-HU" dirty="0" smtClean="0"/>
              <a:t> (</a:t>
            </a:r>
            <a:r>
              <a:rPr lang="hu-HU" dirty="0" err="1" smtClean="0"/>
              <a:t>long</a:t>
            </a:r>
            <a:r>
              <a:rPr lang="hu-HU" dirty="0" smtClean="0"/>
              <a:t> </a:t>
            </a:r>
            <a:r>
              <a:rPr lang="hu-HU" dirty="0" err="1" smtClean="0"/>
              <a:t>short-term</a:t>
            </a:r>
            <a:r>
              <a:rPr lang="hu-HU" dirty="0" smtClean="0"/>
              <a:t> </a:t>
            </a:r>
            <a:r>
              <a:rPr lang="hu-HU" dirty="0" err="1" smtClean="0"/>
              <a:t>memory</a:t>
            </a:r>
            <a:r>
              <a:rPr lang="hu-HU" dirty="0" smtClean="0"/>
              <a:t>) és </a:t>
            </a:r>
            <a:r>
              <a:rPr lang="hu-HU" dirty="0" err="1" smtClean="0"/>
              <a:t>GRU</a:t>
            </a:r>
            <a:r>
              <a:rPr lang="hu-HU" dirty="0" smtClean="0"/>
              <a:t> (</a:t>
            </a:r>
            <a:r>
              <a:rPr lang="hu-HU" dirty="0" err="1" smtClean="0"/>
              <a:t>gated</a:t>
            </a:r>
            <a:r>
              <a:rPr lang="hu-HU" dirty="0" smtClean="0"/>
              <a:t> </a:t>
            </a:r>
            <a:r>
              <a:rPr lang="hu-HU" dirty="0" err="1" smtClean="0"/>
              <a:t>recurrent</a:t>
            </a:r>
            <a:r>
              <a:rPr lang="hu-HU" dirty="0" smtClean="0"/>
              <a:t> unit)</a:t>
            </a:r>
          </a:p>
          <a:p>
            <a:pPr lvl="2"/>
            <a:r>
              <a:rPr lang="hu-HU" dirty="0" smtClean="0"/>
              <a:t>súlyok összetettebb kombinációját használják az állapotvektor frissítésére</a:t>
            </a:r>
          </a:p>
          <a:p>
            <a:pPr lvl="3"/>
            <a:r>
              <a:rPr lang="hu-HU" dirty="0" smtClean="0"/>
              <a:t>bizonyos súlyok arról gondoskodnak, hogy bizonyos bemeneteket magasabban súlyozzon a hálózat az állapot frissítésekor, mint másokat, lényegében pl. megtanulja a nem fontos szavakat ignorálni, elfelejteni</a:t>
            </a:r>
          </a:p>
          <a:p>
            <a:pPr lvl="3"/>
            <a:r>
              <a:rPr lang="hu-HU" dirty="0" smtClean="0"/>
              <a:t>mások arról gondoskodnak, hogy bizonyos neuronok állapota megőrződjön sok időlépéseken át, a fontos szavak reprezentációja jóval több lépésen át őrződjön meg (viszonylag hosszú távú emlékezet)</a:t>
            </a:r>
          </a:p>
        </p:txBody>
      </p:sp>
    </p:spTree>
    <p:extLst>
      <p:ext uri="{BB962C8B-B14F-4D97-AF65-F5344CB8AC3E}">
        <p14:creationId xmlns:p14="http://schemas.microsoft.com/office/powerpoint/2010/main" val="393671343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normAutofit/>
          </a:bodyPr>
          <a:lstStyle/>
          <a:p>
            <a:r>
              <a:rPr lang="hu-HU" sz="4000" dirty="0" err="1" smtClean="0"/>
              <a:t>Rekurrens</a:t>
            </a:r>
            <a:r>
              <a:rPr lang="hu-HU" sz="4000" dirty="0" smtClean="0"/>
              <a:t> hálók technikai nehézségei</a:t>
            </a:r>
            <a:endParaRPr lang="en-GB" sz="4000" dirty="0"/>
          </a:p>
        </p:txBody>
      </p:sp>
      <p:sp>
        <p:nvSpPr>
          <p:cNvPr id="3" name="Tartalom helye 2"/>
          <p:cNvSpPr>
            <a:spLocks noGrp="1"/>
          </p:cNvSpPr>
          <p:nvPr>
            <p:ph idx="1"/>
          </p:nvPr>
        </p:nvSpPr>
        <p:spPr>
          <a:xfrm>
            <a:off x="457200" y="1600200"/>
            <a:ext cx="8219256" cy="4709120"/>
          </a:xfrm>
        </p:spPr>
        <p:txBody>
          <a:bodyPr>
            <a:normAutofit fontScale="62500" lnSpcReduction="20000"/>
          </a:bodyPr>
          <a:lstStyle/>
          <a:p>
            <a:r>
              <a:rPr lang="hu-HU" dirty="0" smtClean="0"/>
              <a:t>Viszonylag kézenfekvő, hogy numerikus idősorok (szenzorok által észlelt mérések, tőzsdei és egyéb kereskedelmi adatok) hogyan dolgozhatók fel </a:t>
            </a:r>
            <a:r>
              <a:rPr lang="hu-HU" dirty="0" err="1" smtClean="0"/>
              <a:t>rekurrens</a:t>
            </a:r>
            <a:r>
              <a:rPr lang="hu-HU" dirty="0" smtClean="0"/>
              <a:t> hálóval, mivel ez a bemenet </a:t>
            </a:r>
            <a:r>
              <a:rPr lang="hu-HU" b="1" dirty="0" smtClean="0"/>
              <a:t>számvektorként </a:t>
            </a:r>
            <a:r>
              <a:rPr lang="hu-HU" dirty="0" smtClean="0"/>
              <a:t>kézenfekvően leírható </a:t>
            </a:r>
            <a:r>
              <a:rPr lang="hu-HU" b="1" dirty="0" smtClean="0"/>
              <a:t>minden időpontban</a:t>
            </a:r>
            <a:r>
              <a:rPr lang="hu-HU" dirty="0" smtClean="0"/>
              <a:t>.</a:t>
            </a:r>
          </a:p>
          <a:p>
            <a:r>
              <a:rPr lang="hu-HU" dirty="0" smtClean="0"/>
              <a:t>Hogyan dolgozhatók fel </a:t>
            </a:r>
            <a:r>
              <a:rPr lang="hu-HU" b="1" dirty="0" smtClean="0"/>
              <a:t>természetes nyelvi adatok</a:t>
            </a:r>
            <a:r>
              <a:rPr lang="hu-HU" dirty="0" smtClean="0"/>
              <a:t>, például szavak sorozata?</a:t>
            </a:r>
          </a:p>
          <a:p>
            <a:pPr lvl="1"/>
            <a:r>
              <a:rPr lang="hu-HU" dirty="0" smtClean="0"/>
              <a:t>Egy neurális háló kizárólag számokkal szoroz és ad össze, így a bemenetnek számnak kell lennie. Hogyan rendelünk számértéket a természetes nyelvi bemenethez?</a:t>
            </a:r>
          </a:p>
          <a:p>
            <a:pPr lvl="2"/>
            <a:r>
              <a:rPr lang="hu-HU" dirty="0" smtClean="0"/>
              <a:t>Hogyan alakítunk betűket vagy szavakat számmá, és milyen számmá?</a:t>
            </a:r>
          </a:p>
          <a:p>
            <a:pPr lvl="1"/>
            <a:r>
              <a:rPr lang="hu-HU" dirty="0" smtClean="0"/>
              <a:t>Hogyan kódoljuk számként a kimenetet?</a:t>
            </a:r>
          </a:p>
          <a:p>
            <a:r>
              <a:rPr lang="hu-HU" dirty="0" smtClean="0"/>
              <a:t>A dekódoló bemeneteként a kódoló kimenete szolgál, ami viszont egy </a:t>
            </a:r>
            <a:r>
              <a:rPr lang="hu-HU" b="1" dirty="0" smtClean="0"/>
              <a:t>meghatározott </a:t>
            </a:r>
            <a:r>
              <a:rPr lang="hu-HU" b="1" dirty="0" err="1" smtClean="0"/>
              <a:t>dimenzionalitású</a:t>
            </a:r>
            <a:r>
              <a:rPr lang="hu-HU" b="1" dirty="0" smtClean="0"/>
              <a:t> vektor</a:t>
            </a:r>
            <a:r>
              <a:rPr lang="hu-HU" dirty="0" smtClean="0"/>
              <a:t>, pl. 2000.</a:t>
            </a:r>
          </a:p>
          <a:p>
            <a:r>
              <a:rPr lang="hu-HU" dirty="0" smtClean="0"/>
              <a:t>Ez a vektor </a:t>
            </a:r>
            <a:r>
              <a:rPr lang="hu-HU" b="1" dirty="0" smtClean="0"/>
              <a:t>szűk keresztmetszetet </a:t>
            </a:r>
            <a:r>
              <a:rPr lang="hu-HU" dirty="0" smtClean="0"/>
              <a:t>jelent a feldolgozás számára. 2000 lebegőpontos számmal (néhány ezer bájton) értelemszerűen nem reprezentálható egy tetszőlegesen bonyolult bemenet.</a:t>
            </a:r>
          </a:p>
          <a:p>
            <a:pPr lvl="1"/>
            <a:r>
              <a:rPr lang="hu-HU" dirty="0" smtClean="0"/>
              <a:t>A végső állapotvektor szükségképpen csak közelíteni tudja a bemenet tartalmát.</a:t>
            </a:r>
          </a:p>
        </p:txBody>
      </p:sp>
    </p:spTree>
    <p:extLst>
      <p:ext uri="{BB962C8B-B14F-4D97-AF65-F5344CB8AC3E}">
        <p14:creationId xmlns:p14="http://schemas.microsoft.com/office/powerpoint/2010/main" val="392794606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smtClean="0"/>
              <a:t>Szavak ábrázolása vektortérben</a:t>
            </a:r>
            <a:endParaRPr lang="en-GB" dirty="0"/>
          </a:p>
        </p:txBody>
      </p:sp>
      <p:sp>
        <p:nvSpPr>
          <p:cNvPr id="3" name="Tartalom helye 2"/>
          <p:cNvSpPr>
            <a:spLocks noGrp="1"/>
          </p:cNvSpPr>
          <p:nvPr>
            <p:ph idx="1"/>
          </p:nvPr>
        </p:nvSpPr>
        <p:spPr/>
        <p:txBody>
          <a:bodyPr>
            <a:normAutofit fontScale="55000" lnSpcReduction="20000"/>
          </a:bodyPr>
          <a:lstStyle/>
          <a:p>
            <a:pPr marL="342900" lvl="1" indent="-342900">
              <a:buFont typeface="Arial" panose="020B0604020202020204" pitchFamily="34" charset="0"/>
              <a:buChar char="•"/>
            </a:pPr>
            <a:r>
              <a:rPr lang="hu-HU" dirty="0" smtClean="0"/>
              <a:t>Összegyűjtjük az összes lehetséges bemenetet (pl. betűt vagy szót) egy szótárba, ez pl. 100 (különböző karakter) vagy 100 000 (különböző szó) elemű lista lesz.</a:t>
            </a:r>
          </a:p>
          <a:p>
            <a:pPr lvl="1"/>
            <a:r>
              <a:rPr lang="hu-HU" sz="2400" dirty="0" smtClean="0"/>
              <a:t>Mindegyikhez egy-egy vektort akarunk hozzárendelni.</a:t>
            </a:r>
          </a:p>
          <a:p>
            <a:r>
              <a:rPr lang="hu-HU" sz="2800" dirty="0" smtClean="0"/>
              <a:t>A bemenet és kimenet számvektorrá alakítására két általános megoldás van:</a:t>
            </a:r>
          </a:p>
          <a:p>
            <a:pPr lvl="1"/>
            <a:r>
              <a:rPr lang="hu-HU" sz="2400" dirty="0" smtClean="0"/>
              <a:t>A szavakat / betűket (ún. </a:t>
            </a:r>
            <a:r>
              <a:rPr lang="hu-HU" sz="2400" dirty="0" err="1" smtClean="0"/>
              <a:t>tokeneket</a:t>
            </a:r>
            <a:r>
              <a:rPr lang="hu-HU" sz="2400" dirty="0" smtClean="0"/>
              <a:t>) egymástól teljesen független, különálló elemnek tekintjük (nominális, kategorikus változóknak), és ezeket egy </a:t>
            </a:r>
            <a:r>
              <a:rPr lang="hu-HU" sz="2400" i="1" dirty="0" smtClean="0"/>
              <a:t>n </a:t>
            </a:r>
            <a:r>
              <a:rPr lang="hu-HU" sz="2400" dirty="0" smtClean="0"/>
              <a:t>dimenziós ún. </a:t>
            </a:r>
            <a:r>
              <a:rPr lang="hu-HU" sz="2400" dirty="0" err="1" smtClean="0"/>
              <a:t>one-hot</a:t>
            </a:r>
            <a:r>
              <a:rPr lang="hu-HU" sz="2400" dirty="0" smtClean="0"/>
              <a:t> vektorként ábrázoljuk (n a szótár elemszáma).</a:t>
            </a:r>
          </a:p>
          <a:p>
            <a:pPr lvl="2"/>
            <a:r>
              <a:rPr lang="hu-HU" sz="2000" dirty="0" smtClean="0"/>
              <a:t>pontosan egy eleme 1, a többi 0 értéket vesz fel</a:t>
            </a:r>
          </a:p>
          <a:p>
            <a:pPr lvl="2"/>
            <a:r>
              <a:rPr lang="hu-HU" sz="2000" dirty="0" smtClean="0"/>
              <a:t>nagyon sok dimenzió, ez számítás szempontjából problémát jelent, az 1. rejtett réteg minden neuronjához </a:t>
            </a:r>
            <a:r>
              <a:rPr lang="hu-HU" sz="2000" i="1" dirty="0" smtClean="0"/>
              <a:t>n </a:t>
            </a:r>
            <a:r>
              <a:rPr lang="hu-HU" sz="2000" dirty="0" smtClean="0"/>
              <a:t>súly tartozik</a:t>
            </a:r>
          </a:p>
          <a:p>
            <a:pPr lvl="2"/>
            <a:r>
              <a:rPr lang="hu-HU" sz="2000" dirty="0" smtClean="0"/>
              <a:t>minden ilyen </a:t>
            </a:r>
            <a:r>
              <a:rPr lang="hu-HU" sz="2000" dirty="0" err="1" smtClean="0"/>
              <a:t>one-hot</a:t>
            </a:r>
            <a:r>
              <a:rPr lang="hu-HU" sz="2000" dirty="0" smtClean="0"/>
              <a:t> vektor merőleges az összes másikra, egyik sem hasonlít jobban semelyik másik vektorra – nem ideális</a:t>
            </a:r>
          </a:p>
          <a:p>
            <a:pPr lvl="1"/>
            <a:r>
              <a:rPr lang="hu-HU" dirty="0" smtClean="0"/>
              <a:t>A szavakat egy </a:t>
            </a:r>
            <a:r>
              <a:rPr lang="hu-HU" b="1" dirty="0" smtClean="0"/>
              <a:t>néhány száz dimenziós </a:t>
            </a:r>
            <a:r>
              <a:rPr lang="hu-HU" dirty="0" smtClean="0"/>
              <a:t>(pl. 300) vektortérben helyezzük el</a:t>
            </a:r>
          </a:p>
          <a:p>
            <a:pPr lvl="2"/>
            <a:r>
              <a:rPr lang="hu-HU" dirty="0" smtClean="0"/>
              <a:t>ún. </a:t>
            </a:r>
            <a:r>
              <a:rPr lang="hu-HU" b="1" dirty="0" smtClean="0"/>
              <a:t>szóbeágyazások</a:t>
            </a:r>
            <a:r>
              <a:rPr lang="hu-HU" dirty="0" smtClean="0"/>
              <a:t> (</a:t>
            </a:r>
            <a:r>
              <a:rPr lang="hu-HU" dirty="0" err="1" smtClean="0"/>
              <a:t>word</a:t>
            </a:r>
            <a:r>
              <a:rPr lang="hu-HU" dirty="0" smtClean="0"/>
              <a:t> </a:t>
            </a:r>
            <a:r>
              <a:rPr lang="hu-HU" dirty="0" err="1" smtClean="0"/>
              <a:t>embedding</a:t>
            </a:r>
            <a:r>
              <a:rPr lang="hu-HU" dirty="0" smtClean="0"/>
              <a:t>)</a:t>
            </a:r>
          </a:p>
          <a:p>
            <a:pPr lvl="2"/>
            <a:r>
              <a:rPr lang="hu-HU" b="1" dirty="0" smtClean="0"/>
              <a:t>sűrű</a:t>
            </a:r>
            <a:r>
              <a:rPr lang="hu-HU" dirty="0" smtClean="0"/>
              <a:t> </a:t>
            </a:r>
            <a:r>
              <a:rPr lang="hu-HU" b="1" dirty="0" smtClean="0"/>
              <a:t>vektorok</a:t>
            </a:r>
            <a:r>
              <a:rPr lang="hu-HU" dirty="0" smtClean="0"/>
              <a:t>, nem 0 értékűek az elemek</a:t>
            </a:r>
          </a:p>
          <a:p>
            <a:pPr lvl="2"/>
            <a:r>
              <a:rPr lang="hu-HU" dirty="0" smtClean="0"/>
              <a:t>egymáshoz hasonló jelentésű szavakat egymáshoz közeli vektorral reprezentáljuk</a:t>
            </a:r>
          </a:p>
          <a:p>
            <a:pPr lvl="2"/>
            <a:r>
              <a:rPr lang="hu-HU" dirty="0" smtClean="0"/>
              <a:t>hasonló jelentés: hasonló kontextusokban való előfordulás egy tanítókorpuszban</a:t>
            </a:r>
          </a:p>
          <a:p>
            <a:pPr lvl="1"/>
            <a:r>
              <a:rPr lang="hu-HU" dirty="0" smtClean="0"/>
              <a:t>A </a:t>
            </a:r>
            <a:r>
              <a:rPr lang="hu-HU" b="1" dirty="0" smtClean="0"/>
              <a:t>bemeneten </a:t>
            </a:r>
            <a:r>
              <a:rPr lang="hu-HU" dirty="0" smtClean="0"/>
              <a:t>általában az alacsony dimenziós sűrű vektort használják</a:t>
            </a:r>
          </a:p>
          <a:p>
            <a:pPr lvl="1"/>
            <a:r>
              <a:rPr lang="hu-HU" dirty="0" smtClean="0"/>
              <a:t>A </a:t>
            </a:r>
            <a:r>
              <a:rPr lang="hu-HU" b="1" dirty="0" smtClean="0"/>
              <a:t>kimeneten </a:t>
            </a:r>
            <a:r>
              <a:rPr lang="hu-HU" dirty="0" smtClean="0"/>
              <a:t>általában </a:t>
            </a:r>
            <a:r>
              <a:rPr lang="hu-HU" dirty="0" err="1" smtClean="0"/>
              <a:t>one-hot</a:t>
            </a:r>
            <a:r>
              <a:rPr lang="hu-HU" dirty="0" smtClean="0"/>
              <a:t> vektor a célérték</a:t>
            </a:r>
          </a:p>
          <a:p>
            <a:pPr lvl="2"/>
            <a:r>
              <a:rPr lang="hu-HU" i="1" dirty="0" smtClean="0"/>
              <a:t>n </a:t>
            </a:r>
            <a:r>
              <a:rPr lang="hu-HU" dirty="0" smtClean="0"/>
              <a:t>elemű kimeneti vektor </a:t>
            </a:r>
            <a:r>
              <a:rPr lang="hu-HU" dirty="0" err="1" smtClean="0"/>
              <a:t>softmax</a:t>
            </a:r>
            <a:r>
              <a:rPr lang="hu-HU" dirty="0" smtClean="0"/>
              <a:t> aktivációval, a kimenetek valószínűségi eloszlása</a:t>
            </a:r>
          </a:p>
          <a:p>
            <a:pPr lvl="2"/>
            <a:r>
              <a:rPr lang="hu-HU" dirty="0" smtClean="0"/>
              <a:t>a dekóder vagy a legnagyobbnak </a:t>
            </a:r>
            <a:r>
              <a:rPr lang="hu-HU" dirty="0" err="1" smtClean="0"/>
              <a:t>prediktált</a:t>
            </a:r>
            <a:r>
              <a:rPr lang="hu-HU" dirty="0" smtClean="0"/>
              <a:t> valószínűségű elemet generálja az eloszlásból (tényleges maximum), vagy mintavételez az eloszlásból (véletlen szám generálásával)</a:t>
            </a:r>
            <a:endParaRPr lang="en-GB" dirty="0"/>
          </a:p>
        </p:txBody>
      </p:sp>
    </p:spTree>
    <p:extLst>
      <p:ext uri="{BB962C8B-B14F-4D97-AF65-F5344CB8AC3E}">
        <p14:creationId xmlns:p14="http://schemas.microsoft.com/office/powerpoint/2010/main" val="312184654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smtClean="0"/>
              <a:t>Figyelem</a:t>
            </a:r>
            <a:endParaRPr lang="en-GB" dirty="0"/>
          </a:p>
        </p:txBody>
      </p:sp>
      <p:sp>
        <p:nvSpPr>
          <p:cNvPr id="3" name="Tartalom helye 2"/>
          <p:cNvSpPr>
            <a:spLocks noGrp="1"/>
          </p:cNvSpPr>
          <p:nvPr>
            <p:ph idx="1"/>
          </p:nvPr>
        </p:nvSpPr>
        <p:spPr/>
        <p:txBody>
          <a:bodyPr>
            <a:normAutofit fontScale="62500" lnSpcReduction="20000"/>
          </a:bodyPr>
          <a:lstStyle/>
          <a:p>
            <a:r>
              <a:rPr lang="hu-HU" dirty="0" smtClean="0"/>
              <a:t>A dekóder </a:t>
            </a:r>
            <a:r>
              <a:rPr lang="hu-HU" b="1" dirty="0" smtClean="0"/>
              <a:t>ne csak a kódoló utolsó állapotvektorához </a:t>
            </a:r>
            <a:r>
              <a:rPr lang="hu-HU" dirty="0" smtClean="0"/>
              <a:t>férjen hozzá, hanem az </a:t>
            </a:r>
            <a:r>
              <a:rPr lang="hu-HU" b="1" dirty="0" smtClean="0"/>
              <a:t>összeshez </a:t>
            </a:r>
            <a:r>
              <a:rPr lang="hu-HU" dirty="0" smtClean="0"/>
              <a:t>(az elsőtől az utolsóig mindegyikhez).</a:t>
            </a:r>
          </a:p>
          <a:p>
            <a:pPr lvl="1"/>
            <a:r>
              <a:rPr lang="hu-HU" dirty="0" smtClean="0"/>
              <a:t>a dekódoló következő állapotvektorának kiszámításakor így nem csak a dekódoló előző állapotvektorával tudunk szorozni (az első lépésben a kódoló állapotvektorával), hanem a kódoló összes állapotvektorával</a:t>
            </a:r>
          </a:p>
          <a:p>
            <a:pPr lvl="2"/>
            <a:r>
              <a:rPr lang="hu-HU" dirty="0" smtClean="0"/>
              <a:t>párhuzam: </a:t>
            </a:r>
            <a:r>
              <a:rPr lang="hu-HU" dirty="0" err="1" smtClean="0"/>
              <a:t>U-Net</a:t>
            </a:r>
            <a:r>
              <a:rPr lang="hu-HU" dirty="0" smtClean="0"/>
              <a:t>, ott a hálózat felskálázó (dekódoló) fele az adott blokk kimenetéhez hozzáadta a megfelelő méretű leskálázó blokk kimenetét súlyozva</a:t>
            </a:r>
          </a:p>
          <a:p>
            <a:pPr lvl="1"/>
            <a:r>
              <a:rPr lang="hu-HU" b="1" dirty="0" smtClean="0"/>
              <a:t>Hogyan lehet megvalósítani? </a:t>
            </a:r>
            <a:r>
              <a:rPr lang="hu-HU" b="1" dirty="0" err="1"/>
              <a:t>K</a:t>
            </a:r>
            <a:r>
              <a:rPr lang="hu-HU" b="1" dirty="0" err="1" smtClean="0"/>
              <a:t>onkatenálni</a:t>
            </a:r>
            <a:r>
              <a:rPr lang="hu-HU" b="1" dirty="0" smtClean="0"/>
              <a:t> nem elegendő </a:t>
            </a:r>
            <a:r>
              <a:rPr lang="hu-HU" dirty="0" smtClean="0"/>
              <a:t>a kódoló állapotvektorait. (Miért?)</a:t>
            </a:r>
          </a:p>
          <a:p>
            <a:pPr lvl="1"/>
            <a:r>
              <a:rPr lang="hu-HU" dirty="0" smtClean="0"/>
              <a:t>Helyette </a:t>
            </a:r>
            <a:r>
              <a:rPr lang="hu-HU" b="1" dirty="0" smtClean="0"/>
              <a:t>a kódoló </a:t>
            </a:r>
            <a:r>
              <a:rPr lang="hu-HU" b="1" dirty="0"/>
              <a:t>á</a:t>
            </a:r>
            <a:r>
              <a:rPr lang="hu-HU" b="1" dirty="0" smtClean="0"/>
              <a:t>llapotainak súlyozott összegét </a:t>
            </a:r>
            <a:r>
              <a:rPr lang="hu-HU" dirty="0" smtClean="0"/>
              <a:t>lehetne venni, úgy súlyozva, hogy azok a </a:t>
            </a:r>
            <a:r>
              <a:rPr lang="hu-HU" dirty="0" err="1" smtClean="0"/>
              <a:t>kódolóállapotok</a:t>
            </a:r>
            <a:r>
              <a:rPr lang="hu-HU" dirty="0" smtClean="0"/>
              <a:t> szerepeljenek nagyobb súllyal az összegben, amelyek lényegesek a dekódolás adott pontján.</a:t>
            </a:r>
          </a:p>
          <a:p>
            <a:pPr lvl="2"/>
            <a:r>
              <a:rPr lang="hu-HU" dirty="0" smtClean="0"/>
              <a:t>Ezt a súlyozott összeget adjuk valamilyen súllyal a dekódoló előző állapotához és a bemenet szorzatához, összegezve így kapjuk az az állapotvektort, amiből számoljuk az adott lépésbeli kimenetet</a:t>
            </a:r>
          </a:p>
          <a:p>
            <a:pPr lvl="1"/>
            <a:r>
              <a:rPr lang="hu-HU" dirty="0" smtClean="0"/>
              <a:t>Ezt a </a:t>
            </a:r>
            <a:r>
              <a:rPr lang="hu-HU" b="1" dirty="0" smtClean="0"/>
              <a:t>súlyozást </a:t>
            </a:r>
            <a:r>
              <a:rPr lang="hu-HU" dirty="0" smtClean="0"/>
              <a:t>nevezik a mélytanulásban </a:t>
            </a:r>
            <a:r>
              <a:rPr lang="hu-HU" b="1" dirty="0" smtClean="0"/>
              <a:t>figyelemnek</a:t>
            </a:r>
            <a:r>
              <a:rPr lang="hu-HU" dirty="0" smtClean="0"/>
              <a:t>. A dekódoló a </a:t>
            </a:r>
            <a:r>
              <a:rPr lang="hu-HU" b="1" dirty="0" smtClean="0"/>
              <a:t>kódoló állapotai közül egyesekre célzottan odafigyel</a:t>
            </a:r>
            <a:r>
              <a:rPr lang="hu-HU" dirty="0" smtClean="0"/>
              <a:t>, mégpedig azokra, amelyekre a következő elem generálásához szüksége van, másokkal nem foglalkozik.</a:t>
            </a:r>
          </a:p>
          <a:p>
            <a:pPr lvl="1"/>
            <a:endParaRPr lang="hu-HU" dirty="0" smtClean="0"/>
          </a:p>
        </p:txBody>
      </p:sp>
    </p:spTree>
    <p:extLst>
      <p:ext uri="{BB962C8B-B14F-4D97-AF65-F5344CB8AC3E}">
        <p14:creationId xmlns:p14="http://schemas.microsoft.com/office/powerpoint/2010/main" val="329637937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smtClean="0"/>
              <a:t>Figyelem</a:t>
            </a:r>
            <a:endParaRPr lang="en-GB" dirty="0"/>
          </a:p>
        </p:txBody>
      </p:sp>
      <p:sp>
        <p:nvSpPr>
          <p:cNvPr id="3" name="Tartalom helye 2"/>
          <p:cNvSpPr>
            <a:spLocks noGrp="1"/>
          </p:cNvSpPr>
          <p:nvPr>
            <p:ph idx="1"/>
          </p:nvPr>
        </p:nvSpPr>
        <p:spPr>
          <a:xfrm>
            <a:off x="457200" y="1600200"/>
            <a:ext cx="8229600" cy="4637112"/>
          </a:xfrm>
        </p:spPr>
        <p:txBody>
          <a:bodyPr>
            <a:normAutofit fontScale="70000" lnSpcReduction="20000"/>
          </a:bodyPr>
          <a:lstStyle/>
          <a:p>
            <a:r>
              <a:rPr lang="hu-HU" dirty="0" smtClean="0"/>
              <a:t>Mi alapján súlyozzon a neurális háló?</a:t>
            </a:r>
          </a:p>
          <a:p>
            <a:pPr lvl="1"/>
            <a:r>
              <a:rPr lang="hu-HU" dirty="0" smtClean="0"/>
              <a:t>Lehetne pozíció alapján (a kimenet eleje a bemenet elejére figyeljen oda), de a </a:t>
            </a:r>
            <a:r>
              <a:rPr lang="hu-HU" dirty="0" err="1" smtClean="0"/>
              <a:t>rekurrens</a:t>
            </a:r>
            <a:r>
              <a:rPr lang="hu-HU" dirty="0" smtClean="0"/>
              <a:t> hálóban a pozíció nem igazán értelmezhető.</a:t>
            </a:r>
          </a:p>
          <a:p>
            <a:pPr lvl="2"/>
            <a:r>
              <a:rPr lang="hu-HU" dirty="0" smtClean="0"/>
              <a:t>tetszőlegesen hosszú lehet a bemenet és a kimenet is</a:t>
            </a:r>
          </a:p>
          <a:p>
            <a:pPr lvl="1"/>
            <a:r>
              <a:rPr lang="hu-HU" dirty="0" smtClean="0"/>
              <a:t>Megoldás: a dekódoló adott állapota és a kódoló állapotai közötti hasonlóság alapján</a:t>
            </a:r>
          </a:p>
          <a:p>
            <a:pPr lvl="2"/>
            <a:r>
              <a:rPr lang="hu-HU" dirty="0" smtClean="0"/>
              <a:t>kódoló állapotai egy </a:t>
            </a:r>
            <a:r>
              <a:rPr lang="hu-HU" i="1" dirty="0" smtClean="0"/>
              <a:t>n </a:t>
            </a:r>
            <a:r>
              <a:rPr lang="hu-HU" dirty="0" smtClean="0"/>
              <a:t>x </a:t>
            </a:r>
            <a:r>
              <a:rPr lang="hu-HU" i="1" dirty="0" smtClean="0"/>
              <a:t>k </a:t>
            </a:r>
            <a:r>
              <a:rPr lang="hu-HU" dirty="0" smtClean="0"/>
              <a:t>dimenziós mátrixot alkotnak</a:t>
            </a:r>
          </a:p>
          <a:p>
            <a:pPr lvl="3"/>
            <a:r>
              <a:rPr lang="hu-HU" dirty="0" smtClean="0"/>
              <a:t>ahol </a:t>
            </a:r>
            <a:r>
              <a:rPr lang="hu-HU" i="1" dirty="0" smtClean="0"/>
              <a:t>n </a:t>
            </a:r>
            <a:r>
              <a:rPr lang="hu-HU" dirty="0" smtClean="0"/>
              <a:t>a tényleges bemenet hossza, </a:t>
            </a:r>
            <a:r>
              <a:rPr lang="hu-HU" i="1" dirty="0" smtClean="0"/>
              <a:t>k </a:t>
            </a:r>
            <a:r>
              <a:rPr lang="hu-HU" dirty="0" smtClean="0"/>
              <a:t>az állapotvektor dimenziója</a:t>
            </a:r>
          </a:p>
          <a:p>
            <a:pPr lvl="3"/>
            <a:r>
              <a:rPr lang="hu-HU" dirty="0" smtClean="0"/>
              <a:t>minden sor rendre a kódoló egy-egy állapotvektora</a:t>
            </a:r>
          </a:p>
          <a:p>
            <a:pPr lvl="2"/>
            <a:r>
              <a:rPr lang="hu-HU" dirty="0" smtClean="0"/>
              <a:t>dekódoló legutóbbi állapota </a:t>
            </a:r>
            <a:r>
              <a:rPr lang="hu-HU" i="1" dirty="0" smtClean="0"/>
              <a:t>k </a:t>
            </a:r>
            <a:r>
              <a:rPr lang="hu-HU" dirty="0" smtClean="0"/>
              <a:t>dimenziós vektor</a:t>
            </a:r>
          </a:p>
          <a:p>
            <a:pPr lvl="2"/>
            <a:r>
              <a:rPr lang="hu-HU" dirty="0" smtClean="0"/>
              <a:t>a kettőt összeszorozzuk, az eredmény egy </a:t>
            </a:r>
            <a:r>
              <a:rPr lang="hu-HU" i="1" dirty="0" smtClean="0"/>
              <a:t>n </a:t>
            </a:r>
            <a:r>
              <a:rPr lang="hu-HU" dirty="0" smtClean="0"/>
              <a:t>x 1 dimenziós vektor, amelynek elemei az egyes kódoló állapotok és a legutóbbi dekódoló állapot belső szorzata</a:t>
            </a:r>
          </a:p>
          <a:p>
            <a:pPr lvl="3"/>
            <a:r>
              <a:rPr lang="hu-HU" dirty="0" smtClean="0"/>
              <a:t>ha két vektor hossza azonos, a belső szorzatuk arányos a </a:t>
            </a:r>
            <a:r>
              <a:rPr lang="hu-HU" dirty="0" err="1" smtClean="0"/>
              <a:t>koszinuszhasonlóságukkal</a:t>
            </a:r>
            <a:endParaRPr lang="hu-HU" dirty="0" smtClean="0"/>
          </a:p>
          <a:p>
            <a:pPr lvl="2"/>
            <a:r>
              <a:rPr lang="hu-HU" dirty="0" smtClean="0"/>
              <a:t>a szorzatvektort </a:t>
            </a:r>
            <a:r>
              <a:rPr lang="hu-HU" dirty="0" err="1" smtClean="0"/>
              <a:t>softmaxszal</a:t>
            </a:r>
            <a:r>
              <a:rPr lang="hu-HU" dirty="0" smtClean="0"/>
              <a:t> 1 összegre normáljuk</a:t>
            </a:r>
          </a:p>
          <a:p>
            <a:pPr lvl="2"/>
            <a:r>
              <a:rPr lang="hu-HU" dirty="0" smtClean="0"/>
              <a:t>az állapotvektorok </a:t>
            </a:r>
            <a:r>
              <a:rPr lang="hu-HU" i="1" dirty="0" smtClean="0"/>
              <a:t>k </a:t>
            </a:r>
            <a:r>
              <a:rPr lang="hu-HU" dirty="0" smtClean="0"/>
              <a:t>x </a:t>
            </a:r>
            <a:r>
              <a:rPr lang="hu-HU" i="1" dirty="0" smtClean="0"/>
              <a:t>n </a:t>
            </a:r>
            <a:r>
              <a:rPr lang="hu-HU" dirty="0" smtClean="0"/>
              <a:t>transzponáltját szorozzuk az </a:t>
            </a:r>
            <a:r>
              <a:rPr lang="hu-HU" i="1" dirty="0" smtClean="0"/>
              <a:t>n </a:t>
            </a:r>
            <a:r>
              <a:rPr lang="hu-HU" dirty="0" smtClean="0"/>
              <a:t>x 1 </a:t>
            </a:r>
            <a:r>
              <a:rPr lang="hu-HU" dirty="0" err="1" smtClean="0"/>
              <a:t>softmax</a:t>
            </a:r>
            <a:r>
              <a:rPr lang="hu-HU" dirty="0" smtClean="0"/>
              <a:t> vektorral</a:t>
            </a:r>
          </a:p>
          <a:p>
            <a:pPr lvl="2"/>
            <a:r>
              <a:rPr lang="hu-HU" dirty="0" smtClean="0"/>
              <a:t>a kapott </a:t>
            </a:r>
            <a:r>
              <a:rPr lang="hu-HU" i="1" dirty="0" smtClean="0"/>
              <a:t>k </a:t>
            </a:r>
            <a:r>
              <a:rPr lang="hu-HU" dirty="0" smtClean="0"/>
              <a:t>x 1 vektor a kódoló állapotvektorainak figyelemmel súlyozott összege (ún. lineáris kombinációja)</a:t>
            </a:r>
          </a:p>
        </p:txBody>
      </p:sp>
    </p:spTree>
    <p:extLst>
      <p:ext uri="{BB962C8B-B14F-4D97-AF65-F5344CB8AC3E}">
        <p14:creationId xmlns:p14="http://schemas.microsoft.com/office/powerpoint/2010/main" val="12251267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smtClean="0"/>
              <a:t>Figyelem</a:t>
            </a:r>
            <a:endParaRPr lang="en-GB" dirty="0"/>
          </a:p>
        </p:txBody>
      </p:sp>
      <p:sp>
        <p:nvSpPr>
          <p:cNvPr id="3" name="Tartalom helye 2"/>
          <p:cNvSpPr>
            <a:spLocks noGrp="1"/>
          </p:cNvSpPr>
          <p:nvPr>
            <p:ph idx="1"/>
          </p:nvPr>
        </p:nvSpPr>
        <p:spPr/>
        <p:txBody>
          <a:bodyPr>
            <a:normAutofit fontScale="47500" lnSpcReduction="20000"/>
          </a:bodyPr>
          <a:lstStyle/>
          <a:p>
            <a:r>
              <a:rPr lang="hu-HU" dirty="0" smtClean="0"/>
              <a:t>A figyelemnek az előbbiekben látott implementációja hasonlít egy vektoradatbázisban történő keresésre:</a:t>
            </a:r>
          </a:p>
          <a:p>
            <a:pPr lvl="1"/>
            <a:r>
              <a:rPr lang="hu-HU" dirty="0" smtClean="0"/>
              <a:t>az adatbázisban tárolt értékek egy-egy vektorhoz mint </a:t>
            </a:r>
            <a:r>
              <a:rPr lang="hu-HU" b="1" dirty="0" smtClean="0"/>
              <a:t>kulcshoz</a:t>
            </a:r>
            <a:r>
              <a:rPr lang="hu-HU" dirty="0" smtClean="0"/>
              <a:t> vannak rendelve</a:t>
            </a:r>
          </a:p>
          <a:p>
            <a:pPr lvl="1"/>
            <a:r>
              <a:rPr lang="hu-HU" dirty="0" smtClean="0"/>
              <a:t>az </a:t>
            </a:r>
            <a:r>
              <a:rPr lang="hu-HU" b="1" dirty="0" smtClean="0"/>
              <a:t>értékeket</a:t>
            </a:r>
            <a:r>
              <a:rPr lang="hu-HU" dirty="0" smtClean="0"/>
              <a:t> a kulcs alapján keressük ki</a:t>
            </a:r>
          </a:p>
          <a:p>
            <a:pPr lvl="1"/>
            <a:r>
              <a:rPr lang="hu-HU" dirty="0" smtClean="0"/>
              <a:t>a </a:t>
            </a:r>
            <a:r>
              <a:rPr lang="hu-HU" b="1" dirty="0" smtClean="0"/>
              <a:t>lekérdezés</a:t>
            </a:r>
            <a:r>
              <a:rPr lang="hu-HU" dirty="0" smtClean="0"/>
              <a:t> (</a:t>
            </a:r>
            <a:r>
              <a:rPr lang="hu-HU" dirty="0" err="1" smtClean="0"/>
              <a:t>keresőkifejezés</a:t>
            </a:r>
            <a:r>
              <a:rPr lang="hu-HU" dirty="0" smtClean="0"/>
              <a:t>) maga is egy (a kulcsokkal azonos dimenziójú) vektor</a:t>
            </a:r>
          </a:p>
          <a:p>
            <a:r>
              <a:rPr lang="hu-HU" dirty="0" smtClean="0"/>
              <a:t>Vektoradatbázisokat különösen szövegek tárolására használnak, a cél az, hogy egy keresésnek leginkább megfelelő szöveget találjunk meg</a:t>
            </a:r>
          </a:p>
          <a:p>
            <a:pPr lvl="1"/>
            <a:r>
              <a:rPr lang="hu-HU" dirty="0" smtClean="0"/>
              <a:t>nem kulcsszó alapján vagy teljes szövegben </a:t>
            </a:r>
            <a:r>
              <a:rPr lang="hu-HU" dirty="0" err="1" smtClean="0"/>
              <a:t>keresőkifejezés</a:t>
            </a:r>
            <a:r>
              <a:rPr lang="hu-HU" dirty="0" smtClean="0"/>
              <a:t> alapján keresünk, hanem a szöveg tartalma alapján</a:t>
            </a:r>
          </a:p>
          <a:p>
            <a:pPr lvl="1"/>
            <a:r>
              <a:rPr lang="hu-HU" dirty="0" smtClean="0"/>
              <a:t>ennek klasszikus módszere az ún. </a:t>
            </a:r>
            <a:r>
              <a:rPr lang="hu-HU" b="1" dirty="0" smtClean="0"/>
              <a:t>latens szemantikus indexálás </a:t>
            </a:r>
            <a:r>
              <a:rPr lang="hu-HU" dirty="0" smtClean="0"/>
              <a:t>(</a:t>
            </a:r>
            <a:r>
              <a:rPr lang="hu-HU" dirty="0" err="1" smtClean="0"/>
              <a:t>LSI</a:t>
            </a:r>
            <a:r>
              <a:rPr lang="hu-HU" dirty="0"/>
              <a:t> </a:t>
            </a:r>
            <a:r>
              <a:rPr lang="hu-HU" dirty="0" smtClean="0"/>
              <a:t>/ </a:t>
            </a:r>
            <a:r>
              <a:rPr lang="hu-HU" dirty="0" err="1" smtClean="0"/>
              <a:t>LSA</a:t>
            </a:r>
            <a:r>
              <a:rPr lang="hu-HU" dirty="0" smtClean="0"/>
              <a:t>), tetszőleges szöveget sűrű, néhány száz dimenziós valósszám-vektorra képez le</a:t>
            </a:r>
          </a:p>
          <a:p>
            <a:pPr lvl="1"/>
            <a:r>
              <a:rPr lang="hu-HU" dirty="0" smtClean="0"/>
              <a:t>újabban, az utóbbi kb. 5 évben erre neurális hálót használnak, ezeket </a:t>
            </a:r>
            <a:r>
              <a:rPr lang="hu-HU" b="1" dirty="0" err="1" smtClean="0"/>
              <a:t>mondattranszformernek</a:t>
            </a:r>
            <a:r>
              <a:rPr lang="hu-HU" dirty="0" smtClean="0"/>
              <a:t> (</a:t>
            </a:r>
            <a:r>
              <a:rPr lang="hu-HU" dirty="0" err="1" smtClean="0"/>
              <a:t>sentence</a:t>
            </a:r>
            <a:r>
              <a:rPr lang="hu-HU" dirty="0" smtClean="0"/>
              <a:t> </a:t>
            </a:r>
            <a:r>
              <a:rPr lang="hu-HU" dirty="0" err="1" smtClean="0"/>
              <a:t>transformer</a:t>
            </a:r>
            <a:r>
              <a:rPr lang="hu-HU" dirty="0" smtClean="0"/>
              <a:t>), </a:t>
            </a:r>
            <a:r>
              <a:rPr lang="hu-HU" b="1" dirty="0" smtClean="0"/>
              <a:t>beágyazásmodellnek</a:t>
            </a:r>
            <a:r>
              <a:rPr lang="hu-HU" dirty="0" smtClean="0"/>
              <a:t> (</a:t>
            </a:r>
            <a:r>
              <a:rPr lang="hu-HU" dirty="0" err="1" smtClean="0"/>
              <a:t>embedding</a:t>
            </a:r>
            <a:r>
              <a:rPr lang="hu-HU" dirty="0" smtClean="0"/>
              <a:t> </a:t>
            </a:r>
            <a:r>
              <a:rPr lang="hu-HU" dirty="0" err="1" smtClean="0"/>
              <a:t>model</a:t>
            </a:r>
            <a:r>
              <a:rPr lang="hu-HU" dirty="0" smtClean="0"/>
              <a:t>) nevezik</a:t>
            </a:r>
          </a:p>
          <a:p>
            <a:r>
              <a:rPr lang="hu-HU" dirty="0" smtClean="0"/>
              <a:t>A figyelem implementációja </a:t>
            </a:r>
            <a:r>
              <a:rPr lang="hu-HU" dirty="0" smtClean="0"/>
              <a:t>esetében a vektoradatbázist analógiaként használják:</a:t>
            </a:r>
            <a:endParaRPr lang="hu-HU" dirty="0" smtClean="0"/>
          </a:p>
          <a:p>
            <a:pPr lvl="1"/>
            <a:r>
              <a:rPr lang="hu-HU" dirty="0" smtClean="0"/>
              <a:t>a </a:t>
            </a:r>
            <a:r>
              <a:rPr lang="hu-HU" dirty="0" err="1" smtClean="0"/>
              <a:t>keresőkifejezés</a:t>
            </a:r>
            <a:r>
              <a:rPr lang="hu-HU" dirty="0" smtClean="0"/>
              <a:t> (</a:t>
            </a:r>
            <a:r>
              <a:rPr lang="hu-HU" b="1" dirty="0" smtClean="0"/>
              <a:t>lekérdezés, </a:t>
            </a:r>
            <a:r>
              <a:rPr lang="hu-HU" dirty="0" err="1" smtClean="0"/>
              <a:t>query</a:t>
            </a:r>
            <a:r>
              <a:rPr lang="hu-HU" dirty="0" smtClean="0"/>
              <a:t>, </a:t>
            </a:r>
            <a:r>
              <a:rPr lang="hu-HU" b="1" dirty="0" smtClean="0"/>
              <a:t>Q</a:t>
            </a:r>
            <a:r>
              <a:rPr lang="hu-HU" dirty="0" smtClean="0"/>
              <a:t>) a dekóder legutóbbi állapota</a:t>
            </a:r>
          </a:p>
          <a:p>
            <a:pPr lvl="1"/>
            <a:r>
              <a:rPr lang="hu-HU" dirty="0" smtClean="0"/>
              <a:t>a </a:t>
            </a:r>
            <a:r>
              <a:rPr lang="hu-HU" b="1" dirty="0" smtClean="0"/>
              <a:t>kulcs </a:t>
            </a:r>
            <a:r>
              <a:rPr lang="hu-HU" dirty="0" smtClean="0"/>
              <a:t>(</a:t>
            </a:r>
            <a:r>
              <a:rPr lang="hu-HU" dirty="0" err="1" smtClean="0"/>
              <a:t>key</a:t>
            </a:r>
            <a:r>
              <a:rPr lang="hu-HU" dirty="0" smtClean="0"/>
              <a:t>, </a:t>
            </a:r>
            <a:r>
              <a:rPr lang="hu-HU" b="1" dirty="0" smtClean="0"/>
              <a:t>K</a:t>
            </a:r>
            <a:r>
              <a:rPr lang="hu-HU" dirty="0" smtClean="0"/>
              <a:t>), amihez hasonlítjuk a </a:t>
            </a:r>
            <a:r>
              <a:rPr lang="hu-HU" dirty="0" err="1" smtClean="0"/>
              <a:t>keresőkifejezést</a:t>
            </a:r>
            <a:r>
              <a:rPr lang="hu-HU" dirty="0" smtClean="0"/>
              <a:t>, </a:t>
            </a:r>
            <a:r>
              <a:rPr lang="hu-HU" dirty="0" err="1" smtClean="0"/>
              <a:t>a</a:t>
            </a:r>
            <a:r>
              <a:rPr lang="hu-HU" dirty="0" smtClean="0"/>
              <a:t> kódoló egy állapota</a:t>
            </a:r>
            <a:endParaRPr lang="hu-HU" dirty="0"/>
          </a:p>
          <a:p>
            <a:r>
              <a:rPr lang="hu-HU" dirty="0" smtClean="0"/>
              <a:t>Ha </a:t>
            </a:r>
            <a:r>
              <a:rPr lang="hu-HU" dirty="0" smtClean="0"/>
              <a:t>egyszerűen összeszorozzuk </a:t>
            </a:r>
            <a:r>
              <a:rPr lang="hu-HU" dirty="0" smtClean="0"/>
              <a:t>a lekérdezést és a kulcsokat, abból indulunk ki, hogy mindkettő dimenziói egyformán fontosak</a:t>
            </a:r>
          </a:p>
          <a:p>
            <a:r>
              <a:rPr lang="hu-HU" dirty="0"/>
              <a:t>S</a:t>
            </a:r>
            <a:r>
              <a:rPr lang="hu-HU" dirty="0" smtClean="0"/>
              <a:t>zorzás előtt akár súlyozhatnánk is a lekérdezés és a kulcsok dimenzióit</a:t>
            </a:r>
          </a:p>
          <a:p>
            <a:pPr lvl="1"/>
            <a:r>
              <a:rPr lang="hu-HU" dirty="0" smtClean="0"/>
              <a:t>Ez hasznos, ha a dimenziók különböző keresésekben nem egyformán fontosak</a:t>
            </a:r>
          </a:p>
        </p:txBody>
      </p:sp>
    </p:spTree>
    <p:extLst>
      <p:ext uri="{BB962C8B-B14F-4D97-AF65-F5344CB8AC3E}">
        <p14:creationId xmlns:p14="http://schemas.microsoft.com/office/powerpoint/2010/main" val="39779478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smtClean="0"/>
              <a:t>Többfejű figyelem</a:t>
            </a:r>
            <a:endParaRPr lang="en-GB" dirty="0"/>
          </a:p>
        </p:txBody>
      </p:sp>
      <p:sp>
        <p:nvSpPr>
          <p:cNvPr id="3" name="Tartalom helye 2"/>
          <p:cNvSpPr>
            <a:spLocks noGrp="1"/>
          </p:cNvSpPr>
          <p:nvPr>
            <p:ph idx="1"/>
          </p:nvPr>
        </p:nvSpPr>
        <p:spPr/>
        <p:txBody>
          <a:bodyPr>
            <a:normAutofit fontScale="70000" lnSpcReduction="20000"/>
          </a:bodyPr>
          <a:lstStyle/>
          <a:p>
            <a:r>
              <a:rPr lang="hu-HU" dirty="0" smtClean="0"/>
              <a:t>Mielőtt összeszorozzuk a </a:t>
            </a:r>
            <a:r>
              <a:rPr lang="hu-HU" dirty="0" err="1" smtClean="0"/>
              <a:t>lekérdezésvektort</a:t>
            </a:r>
            <a:r>
              <a:rPr lang="hu-HU" dirty="0" smtClean="0"/>
              <a:t> és a kulcsvektorokat, mindkettőt súlyozzuk, mégpedig egy </a:t>
            </a:r>
            <a:r>
              <a:rPr lang="hu-HU" b="1" dirty="0" smtClean="0"/>
              <a:t>tanult vektorral</a:t>
            </a:r>
          </a:p>
          <a:p>
            <a:pPr lvl="1"/>
            <a:r>
              <a:rPr lang="hu-HU" dirty="0" smtClean="0"/>
              <a:t>ez a vektor kicsit hasonló egy </a:t>
            </a:r>
            <a:r>
              <a:rPr lang="hu-HU" dirty="0" err="1" smtClean="0"/>
              <a:t>konvolúciós</a:t>
            </a:r>
            <a:r>
              <a:rPr lang="hu-HU" dirty="0" smtClean="0"/>
              <a:t> szűrőhöz</a:t>
            </a:r>
          </a:p>
          <a:p>
            <a:pPr lvl="2"/>
            <a:r>
              <a:rPr lang="hu-HU" dirty="0" smtClean="0"/>
              <a:t>a </a:t>
            </a:r>
            <a:r>
              <a:rPr lang="hu-HU" dirty="0" err="1" smtClean="0"/>
              <a:t>konvolúció</a:t>
            </a:r>
            <a:r>
              <a:rPr lang="hu-HU" dirty="0" smtClean="0"/>
              <a:t> esetében nemcsak súlyoztunk, hanem utána össze is adtuk az értékeket, és egyetlen (pixel)értéket kaptunk eredményként</a:t>
            </a:r>
          </a:p>
          <a:p>
            <a:pPr lvl="2"/>
            <a:r>
              <a:rPr lang="hu-HU" dirty="0" smtClean="0"/>
              <a:t>itt csak súlyozunk</a:t>
            </a:r>
          </a:p>
          <a:p>
            <a:pPr lvl="2"/>
            <a:r>
              <a:rPr lang="hu-HU" dirty="0" smtClean="0"/>
              <a:t>de a súlyvektorok ugyanúgy, mint a </a:t>
            </a:r>
            <a:r>
              <a:rPr lang="hu-HU" dirty="0" err="1" smtClean="0"/>
              <a:t>konvolúciós</a:t>
            </a:r>
            <a:r>
              <a:rPr lang="hu-HU" dirty="0" smtClean="0"/>
              <a:t> szűrők esetében tanult súlyokat tartalmaznak</a:t>
            </a:r>
          </a:p>
          <a:p>
            <a:pPr lvl="1"/>
            <a:r>
              <a:rPr lang="hu-HU" dirty="0" smtClean="0"/>
              <a:t>ugyanúgy, mint a </a:t>
            </a:r>
            <a:r>
              <a:rPr lang="hu-HU" dirty="0" err="1" smtClean="0"/>
              <a:t>konvolúciós</a:t>
            </a:r>
            <a:r>
              <a:rPr lang="hu-HU" dirty="0" smtClean="0"/>
              <a:t> hálók esetében, nemcsak egy ilyen vektorral szorozzuk be a lekérdezést és a kulcsot, hanem több Q-K </a:t>
            </a:r>
            <a:r>
              <a:rPr lang="hu-HU" dirty="0" err="1" smtClean="0"/>
              <a:t>súlyvektorpárt</a:t>
            </a:r>
            <a:r>
              <a:rPr lang="hu-HU" dirty="0" smtClean="0"/>
              <a:t> tanul a háló</a:t>
            </a:r>
          </a:p>
          <a:p>
            <a:pPr lvl="1"/>
            <a:r>
              <a:rPr lang="hu-HU" dirty="0" smtClean="0"/>
              <a:t>így egy tanult Q-K vektorral való súlyozással más kulcsra fog figyelni a lekérdezés, mint egy másik tanult Q-K vektorral való súlyozás esetén</a:t>
            </a:r>
          </a:p>
          <a:p>
            <a:r>
              <a:rPr lang="hu-HU" dirty="0" smtClean="0"/>
              <a:t>Ezt nevezik a mélytanulásban </a:t>
            </a:r>
            <a:r>
              <a:rPr lang="hu-HU" b="1" dirty="0" smtClean="0"/>
              <a:t>többfejű figyelemnek </a:t>
            </a:r>
            <a:r>
              <a:rPr lang="hu-HU" dirty="0" smtClean="0"/>
              <a:t>(</a:t>
            </a:r>
            <a:r>
              <a:rPr lang="hu-HU" dirty="0" err="1" smtClean="0"/>
              <a:t>multi-head</a:t>
            </a:r>
            <a:r>
              <a:rPr lang="hu-HU" dirty="0" smtClean="0"/>
              <a:t> </a:t>
            </a:r>
            <a:r>
              <a:rPr lang="hu-HU" dirty="0" err="1" smtClean="0"/>
              <a:t>attention</a:t>
            </a:r>
            <a:r>
              <a:rPr lang="hu-HU" dirty="0" smtClean="0"/>
              <a:t>)</a:t>
            </a:r>
          </a:p>
        </p:txBody>
      </p:sp>
    </p:spTree>
    <p:extLst>
      <p:ext uri="{BB962C8B-B14F-4D97-AF65-F5344CB8AC3E}">
        <p14:creationId xmlns:p14="http://schemas.microsoft.com/office/powerpoint/2010/main" val="7824582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a:xfrm>
            <a:off x="467544" y="116632"/>
            <a:ext cx="8229600" cy="1143000"/>
          </a:xfrm>
        </p:spPr>
        <p:txBody>
          <a:bodyPr/>
          <a:lstStyle/>
          <a:p>
            <a:r>
              <a:rPr lang="en-GB" dirty="0" smtClean="0"/>
              <a:t>Trans</a:t>
            </a:r>
            <a:r>
              <a:rPr lang="hu-HU" dirty="0" smtClean="0"/>
              <a:t>z</a:t>
            </a:r>
            <a:r>
              <a:rPr lang="en-GB" dirty="0" smtClean="0"/>
              <a:t>former</a:t>
            </a:r>
            <a:endParaRPr lang="en-GB" dirty="0"/>
          </a:p>
        </p:txBody>
      </p:sp>
      <p:sp>
        <p:nvSpPr>
          <p:cNvPr id="3" name="Tartalom helye 2"/>
          <p:cNvSpPr>
            <a:spLocks noGrp="1"/>
          </p:cNvSpPr>
          <p:nvPr>
            <p:ph idx="1"/>
          </p:nvPr>
        </p:nvSpPr>
        <p:spPr>
          <a:xfrm>
            <a:off x="467544" y="1268760"/>
            <a:ext cx="8229600" cy="5400600"/>
          </a:xfrm>
        </p:spPr>
        <p:txBody>
          <a:bodyPr>
            <a:normAutofit lnSpcReduction="10000"/>
          </a:bodyPr>
          <a:lstStyle/>
          <a:p>
            <a:r>
              <a:rPr lang="hu-HU" sz="1400" dirty="0" smtClean="0"/>
              <a:t>A </a:t>
            </a:r>
            <a:r>
              <a:rPr lang="hu-HU" sz="1400" dirty="0" err="1" smtClean="0"/>
              <a:t>transzformer</a:t>
            </a:r>
            <a:r>
              <a:rPr lang="hu-HU" sz="1400" dirty="0" smtClean="0"/>
              <a:t> olyan mélytanulási architektúra, amely a </a:t>
            </a:r>
            <a:r>
              <a:rPr lang="hu-HU" sz="1400" b="1" dirty="0" smtClean="0"/>
              <a:t>többfejű, önmagára irányuló figyelem </a:t>
            </a:r>
            <a:r>
              <a:rPr lang="hu-HU" sz="1400" dirty="0" smtClean="0"/>
              <a:t>(</a:t>
            </a:r>
            <a:r>
              <a:rPr lang="hu-HU" sz="1400" dirty="0" err="1" smtClean="0"/>
              <a:t>multi-head</a:t>
            </a:r>
            <a:r>
              <a:rPr lang="hu-HU" sz="1400" dirty="0" smtClean="0"/>
              <a:t> </a:t>
            </a:r>
            <a:r>
              <a:rPr lang="hu-HU" sz="1400" dirty="0" err="1" smtClean="0"/>
              <a:t>self-attention</a:t>
            </a:r>
            <a:r>
              <a:rPr lang="hu-HU" sz="1400" dirty="0" smtClean="0"/>
              <a:t>) mechanizmusán alapul.</a:t>
            </a:r>
          </a:p>
          <a:p>
            <a:r>
              <a:rPr lang="hu-HU" sz="1400" dirty="0" smtClean="0"/>
              <a:t>A </a:t>
            </a:r>
            <a:r>
              <a:rPr lang="hu-HU" sz="1400" dirty="0" err="1" smtClean="0"/>
              <a:t>rekurrens</a:t>
            </a:r>
            <a:r>
              <a:rPr lang="hu-HU" sz="1400" dirty="0" smtClean="0"/>
              <a:t> hálózattal ellentétben nincs állapot; a </a:t>
            </a:r>
            <a:r>
              <a:rPr lang="hu-HU" sz="1400" dirty="0" err="1" smtClean="0"/>
              <a:t>transzformer</a:t>
            </a:r>
            <a:r>
              <a:rPr lang="hu-HU" sz="1400" dirty="0" smtClean="0"/>
              <a:t> </a:t>
            </a:r>
            <a:r>
              <a:rPr lang="hu-HU" sz="1400" dirty="0" err="1" smtClean="0"/>
              <a:t>a</a:t>
            </a:r>
            <a:r>
              <a:rPr lang="hu-HU" sz="1400" dirty="0" smtClean="0"/>
              <a:t> bemenet minden elemét egyszerre, </a:t>
            </a:r>
            <a:r>
              <a:rPr lang="hu-HU" sz="1400" b="1" dirty="0" smtClean="0"/>
              <a:t>párhuzamosan </a:t>
            </a:r>
            <a:r>
              <a:rPr lang="hu-HU" sz="1400" dirty="0" smtClean="0"/>
              <a:t>dolgozza fel.</a:t>
            </a:r>
          </a:p>
          <a:p>
            <a:r>
              <a:rPr lang="hu-HU" sz="1400" dirty="0" smtClean="0"/>
              <a:t>A </a:t>
            </a:r>
            <a:r>
              <a:rPr lang="hu-HU" sz="1400" b="1" dirty="0" smtClean="0"/>
              <a:t>bemenet </a:t>
            </a:r>
            <a:r>
              <a:rPr lang="hu-HU" sz="1400" dirty="0" smtClean="0"/>
              <a:t>minden eleme egy-egy vektor, pl. szóvektor.</a:t>
            </a:r>
          </a:p>
          <a:p>
            <a:pPr lvl="1"/>
            <a:r>
              <a:rPr lang="hu-HU" sz="1200" dirty="0" smtClean="0"/>
              <a:t>A teljes bemenet </a:t>
            </a:r>
            <a:r>
              <a:rPr lang="en-GB" sz="1200" i="1" dirty="0" smtClean="0"/>
              <a:t>n</a:t>
            </a:r>
            <a:r>
              <a:rPr lang="hu-HU" sz="1200" i="1" dirty="0" smtClean="0"/>
              <a:t> </a:t>
            </a:r>
            <a:r>
              <a:rPr lang="en-GB" sz="1200" dirty="0" smtClean="0"/>
              <a:t>×</a:t>
            </a:r>
            <a:r>
              <a:rPr lang="hu-HU" sz="1200" dirty="0" smtClean="0"/>
              <a:t> </a:t>
            </a:r>
            <a:r>
              <a:rPr lang="en-GB" sz="1200" i="1" dirty="0" smtClean="0">
                <a:effectLst/>
              </a:rPr>
              <a:t>k</a:t>
            </a:r>
            <a:r>
              <a:rPr lang="en-GB" sz="1200" i="1" dirty="0" smtClean="0"/>
              <a:t> </a:t>
            </a:r>
            <a:r>
              <a:rPr lang="en-GB" sz="1200" dirty="0" err="1" smtClean="0"/>
              <a:t>dimen</a:t>
            </a:r>
            <a:r>
              <a:rPr lang="hu-HU" sz="1200" dirty="0" err="1" smtClean="0"/>
              <a:t>ziós</a:t>
            </a:r>
            <a:r>
              <a:rPr lang="en-GB" sz="1200" dirty="0" smtClean="0"/>
              <a:t> m</a:t>
            </a:r>
            <a:r>
              <a:rPr lang="hu-HU" sz="1200" dirty="0" smtClean="0"/>
              <a:t>á</a:t>
            </a:r>
            <a:r>
              <a:rPr lang="en-GB" sz="1200" dirty="0" err="1" smtClean="0"/>
              <a:t>trix</a:t>
            </a:r>
            <a:r>
              <a:rPr lang="en-GB" sz="1200" dirty="0" smtClean="0"/>
              <a:t>, </a:t>
            </a:r>
            <a:r>
              <a:rPr lang="en-GB" sz="1200" i="1" dirty="0" smtClean="0"/>
              <a:t>n </a:t>
            </a:r>
            <a:r>
              <a:rPr lang="hu-HU" sz="1200" dirty="0" smtClean="0"/>
              <a:t>a bemenet hossza</a:t>
            </a:r>
            <a:r>
              <a:rPr lang="en-GB" sz="1200" dirty="0" smtClean="0"/>
              <a:t>, </a:t>
            </a:r>
            <a:r>
              <a:rPr lang="en-GB" sz="1200" i="1" dirty="0" smtClean="0">
                <a:effectLst/>
              </a:rPr>
              <a:t>k</a:t>
            </a:r>
            <a:r>
              <a:rPr lang="en-GB" sz="1200" i="1" dirty="0" smtClean="0"/>
              <a:t> </a:t>
            </a:r>
            <a:r>
              <a:rPr lang="hu-HU" sz="1200" dirty="0" smtClean="0"/>
              <a:t>a szóvektor dimenzióinak száma.</a:t>
            </a:r>
            <a:endParaRPr lang="hu-HU" sz="1200" dirty="0" smtClean="0"/>
          </a:p>
          <a:p>
            <a:r>
              <a:rPr lang="hu-HU" sz="1400" dirty="0" smtClean="0"/>
              <a:t>A </a:t>
            </a:r>
            <a:r>
              <a:rPr lang="hu-HU" sz="1400" dirty="0" err="1" smtClean="0"/>
              <a:t>transzformer</a:t>
            </a:r>
            <a:r>
              <a:rPr lang="hu-HU" sz="1400" dirty="0" smtClean="0"/>
              <a:t> </a:t>
            </a:r>
            <a:r>
              <a:rPr lang="hu-HU" sz="1400" b="1" dirty="0" smtClean="0"/>
              <a:t>kimenete </a:t>
            </a:r>
            <a:r>
              <a:rPr lang="hu-HU" sz="1400" dirty="0" smtClean="0"/>
              <a:t>szintén egy-egy vektor bemenetenként.</a:t>
            </a:r>
          </a:p>
          <a:p>
            <a:r>
              <a:rPr lang="hu-HU" sz="1400" dirty="0" smtClean="0"/>
              <a:t>Minden kimeneti vektor k dimenziós, a bemeneti vektorok </a:t>
            </a:r>
            <a:r>
              <a:rPr lang="hu-HU" sz="1400" b="1" dirty="0" smtClean="0"/>
              <a:t>figyelemmel súlyozott </a:t>
            </a:r>
            <a:r>
              <a:rPr lang="hu-HU" sz="1400" dirty="0" smtClean="0"/>
              <a:t>összege.</a:t>
            </a:r>
            <a:endParaRPr lang="hu-HU" sz="1400" dirty="0" smtClean="0"/>
          </a:p>
          <a:p>
            <a:pPr lvl="1"/>
            <a:r>
              <a:rPr lang="hu-HU" sz="1200" dirty="0" smtClean="0"/>
              <a:t>Azaz a kimenet is </a:t>
            </a:r>
            <a:r>
              <a:rPr lang="en-GB" sz="1200" i="1" dirty="0" smtClean="0"/>
              <a:t>n</a:t>
            </a:r>
            <a:r>
              <a:rPr lang="hu-HU" sz="1200" i="1" dirty="0" smtClean="0"/>
              <a:t> </a:t>
            </a:r>
            <a:r>
              <a:rPr lang="en-GB" sz="1200" dirty="0" smtClean="0"/>
              <a:t>×</a:t>
            </a:r>
            <a:r>
              <a:rPr lang="hu-HU" sz="1200" dirty="0" smtClean="0"/>
              <a:t> </a:t>
            </a:r>
            <a:r>
              <a:rPr lang="en-GB" sz="1200" i="1" dirty="0" smtClean="0">
                <a:effectLst/>
              </a:rPr>
              <a:t>k</a:t>
            </a:r>
            <a:r>
              <a:rPr lang="en-GB" sz="1200" dirty="0" smtClean="0"/>
              <a:t> </a:t>
            </a:r>
            <a:r>
              <a:rPr lang="en-GB" sz="1200" dirty="0" err="1"/>
              <a:t>dimen</a:t>
            </a:r>
            <a:r>
              <a:rPr lang="hu-HU" sz="1200" dirty="0" err="1"/>
              <a:t>ziós</a:t>
            </a:r>
            <a:r>
              <a:rPr lang="en-GB" sz="1200" dirty="0"/>
              <a:t> m</a:t>
            </a:r>
            <a:r>
              <a:rPr lang="hu-HU" sz="1200" dirty="0"/>
              <a:t>á</a:t>
            </a:r>
            <a:r>
              <a:rPr lang="en-GB" sz="1200" dirty="0" err="1"/>
              <a:t>trix</a:t>
            </a:r>
            <a:r>
              <a:rPr lang="hu-HU" sz="1200" dirty="0" smtClean="0"/>
              <a:t>.</a:t>
            </a:r>
            <a:endParaRPr lang="hu-HU" sz="1200" dirty="0" smtClean="0"/>
          </a:p>
          <a:p>
            <a:pPr lvl="1"/>
            <a:r>
              <a:rPr lang="hu-HU" sz="1200" dirty="0" smtClean="0"/>
              <a:t>A </a:t>
            </a:r>
            <a:r>
              <a:rPr lang="hu-HU" sz="1200" dirty="0" err="1"/>
              <a:t>transzformer</a:t>
            </a:r>
            <a:r>
              <a:rPr lang="hu-HU" sz="1200" dirty="0"/>
              <a:t> </a:t>
            </a:r>
            <a:r>
              <a:rPr lang="hu-HU" sz="1200" dirty="0" err="1" smtClean="0"/>
              <a:t>a</a:t>
            </a:r>
            <a:r>
              <a:rPr lang="hu-HU" sz="1200" dirty="0" smtClean="0"/>
              <a:t> </a:t>
            </a:r>
            <a:r>
              <a:rPr lang="hu-HU" sz="1200" dirty="0" smtClean="0"/>
              <a:t>bemenet mindegyik elemének feldolgozásakor a bemenet összes elemére figyel, eltérő mértékben.</a:t>
            </a:r>
          </a:p>
          <a:p>
            <a:pPr lvl="1"/>
            <a:r>
              <a:rPr lang="hu-HU" sz="1200" dirty="0" smtClean="0"/>
              <a:t>Önmagára is – arra az elemre, amelyre a figyelemmel súlyozott kimenetet számoljuk.</a:t>
            </a:r>
          </a:p>
          <a:p>
            <a:pPr lvl="1"/>
            <a:r>
              <a:rPr lang="hu-HU" sz="1200" dirty="0" smtClean="0"/>
              <a:t>Ezt, hogy a szekvencia minden elemére figyel annak feldolgozása során, a szakirodalom </a:t>
            </a:r>
            <a:r>
              <a:rPr lang="hu-HU" sz="1200" b="1" dirty="0" smtClean="0"/>
              <a:t>önmagára irányuló figyelemnek </a:t>
            </a:r>
            <a:r>
              <a:rPr lang="hu-HU" sz="1200" dirty="0" smtClean="0"/>
              <a:t>nevezi.</a:t>
            </a:r>
          </a:p>
          <a:p>
            <a:r>
              <a:rPr lang="hu-HU" sz="1400" dirty="0" smtClean="0"/>
              <a:t>Az ábrán  </a:t>
            </a:r>
            <a:r>
              <a:rPr lang="hu-HU" sz="1400" b="1" dirty="0" smtClean="0"/>
              <a:t>Q, K </a:t>
            </a:r>
            <a:r>
              <a:rPr lang="hu-HU" sz="1400" dirty="0" smtClean="0"/>
              <a:t>és </a:t>
            </a:r>
            <a:r>
              <a:rPr lang="hu-HU" sz="1400" b="1" dirty="0" smtClean="0"/>
              <a:t>V </a:t>
            </a:r>
            <a:r>
              <a:rPr lang="hu-HU" sz="1400" dirty="0" smtClean="0"/>
              <a:t>mind </a:t>
            </a:r>
            <a:r>
              <a:rPr lang="hu-HU" sz="1400" b="1" dirty="0" smtClean="0"/>
              <a:t>egyazon bemeneti vektor</a:t>
            </a:r>
            <a:r>
              <a:rPr lang="hu-HU" sz="1400" dirty="0" smtClean="0"/>
              <a:t>, amelynek elemeit különböző</a:t>
            </a:r>
            <a:br>
              <a:rPr lang="hu-HU" sz="1400" dirty="0" smtClean="0"/>
            </a:br>
            <a:r>
              <a:rPr lang="hu-HU" sz="1400" dirty="0" smtClean="0"/>
              <a:t>súlyvektorokkal súlyozzuk (</a:t>
            </a:r>
            <a:r>
              <a:rPr lang="hu-HU" sz="1400" b="1" dirty="0" smtClean="0"/>
              <a:t>lekérdezés-</a:t>
            </a:r>
            <a:r>
              <a:rPr lang="hu-HU" sz="1400" dirty="0" smtClean="0"/>
              <a:t>, </a:t>
            </a:r>
            <a:r>
              <a:rPr lang="hu-HU" sz="1400" b="1" dirty="0" smtClean="0"/>
              <a:t>kulcs- és értéksúlyok</a:t>
            </a:r>
            <a:r>
              <a:rPr lang="hu-HU" sz="1400" dirty="0" smtClean="0"/>
              <a:t>).</a:t>
            </a:r>
            <a:endParaRPr lang="hu-HU" sz="1400" dirty="0" smtClean="0"/>
          </a:p>
          <a:p>
            <a:r>
              <a:rPr lang="hu-HU" sz="1400" dirty="0" smtClean="0"/>
              <a:t>Az egyes </a:t>
            </a:r>
            <a:r>
              <a:rPr lang="hu-HU" sz="1400" dirty="0" err="1" smtClean="0"/>
              <a:t>tokenek</a:t>
            </a:r>
            <a:r>
              <a:rPr lang="hu-HU" sz="1400" dirty="0" smtClean="0"/>
              <a:t> vektorát a </a:t>
            </a:r>
            <a:r>
              <a:rPr lang="hu-HU" sz="1400" i="1" dirty="0" smtClean="0"/>
              <a:t>Q </a:t>
            </a:r>
            <a:r>
              <a:rPr lang="hu-HU" sz="1400" dirty="0" smtClean="0"/>
              <a:t>súlyokkal súlyozzuk, kiszámítjuk a kapott szorzat</a:t>
            </a:r>
            <a:r>
              <a:rPr lang="hu-HU" sz="1400" dirty="0" smtClean="0"/>
              <a:t/>
            </a:r>
            <a:br>
              <a:rPr lang="hu-HU" sz="1400" dirty="0" smtClean="0"/>
            </a:br>
            <a:r>
              <a:rPr lang="hu-HU" sz="1400" dirty="0" smtClean="0"/>
              <a:t>(</a:t>
            </a:r>
            <a:r>
              <a:rPr lang="hu-HU" sz="1400" i="1" dirty="0" err="1" smtClean="0"/>
              <a:t>Qt</a:t>
            </a:r>
            <a:r>
              <a:rPr lang="hu-HU" sz="1400" dirty="0" smtClean="0"/>
              <a:t>) és a többi </a:t>
            </a:r>
            <a:r>
              <a:rPr lang="hu-HU" sz="1400" i="1" dirty="0" smtClean="0"/>
              <a:t>K</a:t>
            </a:r>
            <a:r>
              <a:rPr lang="hu-HU" sz="1400" dirty="0" smtClean="0"/>
              <a:t>-val súlyozott </a:t>
            </a:r>
            <a:r>
              <a:rPr lang="hu-HU" sz="1400" i="1" dirty="0" smtClean="0"/>
              <a:t>t’ </a:t>
            </a:r>
            <a:r>
              <a:rPr lang="hu-HU" sz="1400" dirty="0" err="1" smtClean="0"/>
              <a:t>tokenvektor</a:t>
            </a:r>
            <a:r>
              <a:rPr lang="hu-HU" sz="1400" dirty="0" smtClean="0"/>
              <a:t> (</a:t>
            </a:r>
            <a:r>
              <a:rPr lang="hu-HU" sz="1400" i="1" dirty="0" err="1" smtClean="0"/>
              <a:t>Kt</a:t>
            </a:r>
            <a:r>
              <a:rPr lang="hu-HU" sz="1400" i="1" dirty="0" smtClean="0"/>
              <a:t>’</a:t>
            </a:r>
            <a:r>
              <a:rPr lang="hu-HU" sz="1400" dirty="0" smtClean="0"/>
              <a:t>) belső szorzatát páronként.</a:t>
            </a:r>
          </a:p>
          <a:p>
            <a:r>
              <a:rPr lang="hu-HU" sz="1400" dirty="0" smtClean="0"/>
              <a:t>Ezek a belső szorzatok azt árulják el, hogy mennyire figyel adott t </a:t>
            </a:r>
            <a:r>
              <a:rPr lang="hu-HU" sz="1400" dirty="0" err="1" smtClean="0"/>
              <a:t>token</a:t>
            </a:r>
            <a:r>
              <a:rPr lang="hu-HU" sz="1400" dirty="0"/>
              <a:t> </a:t>
            </a:r>
            <a:r>
              <a:rPr lang="hu-HU" sz="1400" dirty="0" smtClean="0"/>
              <a:t>az egyes</a:t>
            </a:r>
            <a:br>
              <a:rPr lang="hu-HU" sz="1400" dirty="0" smtClean="0"/>
            </a:br>
            <a:r>
              <a:rPr lang="hu-HU" sz="1400" dirty="0" smtClean="0"/>
              <a:t>t’ </a:t>
            </a:r>
            <a:r>
              <a:rPr lang="hu-HU" sz="1400" dirty="0" err="1" smtClean="0"/>
              <a:t>tokenekre</a:t>
            </a:r>
            <a:r>
              <a:rPr lang="hu-HU" sz="1400" dirty="0" smtClean="0"/>
              <a:t> (azaz mennyire hasonló </a:t>
            </a:r>
            <a:r>
              <a:rPr lang="hu-HU" sz="1400" i="1" dirty="0" err="1" smtClean="0"/>
              <a:t>Kt</a:t>
            </a:r>
            <a:r>
              <a:rPr lang="hu-HU" sz="1400" i="1" dirty="0" smtClean="0"/>
              <a:t>’ </a:t>
            </a:r>
            <a:r>
              <a:rPr lang="hu-HU" sz="1400" dirty="0" smtClean="0"/>
              <a:t>a </a:t>
            </a:r>
            <a:r>
              <a:rPr lang="hu-HU" sz="1400" i="1" dirty="0" err="1" smtClean="0"/>
              <a:t>Qt</a:t>
            </a:r>
            <a:r>
              <a:rPr lang="hu-HU" sz="1400" dirty="0" err="1" smtClean="0"/>
              <a:t>-hez</a:t>
            </a:r>
            <a:r>
              <a:rPr lang="hu-HU" sz="1400" dirty="0" smtClean="0"/>
              <a:t> </a:t>
            </a:r>
            <a:r>
              <a:rPr lang="hu-HU" sz="1400" dirty="0" err="1" smtClean="0"/>
              <a:t>koszinuszhasonlóságban</a:t>
            </a:r>
            <a:r>
              <a:rPr lang="hu-HU" sz="1400" dirty="0" smtClean="0"/>
              <a:t> mérve).</a:t>
            </a:r>
            <a:endParaRPr lang="hu-HU" sz="1400" dirty="0" smtClean="0"/>
          </a:p>
          <a:p>
            <a:r>
              <a:rPr lang="hu-HU" sz="1400" dirty="0" smtClean="0"/>
              <a:t>A belső szorzatokra </a:t>
            </a:r>
            <a:r>
              <a:rPr lang="hu-HU" sz="1400" dirty="0" err="1" smtClean="0"/>
              <a:t>softmax</a:t>
            </a:r>
            <a:r>
              <a:rPr lang="hu-HU" sz="1400" dirty="0" smtClean="0"/>
              <a:t> függvényt alkalmazva úgy skálázzuk ezeket, hogy</a:t>
            </a:r>
            <a:br>
              <a:rPr lang="hu-HU" sz="1400" dirty="0" smtClean="0"/>
            </a:br>
            <a:r>
              <a:rPr lang="hu-HU" sz="1400" dirty="0" smtClean="0"/>
              <a:t>összegük 1 legyen, és egyenként 0 és 1 között legyenek.</a:t>
            </a:r>
          </a:p>
          <a:p>
            <a:r>
              <a:rPr lang="hu-HU" sz="1400" dirty="0" smtClean="0"/>
              <a:t>A </a:t>
            </a:r>
            <a:r>
              <a:rPr lang="hu-HU" sz="1400" i="1" dirty="0" smtClean="0"/>
              <a:t>t’ </a:t>
            </a:r>
            <a:r>
              <a:rPr lang="hu-HU" sz="1400" dirty="0" smtClean="0"/>
              <a:t>vektorok elemeit egy </a:t>
            </a:r>
            <a:r>
              <a:rPr lang="hu-HU" sz="1400" i="1" dirty="0" smtClean="0"/>
              <a:t>V </a:t>
            </a:r>
            <a:r>
              <a:rPr lang="hu-HU" sz="1400" dirty="0" smtClean="0"/>
              <a:t>súlyvektorral súlyozzuk</a:t>
            </a:r>
          </a:p>
          <a:p>
            <a:r>
              <a:rPr lang="hu-HU" sz="1400" dirty="0" smtClean="0"/>
              <a:t>Végül a kapott </a:t>
            </a:r>
            <a:r>
              <a:rPr lang="hu-HU" sz="1400" i="1" dirty="0" err="1" smtClean="0"/>
              <a:t>Vt</a:t>
            </a:r>
            <a:r>
              <a:rPr lang="hu-HU" sz="1400" i="1" dirty="0" smtClean="0"/>
              <a:t>’ </a:t>
            </a:r>
            <a:r>
              <a:rPr lang="hu-HU" sz="1400" dirty="0" err="1" smtClean="0"/>
              <a:t>vektorokal</a:t>
            </a:r>
            <a:r>
              <a:rPr lang="hu-HU" sz="1400" dirty="0" smtClean="0"/>
              <a:t> a </a:t>
            </a:r>
            <a:r>
              <a:rPr lang="hu-HU" sz="1400" dirty="0" err="1" smtClean="0"/>
              <a:t>softmax</a:t>
            </a:r>
            <a:r>
              <a:rPr lang="hu-HU" sz="1400" dirty="0" err="1" smtClean="0"/>
              <a:t>szal</a:t>
            </a:r>
            <a:r>
              <a:rPr lang="hu-HU" sz="1400" dirty="0" smtClean="0"/>
              <a:t> kapott súlyokkal súlyozva összeadjuk.</a:t>
            </a:r>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76256" y="4382912"/>
            <a:ext cx="1800200" cy="220830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234648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a:xfrm>
            <a:off x="467544" y="116632"/>
            <a:ext cx="8229600" cy="1143000"/>
          </a:xfrm>
        </p:spPr>
        <p:txBody>
          <a:bodyPr>
            <a:normAutofit/>
          </a:bodyPr>
          <a:lstStyle/>
          <a:p>
            <a:r>
              <a:rPr lang="hu-HU" sz="3600" dirty="0" smtClean="0"/>
              <a:t>Többfejű figyelem a </a:t>
            </a:r>
            <a:r>
              <a:rPr lang="hu-HU" sz="3600" dirty="0" err="1" smtClean="0"/>
              <a:t>transzformerekben</a:t>
            </a:r>
            <a:endParaRPr lang="en-GB" sz="3600" dirty="0"/>
          </a:p>
        </p:txBody>
      </p:sp>
      <p:sp>
        <p:nvSpPr>
          <p:cNvPr id="3" name="Tartalom helye 2"/>
          <p:cNvSpPr>
            <a:spLocks noGrp="1"/>
          </p:cNvSpPr>
          <p:nvPr>
            <p:ph idx="1"/>
          </p:nvPr>
        </p:nvSpPr>
        <p:spPr>
          <a:xfrm>
            <a:off x="467544" y="1340768"/>
            <a:ext cx="6336704" cy="5400600"/>
          </a:xfrm>
        </p:spPr>
        <p:txBody>
          <a:bodyPr>
            <a:normAutofit fontScale="55000" lnSpcReduction="20000"/>
          </a:bodyPr>
          <a:lstStyle/>
          <a:p>
            <a:r>
              <a:rPr lang="hu-HU" dirty="0" smtClean="0"/>
              <a:t>A </a:t>
            </a:r>
            <a:r>
              <a:rPr lang="hu-HU" dirty="0" err="1" smtClean="0"/>
              <a:t>transzformer</a:t>
            </a:r>
            <a:r>
              <a:rPr lang="hu-HU" dirty="0" smtClean="0"/>
              <a:t> </a:t>
            </a:r>
            <a:r>
              <a:rPr lang="hu-HU" dirty="0" err="1" smtClean="0"/>
              <a:t>a</a:t>
            </a:r>
            <a:r>
              <a:rPr lang="hu-HU" dirty="0" smtClean="0"/>
              <a:t> </a:t>
            </a:r>
            <a:r>
              <a:rPr lang="hu-HU" dirty="0" smtClean="0"/>
              <a:t>korábbiakban leírt eljárást (párhuzamosan) a bemenet minden egyes </a:t>
            </a:r>
            <a:r>
              <a:rPr lang="hu-HU" dirty="0" err="1" smtClean="0"/>
              <a:t>tokenjére</a:t>
            </a:r>
            <a:r>
              <a:rPr lang="hu-HU" dirty="0" smtClean="0"/>
              <a:t> elvégzi.</a:t>
            </a:r>
          </a:p>
          <a:p>
            <a:r>
              <a:rPr lang="hu-HU" dirty="0" smtClean="0"/>
              <a:t>Így minden </a:t>
            </a:r>
            <a:r>
              <a:rPr lang="hu-HU" dirty="0" err="1" smtClean="0"/>
              <a:t>tokenre</a:t>
            </a:r>
            <a:r>
              <a:rPr lang="hu-HU" dirty="0" smtClean="0"/>
              <a:t> a kimenet a </a:t>
            </a:r>
            <a:r>
              <a:rPr lang="hu-HU" dirty="0" err="1" smtClean="0"/>
              <a:t>V-vel</a:t>
            </a:r>
            <a:r>
              <a:rPr lang="hu-HU" dirty="0" smtClean="0"/>
              <a:t> súlyozott bemeneti </a:t>
            </a:r>
            <a:r>
              <a:rPr lang="hu-HU" dirty="0" err="1" smtClean="0"/>
              <a:t>tokenek</a:t>
            </a:r>
            <a:r>
              <a:rPr lang="hu-HU" dirty="0" smtClean="0"/>
              <a:t> vektorainak (önmagának is) súlyozott összege.</a:t>
            </a:r>
          </a:p>
          <a:p>
            <a:r>
              <a:rPr lang="hu-HU" dirty="0" smtClean="0"/>
              <a:t>A </a:t>
            </a:r>
            <a:r>
              <a:rPr lang="hu-HU" dirty="0" err="1" smtClean="0"/>
              <a:t>transzformer</a:t>
            </a:r>
            <a:r>
              <a:rPr lang="hu-HU" dirty="0" smtClean="0"/>
              <a:t> nem egyetlen ilyen súlyozott összeget számol bemenetként, hanem h összeget, ez a h az ún. </a:t>
            </a:r>
            <a:r>
              <a:rPr lang="hu-HU" b="1" dirty="0" smtClean="0"/>
              <a:t>figyelmi fejek </a:t>
            </a:r>
            <a:r>
              <a:rPr lang="hu-HU" dirty="0" smtClean="0"/>
              <a:t>száma. Azaz adott bemenet feldolgozásakor a </a:t>
            </a:r>
            <a:r>
              <a:rPr lang="hu-HU" dirty="0" err="1" smtClean="0"/>
              <a:t>transzformer</a:t>
            </a:r>
            <a:r>
              <a:rPr lang="hu-HU" dirty="0" smtClean="0"/>
              <a:t> több </a:t>
            </a:r>
            <a:r>
              <a:rPr lang="hu-HU" i="1" dirty="0" smtClean="0"/>
              <a:t>(h) </a:t>
            </a:r>
            <a:r>
              <a:rPr lang="hu-HU" dirty="0" smtClean="0"/>
              <a:t>különféle dologra figyel az egyes bemeneti </a:t>
            </a:r>
            <a:r>
              <a:rPr lang="hu-HU" dirty="0" err="1" smtClean="0"/>
              <a:t>tokenekkel</a:t>
            </a:r>
            <a:r>
              <a:rPr lang="hu-HU" dirty="0" smtClean="0"/>
              <a:t> kapcsolatban.</a:t>
            </a:r>
          </a:p>
          <a:p>
            <a:r>
              <a:rPr lang="hu-HU" dirty="0" smtClean="0"/>
              <a:t>A </a:t>
            </a:r>
            <a:r>
              <a:rPr lang="hu-HU" dirty="0" err="1" smtClean="0"/>
              <a:t>transzformer</a:t>
            </a:r>
            <a:r>
              <a:rPr lang="hu-HU" dirty="0" smtClean="0"/>
              <a:t> paramétereit </a:t>
            </a:r>
            <a:r>
              <a:rPr lang="hu-HU" b="1" dirty="0" smtClean="0"/>
              <a:t>három súlymátrix </a:t>
            </a:r>
            <a:r>
              <a:rPr lang="hu-HU" dirty="0" smtClean="0"/>
              <a:t>tartalmazza:</a:t>
            </a:r>
          </a:p>
          <a:p>
            <a:pPr lvl="1"/>
            <a:r>
              <a:rPr lang="hu-HU" dirty="0" smtClean="0"/>
              <a:t>az előző diákon a jobb követhetőség kedvéért írtakkal ellentétben a súlyok nem vektorok, hanem k </a:t>
            </a:r>
            <a:r>
              <a:rPr lang="hu-HU" dirty="0" smtClean="0"/>
              <a:t>x (k / h</a:t>
            </a:r>
            <a:r>
              <a:rPr lang="hu-HU" dirty="0" smtClean="0"/>
              <a:t>) dimenziós mátrixok, pl. </a:t>
            </a:r>
            <a:r>
              <a:rPr lang="hu-HU" i="1" dirty="0" smtClean="0"/>
              <a:t>k</a:t>
            </a:r>
            <a:r>
              <a:rPr lang="hu-HU" dirty="0" smtClean="0"/>
              <a:t>=512; </a:t>
            </a:r>
            <a:r>
              <a:rPr lang="hu-HU" i="1" dirty="0" smtClean="0"/>
              <a:t>h</a:t>
            </a:r>
            <a:r>
              <a:rPr lang="hu-HU" dirty="0" smtClean="0"/>
              <a:t>=8; </a:t>
            </a:r>
            <a:r>
              <a:rPr lang="hu-HU" i="1" dirty="0" smtClean="0"/>
              <a:t>k</a:t>
            </a:r>
            <a:r>
              <a:rPr lang="hu-HU" dirty="0" smtClean="0"/>
              <a:t> / </a:t>
            </a:r>
            <a:r>
              <a:rPr lang="hu-HU" i="1" dirty="0" smtClean="0"/>
              <a:t>h</a:t>
            </a:r>
            <a:r>
              <a:rPr lang="hu-HU" dirty="0" smtClean="0"/>
              <a:t>=64</a:t>
            </a:r>
          </a:p>
          <a:p>
            <a:pPr lvl="1"/>
            <a:r>
              <a:rPr lang="hu-HU" dirty="0" smtClean="0"/>
              <a:t>a </a:t>
            </a:r>
            <a:r>
              <a:rPr lang="hu-HU" b="1" dirty="0" smtClean="0"/>
              <a:t>Q súlymátrix </a:t>
            </a:r>
            <a:r>
              <a:rPr lang="hu-HU" dirty="0" smtClean="0"/>
              <a:t>az adott bemeneti vektor elemeit súlyozza a </a:t>
            </a:r>
            <a:r>
              <a:rPr lang="hu-HU" b="1" dirty="0" smtClean="0"/>
              <a:t>belső szorzat számítása előtt</a:t>
            </a:r>
            <a:r>
              <a:rPr lang="hu-HU" dirty="0" smtClean="0"/>
              <a:t>; </a:t>
            </a:r>
            <a:r>
              <a:rPr lang="hu-HU" i="1" dirty="0" smtClean="0"/>
              <a:t>h </a:t>
            </a:r>
            <a:r>
              <a:rPr lang="hu-HU" dirty="0" smtClean="0"/>
              <a:t>ilyen Q mátrix van</a:t>
            </a:r>
          </a:p>
          <a:p>
            <a:pPr lvl="1"/>
            <a:r>
              <a:rPr lang="hu-HU" dirty="0"/>
              <a:t>a </a:t>
            </a:r>
            <a:r>
              <a:rPr lang="hu-HU" b="1" dirty="0" smtClean="0"/>
              <a:t>K </a:t>
            </a:r>
            <a:r>
              <a:rPr lang="hu-HU" b="1" dirty="0"/>
              <a:t>súlymátrix </a:t>
            </a:r>
            <a:r>
              <a:rPr lang="hu-HU" dirty="0"/>
              <a:t>az </a:t>
            </a:r>
            <a:r>
              <a:rPr lang="hu-HU" dirty="0" smtClean="0"/>
              <a:t>összes bemeneti </a:t>
            </a:r>
            <a:r>
              <a:rPr lang="hu-HU" dirty="0"/>
              <a:t>vektor elemeit súlyozza </a:t>
            </a:r>
            <a:r>
              <a:rPr lang="hu-HU" dirty="0" smtClean="0"/>
              <a:t>szintén a </a:t>
            </a:r>
            <a:r>
              <a:rPr lang="hu-HU" b="1" dirty="0"/>
              <a:t>belső szorzat számítása előtt</a:t>
            </a:r>
            <a:r>
              <a:rPr lang="hu-HU" dirty="0"/>
              <a:t>; </a:t>
            </a:r>
            <a:r>
              <a:rPr lang="hu-HU" dirty="0" smtClean="0"/>
              <a:t>ilyen K mátrixból is </a:t>
            </a:r>
            <a:r>
              <a:rPr lang="hu-HU" i="1" dirty="0" smtClean="0"/>
              <a:t>h</a:t>
            </a:r>
            <a:r>
              <a:rPr lang="hu-HU" dirty="0" smtClean="0"/>
              <a:t> </a:t>
            </a:r>
            <a:r>
              <a:rPr lang="hu-HU" dirty="0"/>
              <a:t>van</a:t>
            </a:r>
            <a:endParaRPr lang="hu-HU" dirty="0" smtClean="0"/>
          </a:p>
          <a:p>
            <a:pPr lvl="1"/>
            <a:r>
              <a:rPr lang="hu-HU" b="1" dirty="0" smtClean="0"/>
              <a:t>a vektorok belső szorzása után </a:t>
            </a:r>
            <a:r>
              <a:rPr lang="hu-HU" dirty="0" smtClean="0"/>
              <a:t>a szorzatot </a:t>
            </a:r>
            <a:r>
              <a:rPr lang="hu-HU" dirty="0" err="1" smtClean="0"/>
              <a:t>softmaxszal</a:t>
            </a:r>
            <a:r>
              <a:rPr lang="hu-HU" dirty="0" smtClean="0"/>
              <a:t> skálázzuk</a:t>
            </a:r>
            <a:endParaRPr lang="hu-HU" b="1" dirty="0" smtClean="0"/>
          </a:p>
          <a:p>
            <a:pPr lvl="1"/>
            <a:r>
              <a:rPr lang="hu-HU" dirty="0" smtClean="0"/>
              <a:t>a bemeneti </a:t>
            </a:r>
            <a:r>
              <a:rPr lang="hu-HU" dirty="0" err="1" smtClean="0"/>
              <a:t>tokenvektorokat</a:t>
            </a:r>
            <a:r>
              <a:rPr lang="hu-HU" dirty="0" smtClean="0"/>
              <a:t> </a:t>
            </a:r>
            <a:r>
              <a:rPr lang="hu-HU" i="1" dirty="0" smtClean="0"/>
              <a:t>h </a:t>
            </a:r>
            <a:r>
              <a:rPr lang="hu-HU" dirty="0" smtClean="0"/>
              <a:t>darab </a:t>
            </a:r>
            <a:r>
              <a:rPr lang="hu-HU" b="1" dirty="0" smtClean="0"/>
              <a:t>V mátrixszal </a:t>
            </a:r>
            <a:r>
              <a:rPr lang="hu-HU" dirty="0" smtClean="0"/>
              <a:t>súlyozzuk, így egy-egy értékvektort kapunk, amelyeket aztán a </a:t>
            </a:r>
            <a:r>
              <a:rPr lang="hu-HU" dirty="0" err="1" smtClean="0"/>
              <a:t>szoftmaxszal</a:t>
            </a:r>
            <a:r>
              <a:rPr lang="hu-HU" dirty="0" smtClean="0"/>
              <a:t> </a:t>
            </a:r>
            <a:r>
              <a:rPr lang="hu-HU" dirty="0" smtClean="0"/>
              <a:t>kapott súlyokkal súlyozunk; így </a:t>
            </a:r>
            <a:r>
              <a:rPr lang="hu-HU" i="1" dirty="0" smtClean="0"/>
              <a:t>h </a:t>
            </a:r>
            <a:r>
              <a:rPr lang="hu-HU" dirty="0" smtClean="0"/>
              <a:t>összeget kapunk, ezeket </a:t>
            </a:r>
            <a:r>
              <a:rPr lang="hu-HU" dirty="0" err="1" smtClean="0"/>
              <a:t>konkatenáljuk</a:t>
            </a:r>
            <a:endParaRPr lang="hu-HU" dirty="0" smtClean="0"/>
          </a:p>
          <a:p>
            <a:pPr lvl="1"/>
            <a:r>
              <a:rPr lang="hu-HU" dirty="0" smtClean="0"/>
              <a:t>Így végül </a:t>
            </a:r>
            <a:r>
              <a:rPr lang="hu-HU" i="1" dirty="0" smtClean="0"/>
              <a:t>n </a:t>
            </a:r>
            <a:r>
              <a:rPr lang="hu-HU" dirty="0" smtClean="0"/>
              <a:t>darab </a:t>
            </a:r>
            <a:r>
              <a:rPr lang="hu-HU" i="1" dirty="0" smtClean="0"/>
              <a:t>k </a:t>
            </a:r>
            <a:r>
              <a:rPr lang="hu-HU" dirty="0" smtClean="0"/>
              <a:t>dimenziós vektort kapunk, bemenetenként egyet; ez a </a:t>
            </a:r>
            <a:r>
              <a:rPr lang="hu-HU" dirty="0" err="1" smtClean="0"/>
              <a:t>transzformer</a:t>
            </a:r>
            <a:r>
              <a:rPr lang="hu-HU" dirty="0" smtClean="0"/>
              <a:t> kimenete.</a:t>
            </a:r>
            <a:endParaRPr lang="hu-HU" dirty="0" smtClean="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32240" y="2420888"/>
            <a:ext cx="2232058" cy="28773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721818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noAutofit/>
          </a:bodyPr>
          <a:lstStyle/>
          <a:p>
            <a:r>
              <a:rPr lang="hu-HU" sz="3600" dirty="0" err="1" smtClean="0"/>
              <a:t>Further</a:t>
            </a:r>
            <a:r>
              <a:rPr lang="hu-HU" sz="3600" dirty="0" smtClean="0"/>
              <a:t> </a:t>
            </a:r>
            <a:r>
              <a:rPr lang="hu-HU" sz="3600" dirty="0" err="1" smtClean="0"/>
              <a:t>Components</a:t>
            </a:r>
            <a:r>
              <a:rPr lang="hu-HU" sz="3600" dirty="0" smtClean="0"/>
              <a:t> of </a:t>
            </a:r>
            <a:r>
              <a:rPr lang="hu-HU" sz="3600" dirty="0" err="1" smtClean="0"/>
              <a:t>the</a:t>
            </a:r>
            <a:r>
              <a:rPr lang="hu-HU" sz="3600" dirty="0" smtClean="0"/>
              <a:t> </a:t>
            </a:r>
            <a:r>
              <a:rPr lang="en-GB" sz="3600" dirty="0" smtClean="0"/>
              <a:t>Transformer </a:t>
            </a:r>
            <a:endParaRPr lang="en-GB" sz="3600" dirty="0"/>
          </a:p>
        </p:txBody>
      </p:sp>
      <p:sp>
        <p:nvSpPr>
          <p:cNvPr id="3" name="Tartalom helye 2"/>
          <p:cNvSpPr>
            <a:spLocks noGrp="1"/>
          </p:cNvSpPr>
          <p:nvPr>
            <p:ph idx="1"/>
          </p:nvPr>
        </p:nvSpPr>
        <p:spPr>
          <a:xfrm>
            <a:off x="457200" y="1600200"/>
            <a:ext cx="5338936" cy="5069160"/>
          </a:xfrm>
        </p:spPr>
        <p:txBody>
          <a:bodyPr>
            <a:normAutofit fontScale="40000" lnSpcReduction="20000"/>
          </a:bodyPr>
          <a:lstStyle/>
          <a:p>
            <a:r>
              <a:rPr lang="hu-HU" sz="3400" dirty="0"/>
              <a:t>A </a:t>
            </a:r>
            <a:r>
              <a:rPr lang="hu-HU" sz="3400" dirty="0" err="1"/>
              <a:t>transzformer</a:t>
            </a:r>
            <a:r>
              <a:rPr lang="hu-HU" sz="3400" dirty="0"/>
              <a:t> architektúrát </a:t>
            </a:r>
            <a:r>
              <a:rPr lang="hu-HU" sz="3400" dirty="0" err="1"/>
              <a:t>Vaswani</a:t>
            </a:r>
            <a:r>
              <a:rPr lang="hu-HU" sz="3400" dirty="0"/>
              <a:t> és </a:t>
            </a:r>
            <a:r>
              <a:rPr lang="hu-HU" sz="3400" dirty="0" err="1"/>
              <a:t>mtsai</a:t>
            </a:r>
            <a:r>
              <a:rPr lang="hu-HU" sz="3400" dirty="0"/>
              <a:t> 2017-ben közzétett </a:t>
            </a:r>
            <a:r>
              <a:rPr lang="hu-HU" sz="3400" dirty="0" err="1">
                <a:hlinkClick r:id="rId2"/>
              </a:rPr>
              <a:t>Attention</a:t>
            </a:r>
            <a:r>
              <a:rPr lang="hu-HU" sz="3400" dirty="0">
                <a:hlinkClick r:id="rId2"/>
              </a:rPr>
              <a:t> is </a:t>
            </a:r>
            <a:r>
              <a:rPr lang="hu-HU" sz="3400" dirty="0" err="1">
                <a:hlinkClick r:id="rId2"/>
              </a:rPr>
              <a:t>All</a:t>
            </a:r>
            <a:r>
              <a:rPr lang="hu-HU" sz="3400" dirty="0">
                <a:hlinkClick r:id="rId2"/>
              </a:rPr>
              <a:t> </a:t>
            </a:r>
            <a:r>
              <a:rPr lang="hu-HU" sz="3400" dirty="0" err="1">
                <a:hlinkClick r:id="rId2"/>
              </a:rPr>
              <a:t>You</a:t>
            </a:r>
            <a:r>
              <a:rPr lang="hu-HU" sz="3400" dirty="0">
                <a:hlinkClick r:id="rId2"/>
              </a:rPr>
              <a:t> </a:t>
            </a:r>
            <a:r>
              <a:rPr lang="hu-HU" sz="3400" dirty="0" err="1">
                <a:hlinkClick r:id="rId2"/>
              </a:rPr>
              <a:t>Need</a:t>
            </a:r>
            <a:r>
              <a:rPr lang="hu-HU" sz="3400" dirty="0"/>
              <a:t> című cikke mutatta </a:t>
            </a:r>
            <a:r>
              <a:rPr lang="hu-HU" sz="3400" dirty="0" err="1"/>
              <a:t>beA</a:t>
            </a:r>
            <a:r>
              <a:rPr lang="hu-HU" sz="3400" dirty="0"/>
              <a:t> </a:t>
            </a:r>
            <a:r>
              <a:rPr lang="hu-HU" sz="3400" dirty="0" err="1"/>
              <a:t>transzformer</a:t>
            </a:r>
            <a:r>
              <a:rPr lang="hu-HU" sz="3400" dirty="0"/>
              <a:t> architektúrát </a:t>
            </a:r>
            <a:r>
              <a:rPr lang="hu-HU" sz="3400" dirty="0" err="1"/>
              <a:t>Vaswani</a:t>
            </a:r>
            <a:r>
              <a:rPr lang="hu-HU" sz="3400" dirty="0"/>
              <a:t> és </a:t>
            </a:r>
            <a:r>
              <a:rPr lang="hu-HU" sz="3400" dirty="0" err="1"/>
              <a:t>mtsai</a:t>
            </a:r>
            <a:r>
              <a:rPr lang="hu-HU" sz="3400" dirty="0"/>
              <a:t> 2017-ben közzétett </a:t>
            </a:r>
            <a:r>
              <a:rPr lang="hu-HU" sz="3400" dirty="0" err="1"/>
              <a:t>Attention</a:t>
            </a:r>
            <a:r>
              <a:rPr lang="hu-HU" sz="3400" dirty="0"/>
              <a:t> is </a:t>
            </a:r>
            <a:r>
              <a:rPr lang="hu-HU" sz="3400" dirty="0" err="1"/>
              <a:t>All</a:t>
            </a:r>
            <a:r>
              <a:rPr lang="hu-HU" sz="3400" dirty="0"/>
              <a:t> </a:t>
            </a:r>
            <a:r>
              <a:rPr lang="hu-HU" sz="3400" dirty="0" err="1"/>
              <a:t>You</a:t>
            </a:r>
            <a:r>
              <a:rPr lang="hu-HU" sz="3400" dirty="0"/>
              <a:t> </a:t>
            </a:r>
            <a:r>
              <a:rPr lang="hu-HU" sz="3400" dirty="0" err="1"/>
              <a:t>Need</a:t>
            </a:r>
            <a:r>
              <a:rPr lang="hu-HU" sz="3400" dirty="0"/>
              <a:t> című cikke mutatta be</a:t>
            </a:r>
            <a:endParaRPr lang="hu-HU" sz="3400" dirty="0" smtClean="0"/>
          </a:p>
          <a:p>
            <a:r>
              <a:rPr lang="hu-HU" sz="4000" dirty="0"/>
              <a:t>Számos </a:t>
            </a:r>
            <a:r>
              <a:rPr lang="hu-HU" sz="4000" dirty="0" smtClean="0"/>
              <a:t>(N, eredetileg 6, </a:t>
            </a:r>
            <a:r>
              <a:rPr lang="hu-HU" sz="4000" dirty="0" err="1" smtClean="0"/>
              <a:t>LLM-ekben</a:t>
            </a:r>
            <a:r>
              <a:rPr lang="hu-HU" sz="4000" dirty="0" smtClean="0"/>
              <a:t> több </a:t>
            </a:r>
            <a:r>
              <a:rPr lang="hu-HU" sz="4000" dirty="0"/>
              <a:t>tíz) ilyen Q, K, V </a:t>
            </a:r>
            <a:r>
              <a:rPr lang="hu-HU" sz="4000" dirty="0" smtClean="0"/>
              <a:t>mátrixokból, sűrűn kapcsolt neurálisháló-rétegekből  és </a:t>
            </a:r>
            <a:r>
              <a:rPr lang="hu-HU" sz="4000" dirty="0" err="1" smtClean="0"/>
              <a:t>reziduális</a:t>
            </a:r>
            <a:r>
              <a:rPr lang="hu-HU" sz="4000" dirty="0" smtClean="0"/>
              <a:t> (rétegeket átugró) kapcsolatokból álló </a:t>
            </a:r>
            <a:r>
              <a:rPr lang="hu-HU" sz="4000" dirty="0"/>
              <a:t>ún. </a:t>
            </a:r>
            <a:r>
              <a:rPr lang="hu-HU" sz="4000" dirty="0" err="1"/>
              <a:t>transzformerblokkot</a:t>
            </a:r>
            <a:r>
              <a:rPr lang="hu-HU" sz="4000" dirty="0"/>
              <a:t> kötnek egymás </a:t>
            </a:r>
            <a:r>
              <a:rPr lang="hu-HU" sz="4000" dirty="0" smtClean="0"/>
              <a:t>után; a következő blokk a megelőző blokk kimenetét dolgozza fel.</a:t>
            </a:r>
          </a:p>
          <a:p>
            <a:r>
              <a:rPr lang="hu-HU" sz="3400" dirty="0" smtClean="0"/>
              <a:t>A szekvencia hossza végig változatlan.</a:t>
            </a:r>
          </a:p>
          <a:p>
            <a:r>
              <a:rPr lang="hu-HU" sz="3400" dirty="0" smtClean="0"/>
              <a:t>Az eredeti, 2017-es </a:t>
            </a:r>
            <a:r>
              <a:rPr lang="hu-HU" sz="3400" dirty="0" err="1" smtClean="0"/>
              <a:t>transzformer</a:t>
            </a:r>
            <a:r>
              <a:rPr lang="hu-HU" sz="3400" dirty="0" smtClean="0"/>
              <a:t> kódoló (bal) és dekódoló (jobb) alhálózatot is tartalmazott.</a:t>
            </a:r>
          </a:p>
          <a:p>
            <a:pPr lvl="1"/>
            <a:r>
              <a:rPr lang="hu-HU" sz="2900" dirty="0" smtClean="0"/>
              <a:t>gépi fordításra készült</a:t>
            </a:r>
            <a:endParaRPr lang="hu-HU" sz="2900" dirty="0" smtClean="0"/>
          </a:p>
          <a:p>
            <a:r>
              <a:rPr lang="hu-HU" sz="3400" dirty="0" smtClean="0"/>
              <a:t>Ez az implementáció önmagára irányuló figyelmet alkalmaz </a:t>
            </a:r>
            <a:r>
              <a:rPr lang="hu-HU" sz="3400" dirty="0"/>
              <a:t>m</a:t>
            </a:r>
            <a:r>
              <a:rPr lang="hu-HU" sz="3400" dirty="0" smtClean="0"/>
              <a:t>ind a kódolóban, mind a dekódolóban (az alsó narancssárga téglalapok), de ezek mellett a dekódoló egy másik, a dekódolóról a kódolóra irányuló figyelmi réteget is használ:</a:t>
            </a:r>
          </a:p>
          <a:p>
            <a:pPr lvl="1"/>
            <a:r>
              <a:rPr lang="hu-HU" sz="2900" dirty="0" smtClean="0"/>
              <a:t>a lekérdezések a dekódoló korábbi </a:t>
            </a:r>
            <a:r>
              <a:rPr lang="hu-HU" sz="2900" dirty="0" err="1" smtClean="0"/>
              <a:t>self-attention</a:t>
            </a:r>
            <a:r>
              <a:rPr lang="hu-HU" sz="2900" dirty="0" smtClean="0"/>
              <a:t> rétegéből jönnek</a:t>
            </a:r>
          </a:p>
          <a:p>
            <a:pPr lvl="1"/>
            <a:r>
              <a:rPr lang="hu-HU" sz="2900" dirty="0" smtClean="0"/>
              <a:t>a kulcsok és értékek a kódoló kimenetéből</a:t>
            </a:r>
            <a:endParaRPr lang="hu-HU" sz="2900" dirty="0" smtClean="0"/>
          </a:p>
          <a:p>
            <a:pPr lvl="1"/>
            <a:r>
              <a:rPr lang="hu-HU" sz="2900" dirty="0" smtClean="0"/>
              <a:t>így a dekódolóban minden </a:t>
            </a:r>
            <a:r>
              <a:rPr lang="hu-HU" sz="2900" dirty="0" err="1" smtClean="0"/>
              <a:t>token</a:t>
            </a:r>
            <a:r>
              <a:rPr lang="hu-HU" sz="2900" dirty="0" smtClean="0"/>
              <a:t> a kódoló minden </a:t>
            </a:r>
            <a:r>
              <a:rPr lang="hu-HU" sz="2900" dirty="0" err="1" smtClean="0"/>
              <a:t>tokenjére</a:t>
            </a:r>
            <a:r>
              <a:rPr lang="hu-HU" sz="2900" dirty="0" smtClean="0"/>
              <a:t> figyelni tud</a:t>
            </a:r>
          </a:p>
          <a:p>
            <a:r>
              <a:rPr lang="hu-HU" sz="3300" dirty="0" smtClean="0"/>
              <a:t>A kimenet eredetileg üres, lépésenként egy </a:t>
            </a:r>
            <a:r>
              <a:rPr lang="hu-HU" sz="3300" dirty="0" err="1" smtClean="0"/>
              <a:t>tokent</a:t>
            </a:r>
            <a:r>
              <a:rPr lang="hu-HU" sz="3300" dirty="0" smtClean="0"/>
              <a:t> generál.</a:t>
            </a:r>
          </a:p>
          <a:p>
            <a:r>
              <a:rPr lang="hu-HU" sz="3300" dirty="0" smtClean="0"/>
              <a:t>Ezt a kimenetet a következő lépésben hozzáfűzi a dekódoló bemenetéhez.</a:t>
            </a:r>
          </a:p>
          <a:p>
            <a:r>
              <a:rPr lang="hu-HU" sz="3300" dirty="0" smtClean="0"/>
              <a:t>Kódoló-dekódoló, </a:t>
            </a:r>
            <a:r>
              <a:rPr lang="hu-HU" sz="3300" dirty="0" smtClean="0"/>
              <a:t>seq2seq </a:t>
            </a:r>
            <a:r>
              <a:rPr lang="hu-HU" sz="3300" dirty="0" err="1" smtClean="0"/>
              <a:t>transzformerarchitektúra</a:t>
            </a:r>
            <a:r>
              <a:rPr lang="hu-HU" sz="3300" dirty="0" smtClean="0"/>
              <a:t>.</a:t>
            </a:r>
            <a:endParaRPr lang="en-GB" sz="3300" dirty="0"/>
          </a:p>
        </p:txBody>
      </p:sp>
      <p:pic>
        <p:nvPicPr>
          <p:cNvPr id="3074"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40153" y="1657262"/>
            <a:ext cx="2880320" cy="448601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911188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noAutofit/>
          </a:bodyPr>
          <a:lstStyle/>
          <a:p>
            <a:r>
              <a:rPr lang="hu-HU" sz="3600" dirty="0" smtClean="0"/>
              <a:t>Bemenet, </a:t>
            </a:r>
            <a:r>
              <a:rPr lang="hu-HU" sz="3600" dirty="0" smtClean="0"/>
              <a:t>kimenet és </a:t>
            </a:r>
            <a:r>
              <a:rPr lang="hu-HU" sz="3600" dirty="0" smtClean="0"/>
              <a:t>pozíció kódolása</a:t>
            </a:r>
            <a:endParaRPr lang="en-GB" sz="3600" dirty="0"/>
          </a:p>
        </p:txBody>
      </p:sp>
      <p:sp>
        <p:nvSpPr>
          <p:cNvPr id="3" name="Tartalom helye 2"/>
          <p:cNvSpPr>
            <a:spLocks noGrp="1"/>
          </p:cNvSpPr>
          <p:nvPr>
            <p:ph idx="1"/>
          </p:nvPr>
        </p:nvSpPr>
        <p:spPr>
          <a:xfrm>
            <a:off x="457200" y="1600200"/>
            <a:ext cx="8229600" cy="4637112"/>
          </a:xfrm>
        </p:spPr>
        <p:txBody>
          <a:bodyPr>
            <a:normAutofit fontScale="55000" lnSpcReduction="20000"/>
          </a:bodyPr>
          <a:lstStyle/>
          <a:p>
            <a:r>
              <a:rPr lang="hu-HU" dirty="0" smtClean="0"/>
              <a:t>Az első </a:t>
            </a:r>
            <a:r>
              <a:rPr lang="hu-HU" dirty="0" err="1" smtClean="0"/>
              <a:t>transzformerblokk</a:t>
            </a:r>
            <a:r>
              <a:rPr lang="hu-HU" dirty="0" smtClean="0"/>
              <a:t> előtt a </a:t>
            </a:r>
            <a:r>
              <a:rPr lang="hu-HU" dirty="0" err="1" smtClean="0"/>
              <a:t>transzformerarchitektúra</a:t>
            </a:r>
            <a:r>
              <a:rPr lang="hu-HU" dirty="0" smtClean="0"/>
              <a:t> kódoló és a dekódoló fele is tartalmaz egy ún. </a:t>
            </a:r>
            <a:r>
              <a:rPr lang="hu-HU" b="1" dirty="0" smtClean="0"/>
              <a:t>beágyazásréteget</a:t>
            </a:r>
            <a:r>
              <a:rPr lang="hu-HU" dirty="0" smtClean="0"/>
              <a:t>.</a:t>
            </a:r>
          </a:p>
          <a:p>
            <a:pPr lvl="1"/>
            <a:r>
              <a:rPr lang="hu-HU" dirty="0" smtClean="0"/>
              <a:t>A bemenet beágyazásrétege minden </a:t>
            </a:r>
            <a:r>
              <a:rPr lang="hu-HU" dirty="0" err="1" smtClean="0"/>
              <a:t>tokent</a:t>
            </a:r>
            <a:r>
              <a:rPr lang="hu-HU" dirty="0" smtClean="0"/>
              <a:t> egy </a:t>
            </a:r>
            <a:r>
              <a:rPr lang="hu-HU" b="1" dirty="0" smtClean="0"/>
              <a:t>a </a:t>
            </a:r>
            <a:r>
              <a:rPr lang="hu-HU" b="1" dirty="0" err="1" smtClean="0"/>
              <a:t>token</a:t>
            </a:r>
            <a:r>
              <a:rPr lang="hu-HU" b="1" dirty="0" smtClean="0"/>
              <a:t> alakjához rendelt k dimenziós vektorreprezentációra </a:t>
            </a:r>
            <a:r>
              <a:rPr lang="hu-HU" dirty="0" smtClean="0"/>
              <a:t>képezi le</a:t>
            </a:r>
            <a:endParaRPr lang="hu-HU" dirty="0" smtClean="0"/>
          </a:p>
          <a:p>
            <a:pPr lvl="1"/>
            <a:r>
              <a:rPr lang="hu-HU" dirty="0" smtClean="0"/>
              <a:t>Ugyanez igaz a kimenet beágyazásrétegére is.</a:t>
            </a:r>
          </a:p>
          <a:p>
            <a:pPr lvl="2"/>
            <a:r>
              <a:rPr lang="hu-HU" dirty="0" smtClean="0"/>
              <a:t>Ez egy másik, célnyelvi </a:t>
            </a:r>
            <a:r>
              <a:rPr lang="hu-HU" dirty="0" err="1" smtClean="0"/>
              <a:t>beágyazásszótárat</a:t>
            </a:r>
            <a:r>
              <a:rPr lang="hu-HU" dirty="0" smtClean="0"/>
              <a:t> használ.</a:t>
            </a:r>
          </a:p>
          <a:p>
            <a:pPr lvl="1"/>
            <a:r>
              <a:rPr lang="hu-HU" dirty="0" smtClean="0"/>
              <a:t>A beágyazásréteg vektorai a </a:t>
            </a:r>
            <a:r>
              <a:rPr lang="hu-HU" b="1" dirty="0" smtClean="0"/>
              <a:t>tanítás </a:t>
            </a:r>
            <a:r>
              <a:rPr lang="hu-HU" dirty="0" smtClean="0"/>
              <a:t>során nyerik el értéküket.</a:t>
            </a:r>
          </a:p>
          <a:p>
            <a:pPr lvl="1"/>
            <a:r>
              <a:rPr lang="hu-HU" dirty="0" err="1" smtClean="0"/>
              <a:t>Ezze</a:t>
            </a:r>
            <a:r>
              <a:rPr lang="hu-HU" dirty="0" err="1" smtClean="0"/>
              <a:t>k</a:t>
            </a:r>
            <a:r>
              <a:rPr lang="hu-HU" dirty="0" smtClean="0"/>
              <a:t> a </a:t>
            </a:r>
            <a:r>
              <a:rPr lang="hu-HU" dirty="0" err="1" smtClean="0"/>
              <a:t>tokenalak</a:t>
            </a:r>
            <a:r>
              <a:rPr lang="hu-HU" dirty="0" smtClean="0"/>
              <a:t> </a:t>
            </a:r>
            <a:r>
              <a:rPr lang="hu-HU" b="1" dirty="0" smtClean="0"/>
              <a:t>kontextustól független reprezentációi</a:t>
            </a:r>
            <a:endParaRPr lang="hu-HU" b="1" dirty="0" smtClean="0"/>
          </a:p>
          <a:p>
            <a:pPr lvl="2"/>
            <a:r>
              <a:rPr lang="hu-HU" dirty="0" smtClean="0"/>
              <a:t>ha egyazon alak a bemenet különböző pontjain fordul elő, mindig ugyanazt a vektort rendeljük hozzá</a:t>
            </a:r>
            <a:endParaRPr lang="hu-HU" dirty="0" smtClean="0"/>
          </a:p>
          <a:p>
            <a:pPr lvl="1"/>
            <a:r>
              <a:rPr lang="hu-HU" dirty="0" smtClean="0"/>
              <a:t>A beágyazásréteg inicializálására felhasználhatók egy a szavakhoz a korpuszbeli eloszlásuk alapján vektort rendelő szoftverrel, pl. a word2vec-kel előzetesen tanult vektorok.</a:t>
            </a:r>
          </a:p>
          <a:p>
            <a:r>
              <a:rPr lang="hu-HU" dirty="0" smtClean="0"/>
              <a:t>A </a:t>
            </a:r>
            <a:r>
              <a:rPr lang="hu-HU" dirty="0" err="1" smtClean="0"/>
              <a:t>transzformerek</a:t>
            </a:r>
            <a:r>
              <a:rPr lang="hu-HU" dirty="0" smtClean="0"/>
              <a:t> emellett egy ún. </a:t>
            </a:r>
            <a:r>
              <a:rPr lang="hu-HU" b="1" dirty="0" smtClean="0"/>
              <a:t>pozíciókódoló vektort </a:t>
            </a:r>
            <a:r>
              <a:rPr lang="hu-HU" dirty="0" smtClean="0"/>
              <a:t>is hozzáadnak minden </a:t>
            </a:r>
            <a:r>
              <a:rPr lang="hu-HU" dirty="0" err="1" smtClean="0"/>
              <a:t>tokenbeágyazás-vektorhoz</a:t>
            </a:r>
            <a:r>
              <a:rPr lang="hu-HU" dirty="0" smtClean="0"/>
              <a:t>.</a:t>
            </a:r>
          </a:p>
          <a:p>
            <a:pPr lvl="1"/>
            <a:r>
              <a:rPr lang="hu-HU" dirty="0" smtClean="0"/>
              <a:t>Az egyszerű sűrűn kapcsolt neurális hálókhoz hasonlóan, az </a:t>
            </a:r>
            <a:r>
              <a:rPr lang="hu-HU" dirty="0" err="1" smtClean="0"/>
              <a:t>RNN-ekkel</a:t>
            </a:r>
            <a:r>
              <a:rPr lang="hu-HU" dirty="0" smtClean="0"/>
              <a:t> ellentétben a </a:t>
            </a:r>
            <a:r>
              <a:rPr lang="hu-HU" dirty="0" err="1" smtClean="0"/>
              <a:t>transzformerek</a:t>
            </a:r>
            <a:r>
              <a:rPr lang="hu-HU" dirty="0" smtClean="0"/>
              <a:t> önmagukban nem ragadják meg a bemenet sorrendjét.</a:t>
            </a:r>
          </a:p>
          <a:p>
            <a:pPr lvl="1"/>
            <a:r>
              <a:rPr lang="hu-HU" dirty="0" smtClean="0"/>
              <a:t>A </a:t>
            </a:r>
            <a:r>
              <a:rPr lang="hu-HU" dirty="0" err="1" smtClean="0"/>
              <a:t>tokensorozat</a:t>
            </a:r>
            <a:r>
              <a:rPr lang="hu-HU" dirty="0" smtClean="0"/>
              <a:t> elemeinek relatív és abszolút sorrendjét ezért egy olyan számvektorral kell kifejezni, amely a pozíciót kódolja.</a:t>
            </a:r>
          </a:p>
          <a:p>
            <a:pPr lvl="1"/>
            <a:r>
              <a:rPr lang="hu-HU" dirty="0" smtClean="0"/>
              <a:t>A (</a:t>
            </a:r>
            <a:r>
              <a:rPr lang="hu-HU" dirty="0" err="1" smtClean="0"/>
              <a:t>szinuszfüggvényen</a:t>
            </a:r>
            <a:r>
              <a:rPr lang="hu-HU" dirty="0" smtClean="0"/>
              <a:t> alapuló) pozíciókódoló vektor minden eleme a </a:t>
            </a:r>
            <a:r>
              <a:rPr lang="hu-HU" dirty="0" err="1" smtClean="0"/>
              <a:t>szinuszfüggvény</a:t>
            </a:r>
            <a:r>
              <a:rPr lang="hu-HU" dirty="0" smtClean="0"/>
              <a:t> értékét tartalmazza.</a:t>
            </a:r>
          </a:p>
          <a:p>
            <a:pPr lvl="2"/>
            <a:r>
              <a:rPr lang="hu-HU" dirty="0" smtClean="0"/>
              <a:t>a használt </a:t>
            </a:r>
            <a:r>
              <a:rPr lang="hu-HU" dirty="0" err="1" smtClean="0"/>
              <a:t>szinuszfüggvény</a:t>
            </a:r>
            <a:r>
              <a:rPr lang="hu-HU" dirty="0" smtClean="0"/>
              <a:t> hullámhossza a vektor dimenziói mentén fokozatosan nő, így a teljes vektor értéke nem ciklikus abban az értelemben, ahog</a:t>
            </a:r>
            <a:r>
              <a:rPr lang="hu-HU" dirty="0" smtClean="0"/>
              <a:t>y egyetlen </a:t>
            </a:r>
            <a:r>
              <a:rPr lang="hu-HU" dirty="0" err="1" smtClean="0"/>
              <a:t>szinuszfüggvényé</a:t>
            </a:r>
            <a:r>
              <a:rPr lang="hu-HU" dirty="0" smtClean="0"/>
              <a:t> az</a:t>
            </a:r>
            <a:endParaRPr lang="hu-HU" dirty="0" smtClean="0"/>
          </a:p>
        </p:txBody>
      </p:sp>
    </p:spTree>
    <p:extLst>
      <p:ext uri="{BB962C8B-B14F-4D97-AF65-F5344CB8AC3E}">
        <p14:creationId xmlns:p14="http://schemas.microsoft.com/office/powerpoint/2010/main" val="37170022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err="1" smtClean="0"/>
              <a:t>Transzformerek</a:t>
            </a:r>
            <a:r>
              <a:rPr lang="hu-HU" dirty="0" smtClean="0"/>
              <a:t> bonyolultsága</a:t>
            </a:r>
            <a:endParaRPr lang="en-GB" dirty="0"/>
          </a:p>
        </p:txBody>
      </p:sp>
      <p:sp>
        <p:nvSpPr>
          <p:cNvPr id="3" name="Tartalom helye 2"/>
          <p:cNvSpPr>
            <a:spLocks noGrp="1"/>
          </p:cNvSpPr>
          <p:nvPr>
            <p:ph idx="1"/>
          </p:nvPr>
        </p:nvSpPr>
        <p:spPr/>
        <p:txBody>
          <a:bodyPr>
            <a:normAutofit fontScale="70000" lnSpcReduction="20000"/>
          </a:bodyPr>
          <a:lstStyle/>
          <a:p>
            <a:r>
              <a:rPr lang="hu-HU" dirty="0" smtClean="0"/>
              <a:t>A </a:t>
            </a:r>
            <a:r>
              <a:rPr lang="hu-HU" dirty="0" err="1" smtClean="0"/>
              <a:t>transzformer</a:t>
            </a:r>
            <a:r>
              <a:rPr lang="hu-HU" dirty="0" smtClean="0"/>
              <a:t> által végzett számítások bonyolultsága sarkalatos kérdés</a:t>
            </a:r>
          </a:p>
          <a:p>
            <a:r>
              <a:rPr lang="hu-HU" dirty="0" smtClean="0"/>
              <a:t>Fő tulajdonságai:</a:t>
            </a:r>
            <a:endParaRPr lang="hu-HU" dirty="0" smtClean="0"/>
          </a:p>
          <a:p>
            <a:pPr lvl="1"/>
            <a:r>
              <a:rPr lang="hu-HU" dirty="0" smtClean="0"/>
              <a:t>rejtett rétegek dimenziója (ennek minden rétegben azonosnak kell lennie – miért?): </a:t>
            </a:r>
            <a:r>
              <a:rPr lang="hu-HU" i="1" dirty="0" smtClean="0"/>
              <a:t>k</a:t>
            </a:r>
            <a:endParaRPr lang="hu-HU" dirty="0" smtClean="0"/>
          </a:p>
          <a:p>
            <a:pPr lvl="1"/>
            <a:r>
              <a:rPr lang="hu-HU" dirty="0" smtClean="0"/>
              <a:t>figyelmi fejek száma: </a:t>
            </a:r>
            <a:r>
              <a:rPr lang="hu-HU" i="1" dirty="0" smtClean="0"/>
              <a:t>h</a:t>
            </a:r>
          </a:p>
          <a:p>
            <a:pPr lvl="1"/>
            <a:r>
              <a:rPr lang="hu-HU" dirty="0" err="1" smtClean="0"/>
              <a:t>transzformerblokkok</a:t>
            </a:r>
            <a:r>
              <a:rPr lang="hu-HU" dirty="0" smtClean="0"/>
              <a:t> száma: N</a:t>
            </a:r>
            <a:endParaRPr lang="hu-HU" dirty="0" smtClean="0"/>
          </a:p>
          <a:p>
            <a:pPr lvl="1"/>
            <a:r>
              <a:rPr lang="hu-HU" dirty="0" smtClean="0"/>
              <a:t>bemeneti / kimeneti szekvencia hossza</a:t>
            </a:r>
            <a:endParaRPr lang="hu-HU" dirty="0" smtClean="0"/>
          </a:p>
          <a:p>
            <a:r>
              <a:rPr lang="hu-HU" b="1" dirty="0" smtClean="0"/>
              <a:t>A számítás idő- és memóriaigénye:</a:t>
            </a:r>
            <a:endParaRPr lang="hu-HU" b="1" dirty="0" smtClean="0"/>
          </a:p>
          <a:p>
            <a:pPr lvl="1"/>
            <a:r>
              <a:rPr lang="hu-HU" b="1" dirty="0" smtClean="0"/>
              <a:t>lineárisan </a:t>
            </a:r>
            <a:r>
              <a:rPr lang="hu-HU" dirty="0" smtClean="0"/>
              <a:t>függ a figyelmi fejek </a:t>
            </a:r>
            <a:r>
              <a:rPr lang="hu-HU" i="1" dirty="0" smtClean="0"/>
              <a:t>h </a:t>
            </a:r>
            <a:r>
              <a:rPr lang="hu-HU" dirty="0" smtClean="0"/>
              <a:t>és a blokkok </a:t>
            </a:r>
            <a:r>
              <a:rPr lang="hu-HU" i="1" dirty="0" smtClean="0"/>
              <a:t>N </a:t>
            </a:r>
            <a:r>
              <a:rPr lang="hu-HU" dirty="0" smtClean="0"/>
              <a:t>számától</a:t>
            </a:r>
          </a:p>
          <a:p>
            <a:pPr lvl="1"/>
            <a:r>
              <a:rPr lang="hu-HU" b="1" dirty="0" smtClean="0"/>
              <a:t>lineáris és négyzetes közötti </a:t>
            </a:r>
            <a:r>
              <a:rPr lang="hu-HU" dirty="0" smtClean="0"/>
              <a:t>mértékben függ a rejtett rétegek k dimenziójától</a:t>
            </a:r>
          </a:p>
          <a:p>
            <a:pPr lvl="1"/>
            <a:r>
              <a:rPr lang="hu-HU" b="1" dirty="0" smtClean="0"/>
              <a:t>négyzetesen </a:t>
            </a:r>
            <a:r>
              <a:rPr lang="hu-HU" dirty="0" smtClean="0"/>
              <a:t>függ a szekvencia/</a:t>
            </a:r>
            <a:r>
              <a:rPr lang="hu-HU" dirty="0" err="1" smtClean="0"/>
              <a:t>ák</a:t>
            </a:r>
            <a:r>
              <a:rPr lang="hu-HU" dirty="0" smtClean="0"/>
              <a:t> hosszától (bemenet, illetve kimenet külön-külön)</a:t>
            </a:r>
          </a:p>
        </p:txBody>
      </p:sp>
    </p:spTree>
    <p:extLst>
      <p:ext uri="{BB962C8B-B14F-4D97-AF65-F5344CB8AC3E}">
        <p14:creationId xmlns:p14="http://schemas.microsoft.com/office/powerpoint/2010/main" val="4897550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err="1" smtClean="0"/>
              <a:t>Tokenizálás</a:t>
            </a:r>
            <a:endParaRPr lang="en-GB" dirty="0"/>
          </a:p>
        </p:txBody>
      </p:sp>
      <p:sp>
        <p:nvSpPr>
          <p:cNvPr id="3" name="Tartalom helye 2"/>
          <p:cNvSpPr>
            <a:spLocks noGrp="1"/>
          </p:cNvSpPr>
          <p:nvPr>
            <p:ph idx="1"/>
          </p:nvPr>
        </p:nvSpPr>
        <p:spPr/>
        <p:txBody>
          <a:bodyPr>
            <a:normAutofit fontScale="47500" lnSpcReduction="20000"/>
          </a:bodyPr>
          <a:lstStyle/>
          <a:p>
            <a:r>
              <a:rPr lang="hu-HU" dirty="0" smtClean="0"/>
              <a:t>Minden nyelvtechnológiai (</a:t>
            </a:r>
            <a:r>
              <a:rPr lang="hu-HU" dirty="0" err="1" smtClean="0"/>
              <a:t>NL</a:t>
            </a:r>
            <a:r>
              <a:rPr lang="hu-HU" dirty="0" err="1" smtClean="0"/>
              <a:t>P-</a:t>
            </a:r>
            <a:r>
              <a:rPr lang="hu-HU" dirty="0" smtClean="0"/>
              <a:t>) feladatban elengedhetetlen első lépés a </a:t>
            </a:r>
            <a:r>
              <a:rPr lang="hu-HU" b="1" dirty="0" smtClean="0"/>
              <a:t>bemeneti szekvencia </a:t>
            </a:r>
            <a:r>
              <a:rPr lang="hu-HU" dirty="0" smtClean="0"/>
              <a:t>(szöveg) </a:t>
            </a:r>
            <a:r>
              <a:rPr lang="hu-HU" b="1" dirty="0" smtClean="0"/>
              <a:t>atomi feldolgozási elemekre </a:t>
            </a:r>
            <a:r>
              <a:rPr lang="hu-HU" dirty="0" smtClean="0"/>
              <a:t>(</a:t>
            </a:r>
            <a:r>
              <a:rPr lang="hu-HU" dirty="0" err="1" smtClean="0"/>
              <a:t>tokenekre</a:t>
            </a:r>
            <a:r>
              <a:rPr lang="hu-HU" dirty="0" smtClean="0"/>
              <a:t>) való </a:t>
            </a:r>
            <a:r>
              <a:rPr lang="hu-HU" b="1" dirty="0" smtClean="0"/>
              <a:t>felbontása</a:t>
            </a:r>
            <a:r>
              <a:rPr lang="hu-HU" dirty="0" smtClean="0"/>
              <a:t>. Ezt </a:t>
            </a:r>
            <a:r>
              <a:rPr lang="hu-HU" b="1" dirty="0" err="1" smtClean="0"/>
              <a:t>tokenizálásnak</a:t>
            </a:r>
            <a:r>
              <a:rPr lang="hu-HU" b="1" dirty="0" smtClean="0"/>
              <a:t> </a:t>
            </a:r>
            <a:r>
              <a:rPr lang="hu-HU" dirty="0" smtClean="0"/>
              <a:t>nevezzük</a:t>
            </a:r>
            <a:endParaRPr lang="hu-HU" dirty="0" smtClean="0"/>
          </a:p>
          <a:p>
            <a:pPr lvl="1"/>
            <a:r>
              <a:rPr lang="hu-HU" dirty="0" smtClean="0"/>
              <a:t>A </a:t>
            </a:r>
            <a:r>
              <a:rPr lang="hu-HU" dirty="0" err="1" smtClean="0"/>
              <a:t>tokeneket</a:t>
            </a:r>
            <a:r>
              <a:rPr lang="hu-HU" dirty="0" smtClean="0"/>
              <a:t> ezután egy-egy beágyazásvektorhoz rendeljük hozzá.</a:t>
            </a:r>
            <a:endParaRPr lang="hu-HU" dirty="0" smtClean="0"/>
          </a:p>
          <a:p>
            <a:r>
              <a:rPr lang="hu-HU" dirty="0" smtClean="0"/>
              <a:t>Általába</a:t>
            </a:r>
            <a:r>
              <a:rPr lang="hu-HU" dirty="0" smtClean="0"/>
              <a:t>n a jelentéssel bíró legkisebb egységeket választják </a:t>
            </a:r>
            <a:r>
              <a:rPr lang="hu-HU" dirty="0" err="1" smtClean="0"/>
              <a:t>tokennek</a:t>
            </a:r>
            <a:endParaRPr lang="hu-HU" dirty="0" smtClean="0"/>
          </a:p>
          <a:p>
            <a:pPr lvl="1"/>
            <a:r>
              <a:rPr lang="hu-HU" dirty="0" smtClean="0"/>
              <a:t>karakterek / betűk nem jó választás</a:t>
            </a:r>
            <a:endParaRPr lang="hu-HU" dirty="0" smtClean="0"/>
          </a:p>
          <a:p>
            <a:pPr lvl="1"/>
            <a:r>
              <a:rPr lang="hu-HU" dirty="0" smtClean="0"/>
              <a:t>hatékonyság szempontjából sem ideális (miért?)</a:t>
            </a:r>
            <a:endParaRPr lang="hu-HU" dirty="0" smtClean="0"/>
          </a:p>
          <a:p>
            <a:r>
              <a:rPr lang="hu-HU" dirty="0" smtClean="0"/>
              <a:t>Egy lehetőség, hogy szóközze</a:t>
            </a:r>
            <a:r>
              <a:rPr lang="hu-HU" dirty="0" smtClean="0"/>
              <a:t>l vagy írásjellel elválasztott szavakat kezelnek </a:t>
            </a:r>
            <a:r>
              <a:rPr lang="hu-HU" dirty="0" err="1" smtClean="0"/>
              <a:t>tokenként</a:t>
            </a:r>
            <a:r>
              <a:rPr lang="hu-HU" dirty="0" smtClean="0"/>
              <a:t> .</a:t>
            </a:r>
            <a:endParaRPr lang="hu-HU" dirty="0" smtClean="0"/>
          </a:p>
          <a:p>
            <a:r>
              <a:rPr lang="hu-HU" dirty="0" smtClean="0"/>
              <a:t>Ezek </a:t>
            </a:r>
            <a:r>
              <a:rPr lang="hu-HU" dirty="0" smtClean="0"/>
              <a:t>általában túl nagyok, a legtöbb nyelvben vannak a szó szintje alatt is jelentéssel bíró elemek.</a:t>
            </a:r>
            <a:endParaRPr lang="hu-HU" dirty="0" smtClean="0"/>
          </a:p>
          <a:p>
            <a:pPr lvl="1"/>
            <a:r>
              <a:rPr lang="hu-HU" i="1" dirty="0" smtClean="0"/>
              <a:t>jelent, jelenti, jelentő, jelentés, feljelent: </a:t>
            </a:r>
            <a:r>
              <a:rPr lang="hu-HU" dirty="0" smtClean="0"/>
              <a:t>nem szerencsés különálló egységként kezelni ezeket</a:t>
            </a:r>
            <a:endParaRPr lang="hu-HU" dirty="0" smtClean="0"/>
          </a:p>
          <a:p>
            <a:r>
              <a:rPr lang="hu-HU" dirty="0" smtClean="0"/>
              <a:t>Középút: </a:t>
            </a:r>
            <a:r>
              <a:rPr lang="hu-HU" b="1" dirty="0" smtClean="0"/>
              <a:t>szó alatti szintű </a:t>
            </a:r>
            <a:r>
              <a:rPr lang="hu-HU" b="1" dirty="0" err="1" smtClean="0"/>
              <a:t>tokenizálás</a:t>
            </a:r>
            <a:endParaRPr lang="hu-HU" b="1" dirty="0" smtClean="0"/>
          </a:p>
          <a:p>
            <a:pPr lvl="1"/>
            <a:r>
              <a:rPr lang="hu-HU" dirty="0" err="1" smtClean="0"/>
              <a:t>részszótokenek</a:t>
            </a:r>
            <a:r>
              <a:rPr lang="hu-HU" dirty="0" smtClean="0"/>
              <a:t> különböző hosszúak, egyetlen betűtől egész szóig (pl. </a:t>
            </a:r>
            <a:r>
              <a:rPr lang="hu-HU" i="1" dirty="0" smtClean="0"/>
              <a:t>szó, atom: </a:t>
            </a:r>
            <a:r>
              <a:rPr lang="hu-HU" dirty="0" smtClean="0"/>
              <a:t>nem lehet értelmesen felbontani)</a:t>
            </a:r>
            <a:endParaRPr lang="hu-HU" dirty="0" smtClean="0"/>
          </a:p>
          <a:p>
            <a:r>
              <a:rPr lang="hu-HU" dirty="0" smtClean="0"/>
              <a:t>A </a:t>
            </a:r>
            <a:r>
              <a:rPr lang="hu-HU" dirty="0" err="1" smtClean="0"/>
              <a:t>tokenizálókat</a:t>
            </a:r>
            <a:r>
              <a:rPr lang="hu-HU" dirty="0" smtClean="0"/>
              <a:t> általában egy </a:t>
            </a:r>
            <a:r>
              <a:rPr lang="hu-HU" b="1" dirty="0" smtClean="0"/>
              <a:t>adott nyelvtől független általános algoritmussal hozzák létre</a:t>
            </a:r>
            <a:r>
              <a:rPr lang="hu-HU" dirty="0" smtClean="0"/>
              <a:t>, amely abból indul ki, hogy </a:t>
            </a:r>
            <a:r>
              <a:rPr lang="hu-HU" b="1" dirty="0" smtClean="0"/>
              <a:t>minden karakter egy-egy </a:t>
            </a:r>
            <a:r>
              <a:rPr lang="hu-HU" b="1" dirty="0" err="1" smtClean="0"/>
              <a:t>token</a:t>
            </a:r>
            <a:r>
              <a:rPr lang="hu-HU" dirty="0" smtClean="0"/>
              <a:t>, majd az </a:t>
            </a:r>
            <a:r>
              <a:rPr lang="hu-HU" b="1" dirty="0" smtClean="0"/>
              <a:t>egymás mellett nagyon gyakran előforduló </a:t>
            </a:r>
            <a:r>
              <a:rPr lang="hu-HU" dirty="0" err="1" smtClean="0"/>
              <a:t>tokeneket</a:t>
            </a:r>
            <a:r>
              <a:rPr lang="hu-HU" dirty="0" smtClean="0"/>
              <a:t> új </a:t>
            </a:r>
            <a:r>
              <a:rPr lang="hu-HU" dirty="0" err="1" smtClean="0"/>
              <a:t>tokenné</a:t>
            </a:r>
            <a:r>
              <a:rPr lang="hu-HU" dirty="0" smtClean="0"/>
              <a:t> kapcsolja össze </a:t>
            </a:r>
            <a:r>
              <a:rPr lang="hu-HU" b="1" dirty="0" smtClean="0"/>
              <a:t>iteratívan</a:t>
            </a:r>
          </a:p>
          <a:p>
            <a:pPr lvl="1"/>
            <a:r>
              <a:rPr lang="hu-HU" dirty="0" smtClean="0"/>
              <a:t>az így kapott </a:t>
            </a:r>
            <a:r>
              <a:rPr lang="hu-HU" dirty="0" err="1" smtClean="0"/>
              <a:t>tokenizáló</a:t>
            </a:r>
            <a:r>
              <a:rPr lang="hu-HU" dirty="0" smtClean="0"/>
              <a:t> függ a tanítókorpusztól (és annak nyelvétől)</a:t>
            </a:r>
            <a:endParaRPr lang="hu-HU" dirty="0"/>
          </a:p>
          <a:p>
            <a:pPr lvl="1"/>
            <a:r>
              <a:rPr lang="hu-HU" dirty="0" smtClean="0"/>
              <a:t>nem azonosítja 100% megbízhatósággal a jelentéssel bíró elemeket, de elég jól működik</a:t>
            </a:r>
          </a:p>
          <a:p>
            <a:pPr lvl="1"/>
            <a:r>
              <a:rPr lang="hu-HU" dirty="0" smtClean="0"/>
              <a:t>főbb algoritmusváltozatok: bájtpár-kódolás (</a:t>
            </a:r>
            <a:r>
              <a:rPr lang="hu-HU" dirty="0" err="1" smtClean="0"/>
              <a:t>byte-pai</a:t>
            </a:r>
            <a:r>
              <a:rPr lang="hu-HU" dirty="0" err="1" smtClean="0"/>
              <a:t>r</a:t>
            </a:r>
            <a:r>
              <a:rPr lang="hu-HU" dirty="0" smtClean="0"/>
              <a:t> </a:t>
            </a:r>
            <a:r>
              <a:rPr lang="hu-HU" dirty="0" err="1" smtClean="0"/>
              <a:t>encoding</a:t>
            </a:r>
            <a:r>
              <a:rPr lang="hu-HU" dirty="0" smtClean="0"/>
              <a:t>, </a:t>
            </a:r>
            <a:r>
              <a:rPr lang="hu-HU" dirty="0" err="1" smtClean="0"/>
              <a:t>BPE</a:t>
            </a:r>
            <a:r>
              <a:rPr lang="hu-HU" dirty="0" smtClean="0"/>
              <a:t>), </a:t>
            </a:r>
            <a:r>
              <a:rPr lang="hu-HU" dirty="0" err="1" smtClean="0"/>
              <a:t>Unigram</a:t>
            </a:r>
            <a:r>
              <a:rPr lang="hu-HU" dirty="0" smtClean="0"/>
              <a:t>, </a:t>
            </a:r>
            <a:r>
              <a:rPr lang="hu-HU" dirty="0" err="1" smtClean="0"/>
              <a:t>WordPiece</a:t>
            </a:r>
            <a:endParaRPr lang="hu-HU" dirty="0" smtClean="0"/>
          </a:p>
          <a:p>
            <a:pPr lvl="1"/>
            <a:r>
              <a:rPr lang="hu-HU" dirty="0" smtClean="0"/>
              <a:t>népszerű implementáció: a </a:t>
            </a:r>
            <a:r>
              <a:rPr lang="hu-HU" dirty="0" err="1" smtClean="0"/>
              <a:t>Google</a:t>
            </a:r>
            <a:r>
              <a:rPr lang="hu-HU" dirty="0" smtClean="0"/>
              <a:t> </a:t>
            </a:r>
            <a:r>
              <a:rPr lang="hu-HU" dirty="0" err="1" smtClean="0">
                <a:hlinkClick r:id="rId2"/>
              </a:rPr>
              <a:t>SentencePiece</a:t>
            </a:r>
            <a:r>
              <a:rPr lang="hu-HU" dirty="0" smtClean="0"/>
              <a:t> programkönyvtára</a:t>
            </a:r>
            <a:endParaRPr lang="hu-HU" dirty="0" smtClean="0"/>
          </a:p>
        </p:txBody>
      </p:sp>
    </p:spTree>
    <p:extLst>
      <p:ext uri="{BB962C8B-B14F-4D97-AF65-F5344CB8AC3E}">
        <p14:creationId xmlns:p14="http://schemas.microsoft.com/office/powerpoint/2010/main" val="15883799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normAutofit/>
          </a:bodyPr>
          <a:lstStyle/>
          <a:p>
            <a:r>
              <a:rPr lang="hu-HU" sz="3600" dirty="0" smtClean="0"/>
              <a:t>Kódoló-dekódoló </a:t>
            </a:r>
            <a:r>
              <a:rPr lang="hu-HU" sz="3600" dirty="0" err="1" smtClean="0"/>
              <a:t>transzformermodellek</a:t>
            </a:r>
            <a:endParaRPr lang="en-GB" sz="3600" dirty="0"/>
          </a:p>
        </p:txBody>
      </p:sp>
      <p:sp>
        <p:nvSpPr>
          <p:cNvPr id="3" name="Tartalom helye 2"/>
          <p:cNvSpPr>
            <a:spLocks noGrp="1"/>
          </p:cNvSpPr>
          <p:nvPr>
            <p:ph idx="1"/>
          </p:nvPr>
        </p:nvSpPr>
        <p:spPr>
          <a:xfrm>
            <a:off x="457200" y="1600200"/>
            <a:ext cx="8363272" cy="4637112"/>
          </a:xfrm>
        </p:spPr>
        <p:txBody>
          <a:bodyPr>
            <a:normAutofit fontScale="62500" lnSpcReduction="20000"/>
          </a:bodyPr>
          <a:lstStyle/>
          <a:p>
            <a:r>
              <a:rPr lang="hu-HU" dirty="0" smtClean="0"/>
              <a:t>Ahogy egy korábbi dián láttuk, az </a:t>
            </a:r>
            <a:r>
              <a:rPr lang="hu-HU" i="1" dirty="0" err="1"/>
              <a:t>Attention</a:t>
            </a:r>
            <a:r>
              <a:rPr lang="hu-HU" i="1" dirty="0"/>
              <a:t> is </a:t>
            </a:r>
            <a:r>
              <a:rPr lang="hu-HU" i="1" dirty="0" err="1"/>
              <a:t>all</a:t>
            </a:r>
            <a:r>
              <a:rPr lang="hu-HU" i="1" dirty="0"/>
              <a:t> </a:t>
            </a:r>
            <a:r>
              <a:rPr lang="hu-HU" i="1" dirty="0" err="1"/>
              <a:t>you</a:t>
            </a:r>
            <a:r>
              <a:rPr lang="hu-HU" i="1" dirty="0"/>
              <a:t> </a:t>
            </a:r>
            <a:r>
              <a:rPr lang="hu-HU" i="1" dirty="0" err="1" smtClean="0"/>
              <a:t>need-</a:t>
            </a:r>
            <a:r>
              <a:rPr lang="hu-HU" dirty="0" err="1" smtClean="0"/>
              <a:t>ben</a:t>
            </a:r>
            <a:r>
              <a:rPr lang="hu-HU" dirty="0" smtClean="0"/>
              <a:t> bemutatott </a:t>
            </a:r>
            <a:r>
              <a:rPr lang="hu-HU" dirty="0" smtClean="0"/>
              <a:t>eredeti </a:t>
            </a:r>
            <a:r>
              <a:rPr lang="hu-HU" dirty="0" err="1" smtClean="0"/>
              <a:t>transzformerháló</a:t>
            </a:r>
            <a:r>
              <a:rPr lang="hu-HU" dirty="0" smtClean="0"/>
              <a:t> kódoló-dekódoló szerkezetű.</a:t>
            </a:r>
          </a:p>
          <a:p>
            <a:r>
              <a:rPr lang="hu-HU" dirty="0" smtClean="0"/>
              <a:t>További nevezetes </a:t>
            </a:r>
            <a:r>
              <a:rPr lang="hu-HU" b="1" dirty="0" smtClean="0"/>
              <a:t>kódoló-dekódoló </a:t>
            </a:r>
            <a:r>
              <a:rPr lang="hu-HU" b="1" dirty="0" err="1" smtClean="0"/>
              <a:t>transzformermodellek</a:t>
            </a:r>
            <a:r>
              <a:rPr lang="hu-HU" b="1" dirty="0" smtClean="0"/>
              <a:t>:</a:t>
            </a:r>
            <a:endParaRPr lang="hu-HU" b="1" dirty="0" smtClean="0"/>
          </a:p>
          <a:p>
            <a:pPr lvl="1"/>
            <a:r>
              <a:rPr lang="hu-HU" dirty="0" smtClean="0">
                <a:hlinkClick r:id="rId3"/>
              </a:rPr>
              <a:t>BART</a:t>
            </a:r>
            <a:r>
              <a:rPr lang="hu-HU" dirty="0" smtClean="0"/>
              <a:t> (2019): </a:t>
            </a:r>
            <a:r>
              <a:rPr lang="hu-HU" dirty="0" err="1" smtClean="0"/>
              <a:t>Vaswani</a:t>
            </a:r>
            <a:r>
              <a:rPr lang="hu-HU" dirty="0" smtClean="0"/>
              <a:t> és </a:t>
            </a:r>
            <a:r>
              <a:rPr lang="hu-HU" dirty="0" err="1" smtClean="0"/>
              <a:t>mtsai</a:t>
            </a:r>
            <a:r>
              <a:rPr lang="hu-HU" dirty="0" smtClean="0"/>
              <a:t> </a:t>
            </a:r>
            <a:r>
              <a:rPr lang="hu-HU" dirty="0" err="1" smtClean="0"/>
              <a:t>transzformeréhez</a:t>
            </a:r>
            <a:r>
              <a:rPr lang="hu-HU" dirty="0" smtClean="0"/>
              <a:t> hasonlít, de kétirányú kódolót (</a:t>
            </a:r>
            <a:r>
              <a:rPr lang="hu-HU" dirty="0" err="1" smtClean="0"/>
              <a:t>BERT</a:t>
            </a:r>
            <a:r>
              <a:rPr lang="hu-HU" dirty="0" smtClean="0"/>
              <a:t>) tartalmaz egy </a:t>
            </a:r>
            <a:r>
              <a:rPr lang="hu-HU" dirty="0" err="1" smtClean="0"/>
              <a:t>autoregresszív</a:t>
            </a:r>
            <a:r>
              <a:rPr lang="hu-HU" dirty="0" smtClean="0"/>
              <a:t> (</a:t>
            </a:r>
            <a:r>
              <a:rPr lang="hu-HU" dirty="0" err="1" smtClean="0"/>
              <a:t>GPT</a:t>
            </a:r>
            <a:r>
              <a:rPr lang="hu-HU" dirty="0" smtClean="0"/>
              <a:t> jellegű) dekódolóval kombinálva</a:t>
            </a:r>
            <a:endParaRPr lang="hu-HU" dirty="0" smtClean="0"/>
          </a:p>
          <a:p>
            <a:pPr lvl="1"/>
            <a:r>
              <a:rPr lang="hu-HU" dirty="0" smtClean="0">
                <a:hlinkClick r:id="rId4"/>
              </a:rPr>
              <a:t>T5</a:t>
            </a:r>
            <a:r>
              <a:rPr lang="hu-HU" dirty="0" smtClean="0"/>
              <a:t> (2019): </a:t>
            </a:r>
            <a:r>
              <a:rPr lang="hu-HU" dirty="0" smtClean="0"/>
              <a:t>szöveg-szöveg </a:t>
            </a:r>
            <a:r>
              <a:rPr lang="hu-HU" dirty="0" err="1" smtClean="0"/>
              <a:t>transzformer</a:t>
            </a:r>
            <a:r>
              <a:rPr lang="hu-HU" dirty="0" smtClean="0"/>
              <a:t>, minden </a:t>
            </a:r>
            <a:r>
              <a:rPr lang="hu-HU" b="1" dirty="0" err="1" smtClean="0"/>
              <a:t>NLP-feladatot</a:t>
            </a:r>
            <a:r>
              <a:rPr lang="hu-HU" b="1" dirty="0" smtClean="0"/>
              <a:t> </a:t>
            </a:r>
            <a:r>
              <a:rPr lang="hu-HU" dirty="0" smtClean="0"/>
              <a:t>seq2seq-feladatként kezel (mT5</a:t>
            </a:r>
            <a:r>
              <a:rPr lang="hu-HU" dirty="0" smtClean="0"/>
              <a:t>: </a:t>
            </a:r>
            <a:r>
              <a:rPr lang="hu-HU" dirty="0" smtClean="0"/>
              <a:t>többnyelvű változata)</a:t>
            </a:r>
            <a:endParaRPr lang="hu-HU" dirty="0" smtClean="0"/>
          </a:p>
          <a:p>
            <a:pPr lvl="1"/>
            <a:r>
              <a:rPr lang="hu-HU" dirty="0" smtClean="0">
                <a:hlinkClick r:id="rId5"/>
              </a:rPr>
              <a:t>Marian</a:t>
            </a:r>
            <a:r>
              <a:rPr lang="hu-HU" dirty="0" smtClean="0"/>
              <a:t> (2018): </a:t>
            </a:r>
            <a:r>
              <a:rPr lang="hu-HU" dirty="0" smtClean="0"/>
              <a:t>mint az eredeti </a:t>
            </a:r>
            <a:r>
              <a:rPr lang="hu-HU" dirty="0" err="1" smtClean="0"/>
              <a:t>transzformer</a:t>
            </a:r>
            <a:r>
              <a:rPr lang="hu-HU" dirty="0" smtClean="0"/>
              <a:t>, de kifejezetten </a:t>
            </a:r>
            <a:r>
              <a:rPr lang="hu-HU" b="1" dirty="0" smtClean="0"/>
              <a:t>gépi fordításra </a:t>
            </a:r>
            <a:r>
              <a:rPr lang="hu-HU" dirty="0" smtClean="0"/>
              <a:t>tanítva,</a:t>
            </a:r>
            <a:r>
              <a:rPr lang="hu-HU" b="1" dirty="0" smtClean="0"/>
              <a:t> </a:t>
            </a:r>
            <a:r>
              <a:rPr lang="hu-HU" dirty="0" smtClean="0"/>
              <a:t>specializált modellek egyes nyelvpárokra és alkalmazási területekre</a:t>
            </a:r>
            <a:endParaRPr lang="hu-HU" dirty="0" smtClean="0"/>
          </a:p>
          <a:p>
            <a:pPr lvl="2"/>
            <a:r>
              <a:rPr lang="hu-HU" dirty="0" smtClean="0"/>
              <a:t>a T5-nél és Mariannál jobban teljesítenek a </a:t>
            </a:r>
            <a:r>
              <a:rPr lang="hu-HU" dirty="0" err="1" smtClean="0"/>
              <a:t>feladatspecifikus</a:t>
            </a:r>
            <a:r>
              <a:rPr lang="hu-HU" dirty="0" smtClean="0"/>
              <a:t> tanítás nélkül használt </a:t>
            </a:r>
            <a:r>
              <a:rPr lang="hu-HU" dirty="0" err="1" smtClean="0"/>
              <a:t>LLM-ek</a:t>
            </a:r>
            <a:endParaRPr lang="hu-HU" dirty="0" smtClean="0"/>
          </a:p>
          <a:p>
            <a:pPr lvl="1"/>
            <a:r>
              <a:rPr lang="hu-HU" dirty="0" err="1" smtClean="0">
                <a:hlinkClick r:id="rId6"/>
              </a:rPr>
              <a:t>Whisper</a:t>
            </a:r>
            <a:r>
              <a:rPr lang="hu-HU" dirty="0" smtClean="0"/>
              <a:t> </a:t>
            </a:r>
            <a:r>
              <a:rPr lang="hu-HU" dirty="0" smtClean="0"/>
              <a:t>(2022): </a:t>
            </a:r>
            <a:r>
              <a:rPr lang="hu-HU" b="1" dirty="0" smtClean="0"/>
              <a:t>automatikus beszédfelismerésre </a:t>
            </a:r>
            <a:r>
              <a:rPr lang="hu-HU" dirty="0" smtClean="0"/>
              <a:t>(</a:t>
            </a:r>
            <a:r>
              <a:rPr lang="hu-HU" dirty="0" err="1" smtClean="0"/>
              <a:t>automatic</a:t>
            </a:r>
            <a:r>
              <a:rPr lang="hu-HU" dirty="0" smtClean="0"/>
              <a:t> </a:t>
            </a:r>
            <a:r>
              <a:rPr lang="hu-HU" dirty="0" err="1" smtClean="0"/>
              <a:t>speec</a:t>
            </a:r>
            <a:r>
              <a:rPr lang="hu-HU" dirty="0" err="1" smtClean="0"/>
              <a:t>h</a:t>
            </a:r>
            <a:r>
              <a:rPr lang="hu-HU" dirty="0" smtClean="0"/>
              <a:t> </a:t>
            </a:r>
            <a:r>
              <a:rPr lang="hu-HU" dirty="0" err="1" smtClean="0"/>
              <a:t>recognition</a:t>
            </a:r>
            <a:r>
              <a:rPr lang="hu-HU" dirty="0" smtClean="0"/>
              <a:t>, </a:t>
            </a:r>
            <a:r>
              <a:rPr lang="hu-HU" dirty="0" err="1" smtClean="0"/>
              <a:t>ASR</a:t>
            </a:r>
            <a:r>
              <a:rPr lang="hu-HU" dirty="0" smtClean="0"/>
              <a:t>) / </a:t>
            </a:r>
            <a:r>
              <a:rPr lang="hu-HU" dirty="0" smtClean="0"/>
              <a:t>beszéd átírására szolgál, </a:t>
            </a:r>
            <a:r>
              <a:rPr lang="hu-HU" dirty="0" err="1" smtClean="0"/>
              <a:t>audiokódoló</a:t>
            </a:r>
            <a:r>
              <a:rPr lang="hu-HU" dirty="0" smtClean="0"/>
              <a:t>, szövegdekódoló</a:t>
            </a:r>
            <a:endParaRPr lang="hu-HU" dirty="0" smtClean="0"/>
          </a:p>
          <a:p>
            <a:pPr lvl="1"/>
            <a:r>
              <a:rPr lang="hu-HU" dirty="0" err="1" smtClean="0">
                <a:hlinkClick r:id="rId7"/>
              </a:rPr>
              <a:t>GIT</a:t>
            </a:r>
            <a:r>
              <a:rPr lang="hu-HU" dirty="0" smtClean="0"/>
              <a:t> (2022): </a:t>
            </a:r>
            <a:r>
              <a:rPr lang="hu-HU" b="1" dirty="0" smtClean="0"/>
              <a:t>képkódoló, szövegdekódoló</a:t>
            </a:r>
            <a:endParaRPr lang="hu-HU" b="1" dirty="0" smtClean="0"/>
          </a:p>
          <a:p>
            <a:pPr lvl="2"/>
            <a:r>
              <a:rPr lang="hu-HU" dirty="0" smtClean="0"/>
              <a:t>képfeliratok generálása, vizuális kérdésmegválaszolás</a:t>
            </a:r>
            <a:endParaRPr lang="hu-HU" dirty="0" smtClean="0"/>
          </a:p>
          <a:p>
            <a:pPr lvl="2"/>
            <a:r>
              <a:rPr lang="hu-HU" dirty="0" smtClean="0"/>
              <a:t>nem tévesztendő össze a </a:t>
            </a:r>
            <a:r>
              <a:rPr lang="hu-HU" dirty="0" err="1" smtClean="0"/>
              <a:t>Git</a:t>
            </a:r>
            <a:r>
              <a:rPr lang="hu-HU" dirty="0" smtClean="0"/>
              <a:t> verziókezelő rendszerrel</a:t>
            </a:r>
            <a:endParaRPr lang="hu-HU" dirty="0" smtClean="0"/>
          </a:p>
          <a:p>
            <a:pPr lvl="1"/>
            <a:r>
              <a:rPr lang="hu-HU" dirty="0" err="1" smtClean="0">
                <a:hlinkClick r:id="rId8"/>
              </a:rPr>
              <a:t>TrOCR</a:t>
            </a:r>
            <a:r>
              <a:rPr lang="hu-HU" dirty="0" smtClean="0"/>
              <a:t> (2021): </a:t>
            </a:r>
            <a:r>
              <a:rPr lang="hu-HU" dirty="0" smtClean="0"/>
              <a:t>képkódoló, szövegdekódoló, kifejezettek </a:t>
            </a:r>
            <a:r>
              <a:rPr lang="hu-HU" b="1" dirty="0" smtClean="0"/>
              <a:t>optikai karakterfelismerésre </a:t>
            </a:r>
            <a:r>
              <a:rPr lang="hu-HU" dirty="0" smtClean="0"/>
              <a:t>(</a:t>
            </a:r>
            <a:r>
              <a:rPr lang="hu-HU" dirty="0" err="1" smtClean="0"/>
              <a:t>optical</a:t>
            </a:r>
            <a:r>
              <a:rPr lang="hu-HU" dirty="0" smtClean="0"/>
              <a:t> </a:t>
            </a:r>
            <a:r>
              <a:rPr lang="hu-HU" dirty="0" err="1" smtClean="0"/>
              <a:t>character</a:t>
            </a:r>
            <a:r>
              <a:rPr lang="hu-HU" dirty="0" smtClean="0"/>
              <a:t> </a:t>
            </a:r>
            <a:r>
              <a:rPr lang="hu-HU" dirty="0" err="1" smtClean="0"/>
              <a:t>recognition</a:t>
            </a:r>
            <a:r>
              <a:rPr lang="hu-HU" dirty="0" smtClean="0"/>
              <a:t>, </a:t>
            </a:r>
            <a:r>
              <a:rPr lang="hu-HU" dirty="0" smtClean="0"/>
              <a:t>OCR) tanítva</a:t>
            </a:r>
            <a:endParaRPr lang="hu-HU" dirty="0" smtClean="0"/>
          </a:p>
          <a:p>
            <a:r>
              <a:rPr lang="hu-HU" dirty="0" smtClean="0"/>
              <a:t>Ezek és további több ezer modell ingyen elérhető a </a:t>
            </a:r>
            <a:r>
              <a:rPr lang="hu-HU" dirty="0" err="1" smtClean="0"/>
              <a:t>Hugging</a:t>
            </a:r>
            <a:r>
              <a:rPr lang="hu-HU" dirty="0" smtClean="0"/>
              <a:t> </a:t>
            </a:r>
            <a:r>
              <a:rPr lang="hu-HU" dirty="0" err="1" smtClean="0"/>
              <a:t>Face-en</a:t>
            </a:r>
            <a:endParaRPr lang="hu-HU" dirty="0" smtClean="0"/>
          </a:p>
        </p:txBody>
      </p:sp>
    </p:spTree>
    <p:extLst>
      <p:ext uri="{BB962C8B-B14F-4D97-AF65-F5344CB8AC3E}">
        <p14:creationId xmlns:p14="http://schemas.microsoft.com/office/powerpoint/2010/main" val="37397067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smtClean="0"/>
              <a:t>Kódoló </a:t>
            </a:r>
            <a:r>
              <a:rPr lang="hu-HU" dirty="0" err="1" smtClean="0"/>
              <a:t>transzformerarchitektúra</a:t>
            </a:r>
            <a:endParaRPr lang="en-GB" dirty="0"/>
          </a:p>
        </p:txBody>
      </p:sp>
      <p:sp>
        <p:nvSpPr>
          <p:cNvPr id="3" name="Tartalom helye 2"/>
          <p:cNvSpPr>
            <a:spLocks noGrp="1"/>
          </p:cNvSpPr>
          <p:nvPr>
            <p:ph idx="1"/>
          </p:nvPr>
        </p:nvSpPr>
        <p:spPr/>
        <p:txBody>
          <a:bodyPr>
            <a:normAutofit fontScale="55000" lnSpcReduction="20000"/>
          </a:bodyPr>
          <a:lstStyle/>
          <a:p>
            <a:r>
              <a:rPr lang="hu-HU" dirty="0" smtClean="0"/>
              <a:t>Ha ejtjük az eredeti </a:t>
            </a:r>
            <a:r>
              <a:rPr lang="hu-HU" dirty="0" err="1" smtClean="0"/>
              <a:t>transzformer</a:t>
            </a:r>
            <a:r>
              <a:rPr lang="hu-HU" dirty="0" smtClean="0"/>
              <a:t> jobb (dekódoló) felét, csak kódoló </a:t>
            </a:r>
            <a:r>
              <a:rPr lang="hu-HU" dirty="0" err="1" smtClean="0"/>
              <a:t>transzformerhálót</a:t>
            </a:r>
            <a:r>
              <a:rPr lang="hu-HU" dirty="0" smtClean="0"/>
              <a:t> kapunk.</a:t>
            </a:r>
          </a:p>
          <a:p>
            <a:r>
              <a:rPr lang="hu-HU" dirty="0" smtClean="0"/>
              <a:t>A </a:t>
            </a:r>
            <a:r>
              <a:rPr lang="hu-HU" dirty="0" err="1" smtClean="0"/>
              <a:t>transzformer</a:t>
            </a:r>
            <a:r>
              <a:rPr lang="hu-HU" dirty="0" smtClean="0"/>
              <a:t> minden bemeneti </a:t>
            </a:r>
            <a:r>
              <a:rPr lang="hu-HU" dirty="0" err="1" smtClean="0"/>
              <a:t>tokenre</a:t>
            </a:r>
            <a:r>
              <a:rPr lang="hu-HU" dirty="0" smtClean="0"/>
              <a:t> vektorreprezentációt számít ki.</a:t>
            </a:r>
          </a:p>
          <a:p>
            <a:pPr lvl="1"/>
            <a:r>
              <a:rPr lang="hu-HU" dirty="0" smtClean="0"/>
              <a:t>Minden ilyen kimeneti vektor a teljes szekvencia olyan súlyozott reprezentációja, amely az adott </a:t>
            </a:r>
            <a:r>
              <a:rPr lang="hu-HU" dirty="0" err="1" smtClean="0"/>
              <a:t>tokenre</a:t>
            </a:r>
            <a:r>
              <a:rPr lang="hu-HU" dirty="0" smtClean="0"/>
              <a:t> összpontosít.</a:t>
            </a:r>
            <a:endParaRPr lang="hu-HU" dirty="0" smtClean="0"/>
          </a:p>
          <a:p>
            <a:r>
              <a:rPr lang="hu-HU" dirty="0" smtClean="0"/>
              <a:t>A </a:t>
            </a:r>
            <a:r>
              <a:rPr lang="hu-HU" dirty="0" err="1" smtClean="0"/>
              <a:t>transzformer</a:t>
            </a:r>
            <a:r>
              <a:rPr lang="hu-HU" dirty="0" smtClean="0"/>
              <a:t> így közvetlenül hasznos, ha egyenként minden </a:t>
            </a:r>
            <a:r>
              <a:rPr lang="hu-HU" dirty="0" err="1" smtClean="0"/>
              <a:t>tokenről</a:t>
            </a:r>
            <a:r>
              <a:rPr lang="hu-HU" dirty="0" smtClean="0"/>
              <a:t> mondani akarunk valamit.</a:t>
            </a:r>
          </a:p>
          <a:p>
            <a:pPr lvl="1"/>
            <a:r>
              <a:rPr lang="hu-HU" dirty="0" smtClean="0"/>
              <a:t>Láttuk, hogy a</a:t>
            </a:r>
            <a:r>
              <a:rPr lang="hu-HU" dirty="0" smtClean="0"/>
              <a:t>z </a:t>
            </a:r>
            <a:r>
              <a:rPr lang="hu-HU" dirty="0" err="1" smtClean="0"/>
              <a:t>RNN-ek</a:t>
            </a:r>
            <a:r>
              <a:rPr lang="hu-HU" dirty="0" smtClean="0"/>
              <a:t> is </a:t>
            </a:r>
            <a:r>
              <a:rPr lang="hu-HU" dirty="0" err="1" smtClean="0"/>
              <a:t>tokenenként</a:t>
            </a:r>
            <a:r>
              <a:rPr lang="hu-HU" dirty="0"/>
              <a:t> tudnak kimenetet </a:t>
            </a:r>
            <a:r>
              <a:rPr lang="hu-HU" dirty="0" smtClean="0"/>
              <a:t>generálni.</a:t>
            </a:r>
            <a:endParaRPr lang="hu-HU" dirty="0" smtClean="0"/>
          </a:p>
          <a:p>
            <a:pPr lvl="1"/>
            <a:r>
              <a:rPr lang="hu-HU" dirty="0" smtClean="0"/>
              <a:t>Hasonlóképpen a kódoló </a:t>
            </a:r>
            <a:r>
              <a:rPr lang="hu-HU" dirty="0" err="1" smtClean="0"/>
              <a:t>transzformerek</a:t>
            </a:r>
            <a:r>
              <a:rPr lang="hu-HU" dirty="0" smtClean="0"/>
              <a:t> kimeneti vektorai használhatók szófaji címkézésre, </a:t>
            </a:r>
            <a:r>
              <a:rPr lang="hu-HU" dirty="0" err="1" smtClean="0"/>
              <a:t>anonimizásra</a:t>
            </a:r>
            <a:r>
              <a:rPr lang="hu-HU" dirty="0" smtClean="0"/>
              <a:t> és egyéb </a:t>
            </a:r>
            <a:r>
              <a:rPr lang="hu-HU" dirty="0" err="1" smtClean="0"/>
              <a:t>tokencímkézéssel</a:t>
            </a:r>
            <a:r>
              <a:rPr lang="hu-HU" dirty="0" smtClean="0"/>
              <a:t> járó </a:t>
            </a:r>
            <a:r>
              <a:rPr lang="hu-HU" dirty="0" err="1" smtClean="0"/>
              <a:t>NLP-feladat</a:t>
            </a:r>
            <a:r>
              <a:rPr lang="hu-HU" dirty="0" smtClean="0"/>
              <a:t> megoldására</a:t>
            </a:r>
            <a:endParaRPr lang="hu-HU" dirty="0" smtClean="0"/>
          </a:p>
          <a:p>
            <a:r>
              <a:rPr lang="hu-HU" dirty="0" smtClean="0"/>
              <a:t>Egy k</a:t>
            </a:r>
            <a:r>
              <a:rPr lang="hu-HU" dirty="0" smtClean="0"/>
              <a:t>ódoló </a:t>
            </a:r>
            <a:r>
              <a:rPr lang="hu-HU" dirty="0" err="1" smtClean="0"/>
              <a:t>transzformer</a:t>
            </a:r>
            <a:r>
              <a:rPr lang="hu-HU" dirty="0" smtClean="0"/>
              <a:t> tanítása hatalmas mennyiségű tanítóadatot és jelentős számítási erőforrást igényel, így általában nem kifejezetten egy feladat megoldására tanítják ezeket.</a:t>
            </a:r>
          </a:p>
          <a:p>
            <a:r>
              <a:rPr lang="hu-HU" dirty="0" smtClean="0"/>
              <a:t>Egy általános kódoló modellt az adott nyelv(</a:t>
            </a:r>
            <a:r>
              <a:rPr lang="hu-HU" dirty="0" err="1" smtClean="0"/>
              <a:t>ek</a:t>
            </a:r>
            <a:r>
              <a:rPr lang="hu-HU" dirty="0" smtClean="0"/>
              <a:t>)re mint olyanra tanítják be</a:t>
            </a:r>
          </a:p>
          <a:p>
            <a:pPr lvl="1"/>
            <a:r>
              <a:rPr lang="hu-HU" dirty="0" smtClean="0"/>
              <a:t>Ezt előtanításnak nevezik</a:t>
            </a:r>
            <a:endParaRPr lang="hu-HU" dirty="0" smtClean="0"/>
          </a:p>
          <a:p>
            <a:pPr lvl="1"/>
            <a:r>
              <a:rPr lang="hu-HU" dirty="0" smtClean="0"/>
              <a:t>Ha ez elkészült, a </a:t>
            </a:r>
            <a:r>
              <a:rPr lang="hu-HU" dirty="0" err="1" smtClean="0"/>
              <a:t>transzformer</a:t>
            </a:r>
            <a:r>
              <a:rPr lang="hu-HU" dirty="0" smtClean="0"/>
              <a:t> kimeneti rétegének tetejére tesznek egy sokkal kisebb neurális hálót, és az utóbbit tanítják be a konkrét pl. osztályozási feladatra</a:t>
            </a:r>
          </a:p>
          <a:p>
            <a:pPr lvl="1"/>
            <a:r>
              <a:rPr lang="hu-HU" dirty="0" smtClean="0"/>
              <a:t>Ez a transzfertanulás ötletének klasszikus alkalmazása</a:t>
            </a:r>
          </a:p>
        </p:txBody>
      </p:sp>
    </p:spTree>
    <p:extLst>
      <p:ext uri="{BB962C8B-B14F-4D97-AF65-F5344CB8AC3E}">
        <p14:creationId xmlns:p14="http://schemas.microsoft.com/office/powerpoint/2010/main" val="24399134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a:t>Kódoló </a:t>
            </a:r>
            <a:r>
              <a:rPr lang="hu-HU" dirty="0" err="1"/>
              <a:t>transzformerarchitektúra</a:t>
            </a:r>
            <a:endParaRPr lang="en-GB" dirty="0"/>
          </a:p>
        </p:txBody>
      </p:sp>
      <p:sp>
        <p:nvSpPr>
          <p:cNvPr id="3" name="Tartalom helye 2"/>
          <p:cNvSpPr>
            <a:spLocks noGrp="1"/>
          </p:cNvSpPr>
          <p:nvPr>
            <p:ph idx="1"/>
          </p:nvPr>
        </p:nvSpPr>
        <p:spPr/>
        <p:txBody>
          <a:bodyPr>
            <a:normAutofit fontScale="70000" lnSpcReduction="20000"/>
          </a:bodyPr>
          <a:lstStyle/>
          <a:p>
            <a:r>
              <a:rPr lang="hu-HU" dirty="0" smtClean="0"/>
              <a:t>Az előtanítás ún. maszkolásos nyelvmodellezéssel történik</a:t>
            </a:r>
          </a:p>
          <a:p>
            <a:r>
              <a:rPr lang="hu-HU" dirty="0" smtClean="0"/>
              <a:t>A bemeneti szekvenciában egyes </a:t>
            </a:r>
            <a:r>
              <a:rPr lang="hu-HU" dirty="0" err="1" smtClean="0"/>
              <a:t>tokeneket</a:t>
            </a:r>
            <a:r>
              <a:rPr lang="hu-HU" dirty="0" smtClean="0"/>
              <a:t> kitakarnak (</a:t>
            </a:r>
            <a:r>
              <a:rPr lang="hu-HU" dirty="0" err="1" smtClean="0"/>
              <a:t>maszkolnak</a:t>
            </a:r>
            <a:r>
              <a:rPr lang="hu-HU" dirty="0" smtClean="0"/>
              <a:t>), azaz kicserélik őket egy [</a:t>
            </a:r>
            <a:r>
              <a:rPr lang="hu-HU" dirty="0" err="1" smtClean="0"/>
              <a:t>MASK</a:t>
            </a:r>
            <a:r>
              <a:rPr lang="hu-HU" dirty="0" smtClean="0"/>
              <a:t>] alakú </a:t>
            </a:r>
            <a:r>
              <a:rPr lang="hu-HU" dirty="0" err="1" smtClean="0"/>
              <a:t>tokenre</a:t>
            </a:r>
            <a:r>
              <a:rPr lang="hu-HU" dirty="0" smtClean="0"/>
              <a:t>.</a:t>
            </a:r>
            <a:endParaRPr lang="hu-HU" i="1" dirty="0" smtClean="0"/>
          </a:p>
          <a:p>
            <a:pPr lvl="1"/>
            <a:r>
              <a:rPr lang="en-GB" i="1" dirty="0" smtClean="0"/>
              <a:t>The </a:t>
            </a:r>
            <a:r>
              <a:rPr lang="en-GB" i="1" dirty="0"/>
              <a:t>dominant sequence transduction models are based on complex </a:t>
            </a:r>
            <a:r>
              <a:rPr lang="hu-HU" dirty="0" smtClean="0"/>
              <a:t>[</a:t>
            </a:r>
            <a:r>
              <a:rPr lang="hu-HU" dirty="0" err="1" smtClean="0"/>
              <a:t>MASK</a:t>
            </a:r>
            <a:r>
              <a:rPr lang="hu-HU" dirty="0" smtClean="0"/>
              <a:t>] </a:t>
            </a:r>
            <a:r>
              <a:rPr lang="en-GB" i="1" dirty="0" smtClean="0"/>
              <a:t>or </a:t>
            </a:r>
            <a:r>
              <a:rPr lang="en-GB" i="1" dirty="0"/>
              <a:t>convolutional neural networks that include </a:t>
            </a:r>
            <a:r>
              <a:rPr lang="hu-HU" dirty="0" smtClean="0"/>
              <a:t>[</a:t>
            </a:r>
            <a:r>
              <a:rPr lang="hu-HU" dirty="0" err="1" smtClean="0"/>
              <a:t>MASK</a:t>
            </a:r>
            <a:r>
              <a:rPr lang="hu-HU" dirty="0" smtClean="0"/>
              <a:t>] </a:t>
            </a:r>
            <a:r>
              <a:rPr lang="en-GB" i="1" dirty="0" smtClean="0"/>
              <a:t>encoder </a:t>
            </a:r>
            <a:r>
              <a:rPr lang="en-GB" i="1" dirty="0"/>
              <a:t>and a decoder</a:t>
            </a:r>
            <a:r>
              <a:rPr lang="en-GB" i="1" dirty="0" smtClean="0"/>
              <a:t>.</a:t>
            </a:r>
            <a:endParaRPr lang="hu-HU" i="1" dirty="0" smtClean="0"/>
          </a:p>
          <a:p>
            <a:pPr lvl="1"/>
            <a:r>
              <a:rPr lang="hu-HU" dirty="0" smtClean="0"/>
              <a:t>A legfelső </a:t>
            </a:r>
            <a:r>
              <a:rPr lang="hu-HU" dirty="0" err="1" smtClean="0"/>
              <a:t>transzformerblokk</a:t>
            </a:r>
            <a:r>
              <a:rPr lang="hu-HU" dirty="0" smtClean="0"/>
              <a:t> tetejére sűrűn </a:t>
            </a:r>
            <a:r>
              <a:rPr lang="hu-HU" dirty="0"/>
              <a:t>kapcsolt réteg </a:t>
            </a:r>
            <a:r>
              <a:rPr lang="hu-HU" dirty="0" smtClean="0"/>
              <a:t>kerül </a:t>
            </a:r>
            <a:r>
              <a:rPr lang="hu-HU" b="1" dirty="0" err="1"/>
              <a:t>softmax</a:t>
            </a:r>
            <a:r>
              <a:rPr lang="hu-HU" b="1" dirty="0"/>
              <a:t> </a:t>
            </a:r>
            <a:r>
              <a:rPr lang="hu-HU" dirty="0" smtClean="0"/>
              <a:t>aktivációval</a:t>
            </a:r>
            <a:r>
              <a:rPr lang="hu-HU" dirty="0" smtClean="0"/>
              <a:t>.</a:t>
            </a:r>
          </a:p>
          <a:p>
            <a:pPr lvl="2"/>
            <a:r>
              <a:rPr lang="hu-HU" dirty="0" smtClean="0"/>
              <a:t>Ez a </a:t>
            </a:r>
            <a:r>
              <a:rPr lang="hu-HU" dirty="0" err="1" smtClean="0"/>
              <a:t>softmaxréteg</a:t>
            </a:r>
            <a:r>
              <a:rPr lang="hu-HU" dirty="0" smtClean="0"/>
              <a:t> </a:t>
            </a:r>
            <a:r>
              <a:rPr lang="hu-HU" b="1" dirty="0" smtClean="0"/>
              <a:t>az adott </a:t>
            </a:r>
            <a:r>
              <a:rPr lang="hu-HU" b="1" dirty="0" err="1" smtClean="0"/>
              <a:t>token</a:t>
            </a:r>
            <a:r>
              <a:rPr lang="hu-HU" b="1" dirty="0" smtClean="0"/>
              <a:t> valószínűségi eloszlását </a:t>
            </a:r>
            <a:r>
              <a:rPr lang="hu-HU" dirty="0" err="1" smtClean="0"/>
              <a:t>prediktálja</a:t>
            </a:r>
            <a:r>
              <a:rPr lang="hu-HU" dirty="0" smtClean="0"/>
              <a:t> a teljes </a:t>
            </a:r>
            <a:r>
              <a:rPr lang="hu-HU" dirty="0" err="1" smtClean="0"/>
              <a:t>tokenszótár</a:t>
            </a:r>
            <a:r>
              <a:rPr lang="hu-HU" dirty="0" smtClean="0"/>
              <a:t> felett.</a:t>
            </a:r>
          </a:p>
          <a:p>
            <a:pPr lvl="2"/>
            <a:r>
              <a:rPr lang="hu-HU" dirty="0" smtClean="0"/>
              <a:t>Ha a bemeneti </a:t>
            </a:r>
            <a:r>
              <a:rPr lang="hu-HU" dirty="0" err="1" smtClean="0"/>
              <a:t>tokent</a:t>
            </a:r>
            <a:r>
              <a:rPr lang="hu-HU" dirty="0" smtClean="0"/>
              <a:t> </a:t>
            </a:r>
            <a:r>
              <a:rPr lang="hu-HU" b="1" dirty="0" smtClean="0"/>
              <a:t>nem </a:t>
            </a:r>
            <a:r>
              <a:rPr lang="hu-HU" dirty="0" err="1" smtClean="0"/>
              <a:t>maszkoltuk</a:t>
            </a:r>
            <a:r>
              <a:rPr lang="hu-HU" dirty="0" smtClean="0"/>
              <a:t>: gyakorlatilag </a:t>
            </a:r>
            <a:r>
              <a:rPr lang="hu-HU" b="1" dirty="0" err="1" smtClean="0"/>
              <a:t>autoencoder</a:t>
            </a:r>
            <a:r>
              <a:rPr lang="hu-HU" dirty="0" err="1" smtClean="0"/>
              <a:t>-feladat</a:t>
            </a:r>
            <a:r>
              <a:rPr lang="hu-HU" dirty="0" smtClean="0"/>
              <a:t>.</a:t>
            </a:r>
          </a:p>
          <a:p>
            <a:pPr lvl="3"/>
            <a:r>
              <a:rPr lang="hu-HU" dirty="0" smtClean="0"/>
              <a:t>a bemeneti </a:t>
            </a:r>
            <a:r>
              <a:rPr lang="hu-HU" dirty="0" err="1" smtClean="0"/>
              <a:t>tokent</a:t>
            </a:r>
            <a:r>
              <a:rPr lang="hu-HU" dirty="0" smtClean="0"/>
              <a:t> (pl. </a:t>
            </a:r>
            <a:r>
              <a:rPr lang="hu-HU" i="1" dirty="0" smtClean="0"/>
              <a:t>hajó</a:t>
            </a:r>
            <a:r>
              <a:rPr lang="hu-HU" dirty="0" smtClean="0"/>
              <a:t>) olyan </a:t>
            </a:r>
            <a:r>
              <a:rPr lang="hu-HU" dirty="0" err="1" smtClean="0"/>
              <a:t>vektorá</a:t>
            </a:r>
            <a:r>
              <a:rPr lang="hu-HU" dirty="0" smtClean="0"/>
              <a:t> alakítja a hálózat, amelynek értéke 1 a </a:t>
            </a:r>
            <a:r>
              <a:rPr lang="hu-HU" i="1" dirty="0" smtClean="0"/>
              <a:t>V</a:t>
            </a:r>
            <a:r>
              <a:rPr lang="hu-HU" dirty="0" smtClean="0"/>
              <a:t> dimenziós kimeneti vektor ehhez a szóhoz tartoz</a:t>
            </a:r>
            <a:r>
              <a:rPr lang="hu-HU" dirty="0" smtClean="0"/>
              <a:t>ó koordinátáján, a többi értéke 0</a:t>
            </a:r>
            <a:endParaRPr lang="hu-HU" dirty="0" smtClean="0"/>
          </a:p>
          <a:p>
            <a:pPr lvl="3"/>
            <a:r>
              <a:rPr lang="hu-HU" dirty="0" smtClean="0"/>
              <a:t>nem triviális: a bemenet </a:t>
            </a:r>
            <a:r>
              <a:rPr lang="hu-HU" i="1" dirty="0" smtClean="0"/>
              <a:t>k </a:t>
            </a:r>
            <a:r>
              <a:rPr lang="hu-HU" dirty="0" smtClean="0"/>
              <a:t>dimenziós sűrű vektor, a kimenet </a:t>
            </a:r>
            <a:r>
              <a:rPr lang="hu-HU" i="1" dirty="0" smtClean="0"/>
              <a:t>V </a:t>
            </a:r>
            <a:r>
              <a:rPr lang="hu-HU" dirty="0" smtClean="0"/>
              <a:t>dimenziós </a:t>
            </a:r>
            <a:r>
              <a:rPr lang="hu-HU" dirty="0" err="1" smtClean="0"/>
              <a:t>softmax</a:t>
            </a:r>
            <a:r>
              <a:rPr lang="hu-HU" dirty="0" smtClean="0"/>
              <a:t> vektor a szótár felett</a:t>
            </a:r>
            <a:endParaRPr lang="hu-HU" dirty="0" smtClean="0"/>
          </a:p>
          <a:p>
            <a:pPr lvl="2"/>
            <a:r>
              <a:rPr lang="hu-HU" dirty="0" smtClean="0"/>
              <a:t>Ha a bemeneti </a:t>
            </a:r>
            <a:r>
              <a:rPr lang="hu-HU" dirty="0" err="1" smtClean="0"/>
              <a:t>token</a:t>
            </a:r>
            <a:r>
              <a:rPr lang="hu-HU" dirty="0" smtClean="0"/>
              <a:t> </a:t>
            </a:r>
            <a:r>
              <a:rPr lang="hu-HU" b="1" dirty="0" err="1" smtClean="0"/>
              <a:t>maszkolva</a:t>
            </a:r>
            <a:r>
              <a:rPr lang="hu-HU" b="1" dirty="0" smtClean="0"/>
              <a:t> </a:t>
            </a:r>
            <a:r>
              <a:rPr lang="hu-HU" dirty="0" smtClean="0"/>
              <a:t>van: sokkal nehezebb feladat, a modellnek a</a:t>
            </a:r>
            <a:r>
              <a:rPr lang="hu-HU" dirty="0" smtClean="0"/>
              <a:t> </a:t>
            </a:r>
            <a:r>
              <a:rPr lang="hu-HU" b="1" dirty="0"/>
              <a:t>kontextus alapján </a:t>
            </a:r>
            <a:r>
              <a:rPr lang="hu-HU" dirty="0"/>
              <a:t>kell </a:t>
            </a:r>
            <a:r>
              <a:rPr lang="hu-HU" dirty="0" smtClean="0"/>
              <a:t>ki</a:t>
            </a:r>
            <a:r>
              <a:rPr lang="hu-HU" dirty="0" smtClean="0"/>
              <a:t>találnia, hogy a kitakart </a:t>
            </a:r>
            <a:r>
              <a:rPr lang="hu-HU" dirty="0" err="1" smtClean="0"/>
              <a:t>token</a:t>
            </a:r>
            <a:r>
              <a:rPr lang="hu-HU" dirty="0" smtClean="0"/>
              <a:t> a szótár melyik elemének felel meg valószínűleg.</a:t>
            </a:r>
          </a:p>
        </p:txBody>
      </p:sp>
    </p:spTree>
    <p:extLst>
      <p:ext uri="{BB962C8B-B14F-4D97-AF65-F5344CB8AC3E}">
        <p14:creationId xmlns:p14="http://schemas.microsoft.com/office/powerpoint/2010/main" val="606174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a:t>Kódoló </a:t>
            </a:r>
            <a:r>
              <a:rPr lang="hu-HU" dirty="0" err="1"/>
              <a:t>transzformerarchitektúra</a:t>
            </a:r>
            <a:endParaRPr lang="en-GB" dirty="0"/>
          </a:p>
        </p:txBody>
      </p:sp>
      <p:sp>
        <p:nvSpPr>
          <p:cNvPr id="3" name="Tartalom helye 2"/>
          <p:cNvSpPr>
            <a:spLocks noGrp="1"/>
          </p:cNvSpPr>
          <p:nvPr>
            <p:ph idx="1"/>
          </p:nvPr>
        </p:nvSpPr>
        <p:spPr/>
        <p:txBody>
          <a:bodyPr>
            <a:normAutofit fontScale="55000" lnSpcReduction="20000"/>
          </a:bodyPr>
          <a:lstStyle/>
          <a:p>
            <a:r>
              <a:rPr lang="hu-HU" b="1" dirty="0" err="1" smtClean="0"/>
              <a:t>BERT</a:t>
            </a:r>
            <a:r>
              <a:rPr lang="hu-HU" dirty="0" smtClean="0"/>
              <a:t> </a:t>
            </a:r>
            <a:r>
              <a:rPr lang="hu-HU" dirty="0" smtClean="0"/>
              <a:t>modellcsalád</a:t>
            </a:r>
            <a:endParaRPr lang="hu-HU" dirty="0" smtClean="0"/>
          </a:p>
          <a:p>
            <a:pPr lvl="1"/>
            <a:r>
              <a:rPr lang="hu-HU" dirty="0" err="1" smtClean="0"/>
              <a:t>Devlin</a:t>
            </a:r>
            <a:r>
              <a:rPr lang="hu-HU" dirty="0" smtClean="0"/>
              <a:t> </a:t>
            </a:r>
            <a:r>
              <a:rPr lang="hu-HU" dirty="0" smtClean="0"/>
              <a:t>és </a:t>
            </a:r>
            <a:r>
              <a:rPr lang="hu-HU" dirty="0" err="1" smtClean="0"/>
              <a:t>mtsai</a:t>
            </a:r>
            <a:r>
              <a:rPr lang="hu-HU" dirty="0" smtClean="0"/>
              <a:t>, </a:t>
            </a:r>
            <a:r>
              <a:rPr lang="en-GB" i="1" dirty="0">
                <a:hlinkClick r:id="rId2"/>
              </a:rPr>
              <a:t>BERT: Pre-training of Deep Bidirectional Transformers for Language </a:t>
            </a:r>
            <a:r>
              <a:rPr lang="en-GB" i="1" dirty="0" smtClean="0">
                <a:hlinkClick r:id="rId2"/>
              </a:rPr>
              <a:t>Understanding</a:t>
            </a:r>
            <a:r>
              <a:rPr lang="hu-HU" i="1" dirty="0" smtClean="0"/>
              <a:t>, </a:t>
            </a:r>
            <a:r>
              <a:rPr lang="hu-HU" dirty="0" smtClean="0"/>
              <a:t>2018</a:t>
            </a:r>
          </a:p>
          <a:p>
            <a:pPr lvl="1"/>
            <a:r>
              <a:rPr lang="hu-HU" dirty="0" smtClean="0"/>
              <a:t>500 </a:t>
            </a:r>
            <a:r>
              <a:rPr lang="hu-HU" dirty="0" err="1" smtClean="0"/>
              <a:t>tokenes</a:t>
            </a:r>
            <a:r>
              <a:rPr lang="hu-HU" dirty="0" smtClean="0"/>
              <a:t> ablakokra van korlátozva</a:t>
            </a:r>
          </a:p>
          <a:p>
            <a:pPr lvl="1"/>
            <a:r>
              <a:rPr lang="hu-HU" dirty="0" smtClean="0"/>
              <a:t>hosszabb kontextusokat 500 </a:t>
            </a:r>
            <a:r>
              <a:rPr lang="hu-HU" dirty="0" err="1" smtClean="0"/>
              <a:t>tokenre</a:t>
            </a:r>
            <a:r>
              <a:rPr lang="hu-HU" dirty="0" smtClean="0"/>
              <a:t> kell megvágni</a:t>
            </a:r>
          </a:p>
          <a:p>
            <a:pPr lvl="1"/>
            <a:r>
              <a:rPr lang="hu-HU" dirty="0" err="1" smtClean="0"/>
              <a:t>BERT-base</a:t>
            </a:r>
            <a:r>
              <a:rPr lang="hu-HU" dirty="0"/>
              <a:t>: N</a:t>
            </a:r>
            <a:r>
              <a:rPr lang="pt-BR" dirty="0"/>
              <a:t>=12, </a:t>
            </a:r>
            <a:r>
              <a:rPr lang="hu-HU" dirty="0"/>
              <a:t>k</a:t>
            </a:r>
            <a:r>
              <a:rPr lang="pt-BR" dirty="0"/>
              <a:t>=768, </a:t>
            </a:r>
            <a:r>
              <a:rPr lang="hu-HU" dirty="0"/>
              <a:t>h</a:t>
            </a:r>
            <a:r>
              <a:rPr lang="pt-BR" dirty="0"/>
              <a:t>=12, 110M </a:t>
            </a:r>
            <a:r>
              <a:rPr lang="hu-HU" dirty="0" smtClean="0"/>
              <a:t>paraméter</a:t>
            </a:r>
            <a:endParaRPr lang="hu-HU" dirty="0"/>
          </a:p>
          <a:p>
            <a:pPr lvl="1"/>
            <a:r>
              <a:rPr lang="hu-HU" dirty="0" err="1"/>
              <a:t>BERT-large</a:t>
            </a:r>
            <a:r>
              <a:rPr lang="hu-HU" dirty="0"/>
              <a:t>: N</a:t>
            </a:r>
            <a:r>
              <a:rPr lang="pt-BR" dirty="0"/>
              <a:t>=</a:t>
            </a:r>
            <a:r>
              <a:rPr lang="hu-HU" dirty="0"/>
              <a:t>24</a:t>
            </a:r>
            <a:r>
              <a:rPr lang="pt-BR" dirty="0"/>
              <a:t>, </a:t>
            </a:r>
            <a:r>
              <a:rPr lang="hu-HU" dirty="0"/>
              <a:t>k</a:t>
            </a:r>
            <a:r>
              <a:rPr lang="pt-BR" dirty="0"/>
              <a:t>=</a:t>
            </a:r>
            <a:r>
              <a:rPr lang="hu-HU" dirty="0"/>
              <a:t>1024</a:t>
            </a:r>
            <a:r>
              <a:rPr lang="pt-BR" dirty="0"/>
              <a:t>, </a:t>
            </a:r>
            <a:r>
              <a:rPr lang="hu-HU" dirty="0"/>
              <a:t>h</a:t>
            </a:r>
            <a:r>
              <a:rPr lang="pt-BR" dirty="0"/>
              <a:t>=1</a:t>
            </a:r>
            <a:r>
              <a:rPr lang="hu-HU" dirty="0"/>
              <a:t>6</a:t>
            </a:r>
            <a:r>
              <a:rPr lang="pt-BR" dirty="0"/>
              <a:t>, </a:t>
            </a:r>
            <a:r>
              <a:rPr lang="hu-HU" dirty="0"/>
              <a:t>340</a:t>
            </a:r>
            <a:r>
              <a:rPr lang="pt-BR" dirty="0"/>
              <a:t>M </a:t>
            </a:r>
            <a:r>
              <a:rPr lang="hu-HU" dirty="0" smtClean="0"/>
              <a:t>paraméter</a:t>
            </a:r>
            <a:endParaRPr lang="hu-HU" dirty="0" smtClean="0"/>
          </a:p>
          <a:p>
            <a:pPr lvl="1"/>
            <a:r>
              <a:rPr lang="hu-HU" dirty="0" smtClean="0"/>
              <a:t>másodlagos előtanítási feladat: következő mondat </a:t>
            </a:r>
            <a:r>
              <a:rPr lang="hu-HU" dirty="0" err="1" smtClean="0"/>
              <a:t>predikciója</a:t>
            </a:r>
            <a:endParaRPr lang="hu-HU" dirty="0" smtClean="0"/>
          </a:p>
          <a:p>
            <a:pPr lvl="2"/>
            <a:r>
              <a:rPr lang="hu-HU" dirty="0" smtClean="0"/>
              <a:t>a bemenet két mondatot tartalmaz, közöttük egy speciális </a:t>
            </a:r>
            <a:r>
              <a:rPr lang="hu-HU" dirty="0" err="1" smtClean="0"/>
              <a:t>elválasztótoken</a:t>
            </a:r>
            <a:r>
              <a:rPr lang="hu-HU" dirty="0" smtClean="0"/>
              <a:t> ([</a:t>
            </a:r>
            <a:r>
              <a:rPr lang="hu-HU" dirty="0" err="1" smtClean="0"/>
              <a:t>SEP</a:t>
            </a:r>
            <a:r>
              <a:rPr lang="hu-HU" dirty="0" smtClean="0"/>
              <a:t>]) van</a:t>
            </a:r>
          </a:p>
          <a:p>
            <a:pPr lvl="2"/>
            <a:r>
              <a:rPr lang="hu-HU" dirty="0" smtClean="0"/>
              <a:t>a második mondat az első után következik, vagy véletlenszerűen vannak párba állítva? (bináris osztályozás)</a:t>
            </a:r>
            <a:endParaRPr lang="hu-HU" dirty="0" smtClean="0"/>
          </a:p>
          <a:p>
            <a:pPr lvl="1"/>
            <a:r>
              <a:rPr lang="hu-HU" dirty="0" smtClean="0"/>
              <a:t>még egy </a:t>
            </a:r>
            <a:r>
              <a:rPr lang="hu-HU" dirty="0" err="1" smtClean="0"/>
              <a:t>BERT-base</a:t>
            </a:r>
            <a:r>
              <a:rPr lang="hu-HU" dirty="0" smtClean="0"/>
              <a:t> modell előtanítása is </a:t>
            </a:r>
            <a:r>
              <a:rPr lang="hu-HU" b="1" dirty="0" smtClean="0"/>
              <a:t>hetekig tart egyetlen </a:t>
            </a:r>
            <a:r>
              <a:rPr lang="hu-HU" b="1" dirty="0" err="1" smtClean="0"/>
              <a:t>GPU-n</a:t>
            </a:r>
            <a:endParaRPr lang="hu-HU" b="1" dirty="0" smtClean="0"/>
          </a:p>
          <a:p>
            <a:r>
              <a:rPr lang="hu-HU" dirty="0" smtClean="0"/>
              <a:t>Idővel sok </a:t>
            </a:r>
            <a:r>
              <a:rPr lang="hu-HU" b="1" dirty="0" smtClean="0"/>
              <a:t>fokozatos javítás, továbbfejlesztés</a:t>
            </a:r>
            <a:endParaRPr lang="hu-HU" b="1" dirty="0" smtClean="0"/>
          </a:p>
          <a:p>
            <a:pPr lvl="1"/>
            <a:r>
              <a:rPr lang="hu-HU" dirty="0" smtClean="0"/>
              <a:t>a jelenleg legjobban működő, a </a:t>
            </a:r>
            <a:r>
              <a:rPr lang="hu-HU" dirty="0" err="1" smtClean="0"/>
              <a:t>BERT</a:t>
            </a:r>
            <a:r>
              <a:rPr lang="hu-HU" dirty="0" smtClean="0"/>
              <a:t> családhoz tartozó kódoló modellek között említést érdeme az </a:t>
            </a:r>
            <a:r>
              <a:rPr lang="hu-HU" b="1" dirty="0" err="1" smtClean="0"/>
              <a:t>XLM-RoBERTa</a:t>
            </a:r>
            <a:r>
              <a:rPr lang="hu-HU" b="1" dirty="0" smtClean="0"/>
              <a:t> </a:t>
            </a:r>
            <a:r>
              <a:rPr lang="hu-HU" dirty="0" smtClean="0"/>
              <a:t>(2019) </a:t>
            </a:r>
            <a:r>
              <a:rPr lang="hu-HU" dirty="0" smtClean="0"/>
              <a:t>és a </a:t>
            </a:r>
            <a:r>
              <a:rPr lang="hu-HU" b="1" dirty="0" smtClean="0"/>
              <a:t>Modern </a:t>
            </a:r>
            <a:r>
              <a:rPr lang="hu-HU" b="1" dirty="0" err="1" smtClean="0"/>
              <a:t>BERT</a:t>
            </a:r>
            <a:r>
              <a:rPr lang="hu-HU" b="1" dirty="0" smtClean="0"/>
              <a:t> </a:t>
            </a:r>
            <a:r>
              <a:rPr lang="hu-HU" dirty="0" smtClean="0"/>
              <a:t>(2024)</a:t>
            </a:r>
          </a:p>
          <a:p>
            <a:pPr lvl="1"/>
            <a:r>
              <a:rPr lang="hu-HU" dirty="0" smtClean="0"/>
              <a:t>jobb előtanítási feladatok, pozíciókódolás</a:t>
            </a:r>
          </a:p>
          <a:p>
            <a:pPr lvl="1"/>
            <a:r>
              <a:rPr lang="hu-HU" dirty="0" smtClean="0"/>
              <a:t>a figyelmet hatékonyabban számító trükkök miatt jóval nagyobb </a:t>
            </a:r>
            <a:r>
              <a:rPr lang="hu-HU" dirty="0" err="1" smtClean="0"/>
              <a:t>kontextusablak</a:t>
            </a:r>
            <a:r>
              <a:rPr lang="hu-HU" dirty="0" smtClean="0"/>
              <a:t> (8192 </a:t>
            </a:r>
            <a:r>
              <a:rPr lang="hu-HU" dirty="0" err="1" smtClean="0"/>
              <a:t>token</a:t>
            </a:r>
            <a:r>
              <a:rPr lang="hu-HU" dirty="0" smtClean="0"/>
              <a:t>)</a:t>
            </a:r>
          </a:p>
          <a:p>
            <a:pPr lvl="1"/>
            <a:r>
              <a:rPr lang="hu-HU" dirty="0" smtClean="0"/>
              <a:t>a </a:t>
            </a:r>
            <a:r>
              <a:rPr lang="hu-HU" dirty="0" smtClean="0"/>
              <a:t>mai legjobb </a:t>
            </a:r>
            <a:r>
              <a:rPr lang="hu-HU" dirty="0" err="1" smtClean="0"/>
              <a:t>BERT</a:t>
            </a:r>
            <a:r>
              <a:rPr lang="hu-HU" dirty="0" smtClean="0"/>
              <a:t> jellegű modelleket hatalmas többnyelvű korpuszokon tanítják, amelyek több mint 2 billió (ezermilliárd) </a:t>
            </a:r>
            <a:r>
              <a:rPr lang="hu-HU" dirty="0" err="1" smtClean="0"/>
              <a:t>tokent</a:t>
            </a:r>
            <a:r>
              <a:rPr lang="hu-HU" dirty="0" smtClean="0"/>
              <a:t> tartalmaznak</a:t>
            </a:r>
            <a:endParaRPr lang="hu-HU" dirty="0" smtClean="0"/>
          </a:p>
        </p:txBody>
      </p:sp>
    </p:spTree>
    <p:extLst>
      <p:ext uri="{BB962C8B-B14F-4D97-AF65-F5344CB8AC3E}">
        <p14:creationId xmlns:p14="http://schemas.microsoft.com/office/powerpoint/2010/main" val="40467932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noAutofit/>
          </a:bodyPr>
          <a:lstStyle/>
          <a:p>
            <a:r>
              <a:rPr lang="hu-HU" sz="3600" dirty="0" smtClean="0"/>
              <a:t>Csak dekódoló </a:t>
            </a:r>
            <a:r>
              <a:rPr lang="hu-HU" sz="3600" dirty="0" err="1" smtClean="0"/>
              <a:t>transzformerarchitektúra</a:t>
            </a:r>
            <a:endParaRPr lang="en-GB" sz="3600" dirty="0"/>
          </a:p>
        </p:txBody>
      </p:sp>
      <p:sp>
        <p:nvSpPr>
          <p:cNvPr id="3" name="Tartalom helye 2"/>
          <p:cNvSpPr>
            <a:spLocks noGrp="1"/>
          </p:cNvSpPr>
          <p:nvPr>
            <p:ph idx="1"/>
          </p:nvPr>
        </p:nvSpPr>
        <p:spPr>
          <a:xfrm>
            <a:off x="457200" y="1600200"/>
            <a:ext cx="8291264" cy="4525963"/>
          </a:xfrm>
        </p:spPr>
        <p:txBody>
          <a:bodyPr>
            <a:normAutofit fontScale="62500" lnSpcReduction="20000"/>
          </a:bodyPr>
          <a:lstStyle/>
          <a:p>
            <a:r>
              <a:rPr lang="hu-HU" dirty="0" smtClean="0"/>
              <a:t>Leghíresebb képviselő: a </a:t>
            </a:r>
            <a:r>
              <a:rPr lang="hu-HU" b="1" dirty="0" err="1" smtClean="0"/>
              <a:t>GPT</a:t>
            </a:r>
            <a:r>
              <a:rPr lang="hu-HU" b="1" dirty="0" smtClean="0"/>
              <a:t> </a:t>
            </a:r>
            <a:r>
              <a:rPr lang="hu-HU" dirty="0" smtClean="0"/>
              <a:t>generatív </a:t>
            </a:r>
            <a:r>
              <a:rPr lang="hu-HU" dirty="0" err="1" smtClean="0"/>
              <a:t>nyelvmodellcsalád</a:t>
            </a:r>
            <a:endParaRPr lang="hu-HU" dirty="0" smtClean="0"/>
          </a:p>
          <a:p>
            <a:r>
              <a:rPr lang="hu-HU" b="1" dirty="0" smtClean="0"/>
              <a:t>Csak dekódoló</a:t>
            </a:r>
            <a:r>
              <a:rPr lang="hu-HU" b="1" dirty="0"/>
              <a:t>:</a:t>
            </a:r>
            <a:r>
              <a:rPr lang="hu-HU" b="1" dirty="0" smtClean="0"/>
              <a:t> </a:t>
            </a:r>
            <a:r>
              <a:rPr lang="hu-HU" dirty="0" smtClean="0"/>
              <a:t>arra utal, hogy ejtjük az eredeti </a:t>
            </a:r>
            <a:r>
              <a:rPr lang="hu-HU" dirty="0" err="1" smtClean="0"/>
              <a:t>transzformerarchitektúra</a:t>
            </a:r>
            <a:r>
              <a:rPr lang="hu-HU" dirty="0" smtClean="0"/>
              <a:t> bal, kódoló részét</a:t>
            </a:r>
            <a:endParaRPr lang="hu-HU" b="1" dirty="0" smtClean="0"/>
          </a:p>
          <a:p>
            <a:pPr lvl="1"/>
            <a:r>
              <a:rPr lang="hu-HU" dirty="0" smtClean="0"/>
              <a:t>A jobb fele egy </a:t>
            </a:r>
            <a:r>
              <a:rPr lang="hu-HU" dirty="0" err="1" smtClean="0"/>
              <a:t>autoregresszív</a:t>
            </a:r>
            <a:r>
              <a:rPr lang="hu-HU" dirty="0" smtClean="0"/>
              <a:t> generátormodell.</a:t>
            </a:r>
          </a:p>
          <a:p>
            <a:pPr lvl="1"/>
            <a:r>
              <a:rPr lang="hu-HU" dirty="0" smtClean="0"/>
              <a:t>Mive</a:t>
            </a:r>
            <a:r>
              <a:rPr lang="hu-HU" dirty="0" smtClean="0"/>
              <a:t>l így nincs kódoló, amelyre figyelni lehetne, a dekóderből kiesik a kódolóra figyelő réteg is.</a:t>
            </a:r>
            <a:endParaRPr lang="hu-HU" dirty="0" smtClean="0"/>
          </a:p>
          <a:p>
            <a:pPr lvl="1"/>
            <a:r>
              <a:rPr lang="hu-HU" dirty="0" smtClean="0"/>
              <a:t>Marad a generátor, amelyben csak önmagára irányuló figyelem van (a generátor bemenetét figyeli); ez a háló a következő </a:t>
            </a:r>
            <a:r>
              <a:rPr lang="hu-HU" dirty="0" err="1" smtClean="0"/>
              <a:t>token</a:t>
            </a:r>
            <a:r>
              <a:rPr lang="hu-HU" dirty="0" smtClean="0"/>
              <a:t> (az ún. „</a:t>
            </a:r>
            <a:r>
              <a:rPr lang="hu-HU" b="1" dirty="0" smtClean="0"/>
              <a:t>folytatás</a:t>
            </a:r>
            <a:r>
              <a:rPr lang="hu-HU" dirty="0" smtClean="0"/>
              <a:t>”) </a:t>
            </a:r>
            <a:r>
              <a:rPr lang="hu-HU" dirty="0" err="1" smtClean="0"/>
              <a:t>softmax</a:t>
            </a:r>
            <a:r>
              <a:rPr lang="hu-HU" dirty="0" smtClean="0"/>
              <a:t> valószínűségi eloszlását </a:t>
            </a:r>
            <a:r>
              <a:rPr lang="hu-HU" dirty="0" err="1" smtClean="0"/>
              <a:t>prediktálja</a:t>
            </a:r>
            <a:r>
              <a:rPr lang="hu-HU" dirty="0" smtClean="0"/>
              <a:t> a megelőző kontextus alapján.</a:t>
            </a:r>
          </a:p>
          <a:p>
            <a:pPr lvl="1"/>
            <a:r>
              <a:rPr lang="hu-HU" dirty="0" smtClean="0"/>
              <a:t>Ennek „csak dekódolóként” való leírása eléggé félrevezető, mivel a megelőző kontextust továbbra is kódolja ugyanúgy, mint egy csak kódoló </a:t>
            </a:r>
            <a:r>
              <a:rPr lang="hu-HU" dirty="0" err="1" smtClean="0"/>
              <a:t>transzformer</a:t>
            </a:r>
            <a:endParaRPr lang="hu-HU" dirty="0" smtClean="0"/>
          </a:p>
          <a:p>
            <a:pPr lvl="2"/>
            <a:r>
              <a:rPr lang="hu-HU" dirty="0" smtClean="0"/>
              <a:t>így tulajdonképpen helyesebb lenne olyan csak dekódoló modellként jellemezni, amelynek az utolsó, </a:t>
            </a:r>
            <a:r>
              <a:rPr lang="hu-HU" dirty="0" err="1" smtClean="0"/>
              <a:t>maszkolt</a:t>
            </a:r>
            <a:r>
              <a:rPr lang="hu-HU" dirty="0" smtClean="0"/>
              <a:t> </a:t>
            </a:r>
            <a:r>
              <a:rPr lang="hu-HU" dirty="0" err="1" smtClean="0"/>
              <a:t>tokenje</a:t>
            </a:r>
            <a:r>
              <a:rPr lang="hu-HU" dirty="0" smtClean="0"/>
              <a:t> fölé egyetlen </a:t>
            </a:r>
            <a:r>
              <a:rPr lang="hu-HU" dirty="0" err="1" smtClean="0"/>
              <a:t>softmax</a:t>
            </a:r>
            <a:r>
              <a:rPr lang="hu-HU" dirty="0" smtClean="0"/>
              <a:t> réteget kapcsolunk</a:t>
            </a:r>
          </a:p>
          <a:p>
            <a:pPr lvl="2"/>
            <a:r>
              <a:rPr lang="hu-HU" dirty="0" smtClean="0"/>
              <a:t>ennek ellenére „csak dekódolóként” hivatkozunk rá, mert így szokás nevezni ezt a modellarchitektúrát</a:t>
            </a:r>
            <a:endParaRPr lang="hu-HU" dirty="0" smtClean="0"/>
          </a:p>
        </p:txBody>
      </p:sp>
    </p:spTree>
    <p:extLst>
      <p:ext uri="{BB962C8B-B14F-4D97-AF65-F5344CB8AC3E}">
        <p14:creationId xmlns:p14="http://schemas.microsoft.com/office/powerpoint/2010/main" val="16098175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noAutofit/>
          </a:bodyPr>
          <a:lstStyle/>
          <a:p>
            <a:r>
              <a:rPr lang="hu-HU" sz="3600" dirty="0" smtClean="0"/>
              <a:t>Generálás csak dekódoló modellel</a:t>
            </a:r>
            <a:endParaRPr lang="en-GB" sz="3600" dirty="0"/>
          </a:p>
        </p:txBody>
      </p:sp>
      <p:sp>
        <p:nvSpPr>
          <p:cNvPr id="3" name="Tartalom helye 2"/>
          <p:cNvSpPr>
            <a:spLocks noGrp="1"/>
          </p:cNvSpPr>
          <p:nvPr>
            <p:ph idx="1"/>
          </p:nvPr>
        </p:nvSpPr>
        <p:spPr/>
        <p:txBody>
          <a:bodyPr>
            <a:normAutofit fontScale="55000" lnSpcReduction="20000"/>
          </a:bodyPr>
          <a:lstStyle/>
          <a:p>
            <a:r>
              <a:rPr lang="hu-HU" dirty="0" smtClean="0"/>
              <a:t>A megelőző kontextus általában nem üres kezdetben, ennek kevés haszna lenne.</a:t>
            </a:r>
          </a:p>
          <a:p>
            <a:r>
              <a:rPr lang="hu-HU" dirty="0" smtClean="0"/>
              <a:t>Hanem egy konkrét, </a:t>
            </a:r>
            <a:r>
              <a:rPr lang="hu-HU" b="1" dirty="0" smtClean="0"/>
              <a:t>előre megadott bemeneti szöveggel </a:t>
            </a:r>
            <a:r>
              <a:rPr lang="hu-HU" dirty="0" smtClean="0"/>
              <a:t>inicializáljuk.</a:t>
            </a:r>
          </a:p>
          <a:p>
            <a:r>
              <a:rPr lang="hu-HU" dirty="0" smtClean="0"/>
              <a:t>Ezt </a:t>
            </a:r>
            <a:r>
              <a:rPr lang="hu-HU" dirty="0" err="1" smtClean="0"/>
              <a:t>tokenizáljuk</a:t>
            </a:r>
            <a:r>
              <a:rPr lang="hu-HU" dirty="0" smtClean="0"/>
              <a:t>, beágyazásvektorokra képezzük le.</a:t>
            </a:r>
            <a:endParaRPr lang="hu-HU" dirty="0" smtClean="0"/>
          </a:p>
          <a:p>
            <a:r>
              <a:rPr lang="hu-HU" b="1" dirty="0" err="1" smtClean="0"/>
              <a:t>LLM-chatbotok</a:t>
            </a:r>
            <a:r>
              <a:rPr lang="hu-HU" b="1" dirty="0" err="1" smtClean="0"/>
              <a:t>ról</a:t>
            </a:r>
            <a:r>
              <a:rPr lang="hu-HU" b="1" dirty="0" smtClean="0"/>
              <a:t> </a:t>
            </a:r>
            <a:r>
              <a:rPr lang="hu-HU" dirty="0" smtClean="0"/>
              <a:t>beszélve ezt az előre megadott </a:t>
            </a:r>
            <a:r>
              <a:rPr lang="hu-HU" b="1" dirty="0" smtClean="0"/>
              <a:t>bemeneti szöveget </a:t>
            </a:r>
            <a:r>
              <a:rPr lang="hu-HU" dirty="0" smtClean="0"/>
              <a:t>általában </a:t>
            </a:r>
            <a:r>
              <a:rPr lang="hu-HU" b="1" dirty="0" smtClean="0"/>
              <a:t>promptnak </a:t>
            </a:r>
            <a:r>
              <a:rPr lang="hu-HU" dirty="0" smtClean="0"/>
              <a:t>nevezzük.</a:t>
            </a:r>
            <a:endParaRPr lang="hu-HU" dirty="0" smtClean="0"/>
          </a:p>
          <a:p>
            <a:r>
              <a:rPr lang="hu-HU" dirty="0" smtClean="0"/>
              <a:t>Utána a generatív modell </a:t>
            </a:r>
            <a:r>
              <a:rPr lang="hu-HU" b="1" dirty="0" smtClean="0"/>
              <a:t>folytatja </a:t>
            </a:r>
            <a:r>
              <a:rPr lang="hu-HU" dirty="0" smtClean="0"/>
              <a:t>a bemenetet </a:t>
            </a:r>
            <a:r>
              <a:rPr lang="hu-HU" b="1" dirty="0" err="1" smtClean="0"/>
              <a:t>tokenről</a:t>
            </a:r>
            <a:r>
              <a:rPr lang="hu-HU" b="1" dirty="0" smtClean="0"/>
              <a:t> </a:t>
            </a:r>
            <a:r>
              <a:rPr lang="hu-HU" b="1" dirty="0" err="1" smtClean="0"/>
              <a:t>tokenre</a:t>
            </a:r>
            <a:r>
              <a:rPr lang="hu-HU" dirty="0" smtClean="0"/>
              <a:t>.</a:t>
            </a:r>
          </a:p>
          <a:p>
            <a:pPr lvl="1"/>
            <a:r>
              <a:rPr lang="hu-HU" dirty="0" smtClean="0"/>
              <a:t>A következő </a:t>
            </a:r>
            <a:r>
              <a:rPr lang="hu-HU" dirty="0" err="1" smtClean="0"/>
              <a:t>token</a:t>
            </a:r>
            <a:r>
              <a:rPr lang="hu-HU" dirty="0" smtClean="0"/>
              <a:t> generálása úgy történik, hogy véletlen mintát veszünk a </a:t>
            </a:r>
            <a:r>
              <a:rPr lang="hu-HU" dirty="0" err="1" smtClean="0"/>
              <a:t>prediktált</a:t>
            </a:r>
            <a:r>
              <a:rPr lang="hu-HU" dirty="0" smtClean="0"/>
              <a:t> </a:t>
            </a:r>
            <a:r>
              <a:rPr lang="hu-HU" dirty="0" err="1" smtClean="0"/>
              <a:t>softmax-eloszlásból</a:t>
            </a:r>
            <a:r>
              <a:rPr lang="hu-HU" dirty="0" smtClean="0"/>
              <a:t>.</a:t>
            </a:r>
          </a:p>
          <a:p>
            <a:r>
              <a:rPr lang="hu-HU" dirty="0" smtClean="0"/>
              <a:t>A korábban látott kódoló-dekódoló modellhez hasonlóan a </a:t>
            </a:r>
            <a:r>
              <a:rPr lang="hu-HU" b="1" dirty="0" smtClean="0"/>
              <a:t>legutóbb generált </a:t>
            </a:r>
            <a:r>
              <a:rPr lang="hu-HU" b="1" dirty="0" err="1" smtClean="0"/>
              <a:t>token</a:t>
            </a:r>
            <a:r>
              <a:rPr lang="hu-HU" b="1" dirty="0" err="1" smtClean="0"/>
              <a:t>t</a:t>
            </a:r>
            <a:r>
              <a:rPr lang="hu-HU" b="1" dirty="0" smtClean="0"/>
              <a:t> </a:t>
            </a:r>
            <a:r>
              <a:rPr lang="hu-HU" dirty="0" smtClean="0"/>
              <a:t>leképezzük a megfelelő </a:t>
            </a:r>
            <a:r>
              <a:rPr lang="hu-HU" dirty="0" err="1" smtClean="0"/>
              <a:t>tokenbeágyazás-vektorra</a:t>
            </a:r>
            <a:r>
              <a:rPr lang="hu-HU" dirty="0" smtClean="0"/>
              <a:t>, majd </a:t>
            </a:r>
            <a:r>
              <a:rPr lang="hu-HU" b="1" dirty="0" err="1" smtClean="0"/>
              <a:t>konkatenáljuk</a:t>
            </a:r>
            <a:r>
              <a:rPr lang="hu-HU" b="1" dirty="0" smtClean="0"/>
              <a:t> a megelőző bemeneti vektorok mátrixához</a:t>
            </a:r>
            <a:r>
              <a:rPr lang="hu-HU" dirty="0" smtClean="0"/>
              <a:t>.</a:t>
            </a:r>
            <a:endParaRPr lang="hu-HU" dirty="0" smtClean="0"/>
          </a:p>
          <a:p>
            <a:r>
              <a:rPr lang="hu-HU" dirty="0" smtClean="0"/>
              <a:t>Következmény: A </a:t>
            </a:r>
            <a:r>
              <a:rPr lang="hu-HU" b="1" dirty="0" smtClean="0"/>
              <a:t>bemenet és a generált kimenet nem váli</a:t>
            </a:r>
            <a:r>
              <a:rPr lang="hu-HU" b="1" dirty="0" smtClean="0"/>
              <a:t>k el egymástól </a:t>
            </a:r>
            <a:r>
              <a:rPr lang="hu-HU" dirty="0" smtClean="0"/>
              <a:t>a </a:t>
            </a:r>
            <a:r>
              <a:rPr lang="hu-HU" dirty="0" err="1" smtClean="0"/>
              <a:t>model</a:t>
            </a:r>
            <a:r>
              <a:rPr lang="hu-HU" dirty="0" smtClean="0"/>
              <a:t> számára, mindkettő ugyanabban a </a:t>
            </a:r>
            <a:r>
              <a:rPr lang="hu-HU" dirty="0" err="1" smtClean="0"/>
              <a:t>kontextusablakban</a:t>
            </a:r>
            <a:r>
              <a:rPr lang="hu-HU" dirty="0" smtClean="0"/>
              <a:t> él.</a:t>
            </a:r>
            <a:endParaRPr lang="hu-HU" dirty="0" smtClean="0"/>
          </a:p>
          <a:p>
            <a:pPr lvl="1"/>
            <a:r>
              <a:rPr lang="hu-HU" dirty="0" smtClean="0"/>
              <a:t>Speciális </a:t>
            </a:r>
            <a:r>
              <a:rPr lang="hu-HU" dirty="0" err="1" smtClean="0"/>
              <a:t>elválasztótokent</a:t>
            </a:r>
            <a:r>
              <a:rPr lang="hu-HU" dirty="0" smtClean="0"/>
              <a:t> lehetne használni erre a célra.</a:t>
            </a:r>
          </a:p>
          <a:p>
            <a:pPr lvl="1"/>
            <a:r>
              <a:rPr lang="hu-HU" dirty="0" smtClean="0"/>
              <a:t>Általában inkább </a:t>
            </a:r>
            <a:r>
              <a:rPr lang="hu-HU" b="1" dirty="0" err="1" smtClean="0"/>
              <a:t>markup</a:t>
            </a:r>
            <a:r>
              <a:rPr lang="hu-HU" b="1" dirty="0" err="1" smtClean="0"/>
              <a:t>szerű</a:t>
            </a:r>
            <a:r>
              <a:rPr lang="hu-HU" b="1" dirty="0" smtClean="0"/>
              <a:t> </a:t>
            </a:r>
            <a:r>
              <a:rPr lang="hu-HU" b="1" dirty="0" smtClean="0"/>
              <a:t>címkékkel választják el </a:t>
            </a:r>
            <a:r>
              <a:rPr lang="hu-HU" dirty="0" smtClean="0"/>
              <a:t>a promptot és a folytatást.</a:t>
            </a:r>
          </a:p>
          <a:p>
            <a:pPr lvl="1"/>
            <a:r>
              <a:rPr lang="hu-HU" dirty="0" smtClean="0"/>
              <a:t>Hozzá lehetne egy speciális beágyazásvektort is a </a:t>
            </a:r>
            <a:r>
              <a:rPr lang="hu-HU" dirty="0" err="1" smtClean="0"/>
              <a:t>tokenekhez</a:t>
            </a:r>
            <a:r>
              <a:rPr lang="hu-HU" dirty="0" smtClean="0"/>
              <a:t>, amelyek egyértelműen megkülönböztetik a promptból származó és a generált bemeneti </a:t>
            </a:r>
            <a:r>
              <a:rPr lang="hu-HU" dirty="0" err="1" smtClean="0"/>
              <a:t>tokeneket</a:t>
            </a:r>
            <a:r>
              <a:rPr lang="hu-HU" dirty="0" smtClean="0"/>
              <a:t>, de ezt a megoldást általában nem alkalmazzák.</a:t>
            </a:r>
            <a:endParaRPr lang="en-GB" dirty="0"/>
          </a:p>
        </p:txBody>
      </p:sp>
    </p:spTree>
    <p:extLst>
      <p:ext uri="{BB962C8B-B14F-4D97-AF65-F5344CB8AC3E}">
        <p14:creationId xmlns:p14="http://schemas.microsoft.com/office/powerpoint/2010/main" val="770002724"/>
      </p:ext>
    </p:extLst>
  </p:cSld>
  <p:clrMapOvr>
    <a:masterClrMapping/>
  </p:clrMapOvr>
</p:sld>
</file>

<file path=ppt/theme/theme1.xml><?xml version="1.0" encoding="utf-8"?>
<a:theme xmlns:a="http://schemas.openxmlformats.org/drawingml/2006/main" name="Office-téma">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téma">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7253</TotalTime>
  <Words>4527</Words>
  <Application>Microsoft Office PowerPoint</Application>
  <PresentationFormat>Diavetítés a képernyőre (4:3 oldalarány)</PresentationFormat>
  <Paragraphs>343</Paragraphs>
  <Slides>29</Slides>
  <Notes>1</Notes>
  <HiddenSlides>0</HiddenSlides>
  <MMClips>0</MMClips>
  <ScaleCrop>false</ScaleCrop>
  <HeadingPairs>
    <vt:vector size="4" baseType="variant">
      <vt:variant>
        <vt:lpstr>Téma</vt:lpstr>
      </vt:variant>
      <vt:variant>
        <vt:i4>1</vt:i4>
      </vt:variant>
      <vt:variant>
        <vt:lpstr>Diacímek</vt:lpstr>
      </vt:variant>
      <vt:variant>
        <vt:i4>29</vt:i4>
      </vt:variant>
    </vt:vector>
  </HeadingPairs>
  <TitlesOfParts>
    <vt:vector size="30" baseType="lpstr">
      <vt:lpstr>Office-téma</vt:lpstr>
      <vt:lpstr>Generatív mesterséges intelligencia Szöveggenerálás mélytanulási modellekkel</vt:lpstr>
      <vt:lpstr>Természetes nyelvek feldolgozása</vt:lpstr>
      <vt:lpstr>Előzmények</vt:lpstr>
      <vt:lpstr>Előzmények</vt:lpstr>
      <vt:lpstr>Szöveggenerálás MI-vel</vt:lpstr>
      <vt:lpstr>Gépi fordítás és kivonatolás</vt:lpstr>
      <vt:lpstr>Szekvenciák feldolgozása mély neurális hálókkal</vt:lpstr>
      <vt:lpstr>Rekurrens neurális hálók</vt:lpstr>
      <vt:lpstr>Rekurrens neurális architektúrák</vt:lpstr>
      <vt:lpstr>Rekurrens neurális architektúrák</vt:lpstr>
      <vt:lpstr>Rekurrens neurális hálók típusai</vt:lpstr>
      <vt:lpstr>Rekurrens hálók technikai nehézségei</vt:lpstr>
      <vt:lpstr>Szavak ábrázolása vektortérben</vt:lpstr>
      <vt:lpstr>Figyelem</vt:lpstr>
      <vt:lpstr>Figyelem</vt:lpstr>
      <vt:lpstr>Figyelem</vt:lpstr>
      <vt:lpstr>Többfejű figyelem</vt:lpstr>
      <vt:lpstr>Transzformer</vt:lpstr>
      <vt:lpstr>Többfejű figyelem a transzformerekben</vt:lpstr>
      <vt:lpstr>Further Components of the Transformer </vt:lpstr>
      <vt:lpstr>Bemenet, kimenet és pozíció kódolása</vt:lpstr>
      <vt:lpstr>Transzformerek bonyolultsága</vt:lpstr>
      <vt:lpstr>Tokenizálás</vt:lpstr>
      <vt:lpstr>Kódoló-dekódoló transzformermodellek</vt:lpstr>
      <vt:lpstr>Kódoló transzformerarchitektúra</vt:lpstr>
      <vt:lpstr>Kódoló transzformerarchitektúra</vt:lpstr>
      <vt:lpstr>Kódoló transzformerarchitektúra</vt:lpstr>
      <vt:lpstr>Csak dekódoló transzformerarchitektúra</vt:lpstr>
      <vt:lpstr>Generálás csak dekódoló modellel</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Generatív mesterséges intelligencia Szöveggenerálás mélytanulási modellekkel</dc:title>
  <dc:creator>Anonim</dc:creator>
  <cp:lastModifiedBy>Anonim</cp:lastModifiedBy>
  <cp:revision>68</cp:revision>
  <dcterms:created xsi:type="dcterms:W3CDTF">2025-11-19T13:27:35Z</dcterms:created>
  <dcterms:modified xsi:type="dcterms:W3CDTF">2025-12-03T23:01:00Z</dcterms:modified>
</cp:coreProperties>
</file>