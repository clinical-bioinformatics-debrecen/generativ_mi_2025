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91" r:id="rId2"/>
    <p:sldId id="293" r:id="rId3"/>
    <p:sldId id="313" r:id="rId4"/>
    <p:sldId id="314" r:id="rId5"/>
    <p:sldId id="315" r:id="rId6"/>
    <p:sldId id="301" r:id="rId7"/>
    <p:sldId id="316" r:id="rId8"/>
    <p:sldId id="302" r:id="rId9"/>
    <p:sldId id="303" r:id="rId10"/>
    <p:sldId id="308" r:id="rId11"/>
    <p:sldId id="309" r:id="rId12"/>
    <p:sldId id="304" r:id="rId13"/>
    <p:sldId id="305" r:id="rId14"/>
    <p:sldId id="307" r:id="rId15"/>
    <p:sldId id="306" r:id="rId16"/>
    <p:sldId id="310" r:id="rId17"/>
    <p:sldId id="311" r:id="rId18"/>
    <p:sldId id="312" r:id="rId19"/>
    <p:sldId id="317" r:id="rId20"/>
    <p:sldId id="318" r:id="rId21"/>
    <p:sldId id="319" r:id="rId22"/>
    <p:sldId id="320" r:id="rId23"/>
    <p:sldId id="321" r:id="rId24"/>
    <p:sldId id="322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674" autoAdjust="0"/>
    <p:restoredTop sz="94660"/>
  </p:normalViewPr>
  <p:slideViewPr>
    <p:cSldViewPr>
      <p:cViewPr varScale="1">
        <p:scale>
          <a:sx n="91" d="100"/>
          <a:sy n="91" d="100"/>
        </p:scale>
        <p:origin x="-837" y="-12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F8D08A-0320-428D-8F0D-AF67C5CF67FF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7A67D8-81A2-4C40-907D-EC4BC1D9B2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0124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7A67D8-81A2-4C40-907D-EC4BC1D9B23E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53165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7A67D8-81A2-4C40-907D-EC4BC1D9B23E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298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Alcím mintájának szerkesztése</a:t>
            </a:r>
            <a:endParaRPr lang="en-GB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E2DC6-35D3-402D-B58D-EF0A5A3588AA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7A4E-A8D9-4439-BD8D-AD9F1B579C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7938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E2DC6-35D3-402D-B58D-EF0A5A3588AA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7A4E-A8D9-4439-BD8D-AD9F1B579C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0157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E2DC6-35D3-402D-B58D-EF0A5A3588AA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7A4E-A8D9-4439-BD8D-AD9F1B579C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6824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E2DC6-35D3-402D-B58D-EF0A5A3588AA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7A4E-A8D9-4439-BD8D-AD9F1B579C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3796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E2DC6-35D3-402D-B58D-EF0A5A3588AA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7A4E-A8D9-4439-BD8D-AD9F1B579C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6798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E2DC6-35D3-402D-B58D-EF0A5A3588AA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7A4E-A8D9-4439-BD8D-AD9F1B579C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3787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E2DC6-35D3-402D-B58D-EF0A5A3588AA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7A4E-A8D9-4439-BD8D-AD9F1B579C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0531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E2DC6-35D3-402D-B58D-EF0A5A3588AA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7A4E-A8D9-4439-BD8D-AD9F1B579C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2978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E2DC6-35D3-402D-B58D-EF0A5A3588AA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7A4E-A8D9-4439-BD8D-AD9F1B579C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6880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E2DC6-35D3-402D-B58D-EF0A5A3588AA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7A4E-A8D9-4439-BD8D-AD9F1B579C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2830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E2DC6-35D3-402D-B58D-EF0A5A3588AA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7A4E-A8D9-4439-BD8D-AD9F1B579C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8408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E2DC6-35D3-402D-B58D-EF0A5A3588AA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A7A4E-A8D9-4439-BD8D-AD9F1B579C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7734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Generatív mesterséges intelligencia</a:t>
            </a:r>
            <a:r>
              <a:rPr lang="hu-HU" dirty="0" smtClean="0"/>
              <a:t/>
            </a:r>
            <a:br>
              <a:rPr lang="hu-HU" dirty="0" smtClean="0"/>
            </a:br>
            <a:r>
              <a:rPr lang="hu-HU" sz="3600" i="1" dirty="0" smtClean="0"/>
              <a:t>Mélytanulás és az </a:t>
            </a:r>
            <a:r>
              <a:rPr lang="hu-HU" sz="3600" i="1" dirty="0" err="1" smtClean="0"/>
              <a:t>MI-kutatás</a:t>
            </a:r>
            <a:r>
              <a:rPr lang="hu-HU" sz="3600" i="1" dirty="0" smtClean="0"/>
              <a:t> állása ma</a:t>
            </a:r>
            <a:endParaRPr lang="en-GB" i="1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hu-HU" dirty="0" smtClean="0"/>
              <a:t>2025.10.09.</a:t>
            </a:r>
            <a:endParaRPr lang="hu-HU" dirty="0"/>
          </a:p>
          <a:p>
            <a:r>
              <a:rPr lang="hu-HU" dirty="0"/>
              <a:t>Pethő Gergely</a:t>
            </a:r>
          </a:p>
          <a:p>
            <a:r>
              <a:rPr lang="hu-HU" dirty="0"/>
              <a:t>DE </a:t>
            </a:r>
            <a:r>
              <a:rPr lang="hu-HU" dirty="0" err="1"/>
              <a:t>ETK</a:t>
            </a:r>
            <a:r>
              <a:rPr lang="hu-HU" dirty="0"/>
              <a:t> </a:t>
            </a:r>
            <a:r>
              <a:rPr lang="hu-HU" dirty="0" err="1"/>
              <a:t>Bioinformatikai</a:t>
            </a:r>
            <a:r>
              <a:rPr lang="hu-HU" dirty="0"/>
              <a:t> Tanszék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989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Mélytanulás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u-HU" dirty="0" smtClean="0"/>
              <a:t>A mélytanulás olyan </a:t>
            </a:r>
            <a:r>
              <a:rPr lang="hu-HU" b="1" dirty="0" smtClean="0"/>
              <a:t>gépi tanulást </a:t>
            </a:r>
            <a:r>
              <a:rPr lang="hu-HU" dirty="0" smtClean="0"/>
              <a:t>jelent, amely </a:t>
            </a:r>
            <a:r>
              <a:rPr lang="hu-HU" b="1" dirty="0" smtClean="0"/>
              <a:t>mély neurális hálókkal </a:t>
            </a:r>
            <a:r>
              <a:rPr lang="hu-HU" dirty="0" smtClean="0"/>
              <a:t>történik:</a:t>
            </a:r>
          </a:p>
          <a:p>
            <a:pPr lvl="1"/>
            <a:r>
              <a:rPr lang="hu-HU" dirty="0" smtClean="0"/>
              <a:t>neurális háló:</a:t>
            </a:r>
          </a:p>
          <a:p>
            <a:r>
              <a:rPr lang="hu-HU" dirty="0" smtClean="0"/>
              <a:t>A neurális háló mélynek számít, ha </a:t>
            </a:r>
            <a:r>
              <a:rPr lang="hu-HU" b="1" dirty="0" smtClean="0"/>
              <a:t>több mint két rejtett rétege </a:t>
            </a:r>
            <a:r>
              <a:rPr lang="hu-HU" dirty="0" smtClean="0"/>
              <a:t>van</a:t>
            </a:r>
          </a:p>
          <a:p>
            <a:pPr lvl="1"/>
            <a:r>
              <a:rPr lang="hu-HU" dirty="0" smtClean="0"/>
              <a:t>számuk tipikusan 10-nél kevesebb és néhány tucat közé esik</a:t>
            </a:r>
          </a:p>
          <a:p>
            <a:pPr lvl="1"/>
            <a:r>
              <a:rPr lang="hu-HU" dirty="0" smtClean="0"/>
              <a:t>réteg:</a:t>
            </a:r>
          </a:p>
          <a:p>
            <a:pPr lvl="1"/>
            <a:r>
              <a:rPr lang="hu-HU" dirty="0" smtClean="0"/>
              <a:t>rejtett réteg: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099043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Mélytanulás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hu-HU" dirty="0" smtClean="0"/>
              <a:t>A mélytanulás olyan </a:t>
            </a:r>
            <a:r>
              <a:rPr lang="hu-HU" b="1" dirty="0" smtClean="0"/>
              <a:t>gépi tanulást </a:t>
            </a:r>
            <a:r>
              <a:rPr lang="hu-HU" dirty="0" smtClean="0"/>
              <a:t>jelent, amely </a:t>
            </a:r>
            <a:r>
              <a:rPr lang="hu-HU" b="1" dirty="0" smtClean="0"/>
              <a:t>mély neurális hálókkal </a:t>
            </a:r>
            <a:r>
              <a:rPr lang="hu-HU" dirty="0" smtClean="0"/>
              <a:t>történik:</a:t>
            </a:r>
          </a:p>
          <a:p>
            <a:pPr lvl="1"/>
            <a:r>
              <a:rPr lang="hu-HU" dirty="0" smtClean="0"/>
              <a:t>neurális háló: olyan matematikai függvény, amely vektor- és mátrixszorzásokból és a szorzatokra alkalmazott lineáris függvényekből tevődik össze</a:t>
            </a:r>
          </a:p>
          <a:p>
            <a:r>
              <a:rPr lang="hu-HU" dirty="0" smtClean="0"/>
              <a:t>A neurális háló mélynek számít, ha </a:t>
            </a:r>
            <a:r>
              <a:rPr lang="hu-HU" b="1" dirty="0" smtClean="0"/>
              <a:t>több mint két rejtett rétege </a:t>
            </a:r>
            <a:r>
              <a:rPr lang="hu-HU" dirty="0" smtClean="0"/>
              <a:t>van</a:t>
            </a:r>
          </a:p>
          <a:p>
            <a:pPr lvl="1"/>
            <a:r>
              <a:rPr lang="hu-HU" dirty="0" smtClean="0"/>
              <a:t>számuk tipikusan 10-nél kevesebb és néhány tucat közé esik</a:t>
            </a:r>
          </a:p>
          <a:p>
            <a:pPr lvl="1"/>
            <a:r>
              <a:rPr lang="hu-HU" dirty="0" smtClean="0"/>
              <a:t>réteg:</a:t>
            </a:r>
          </a:p>
          <a:p>
            <a:pPr lvl="1"/>
            <a:r>
              <a:rPr lang="hu-HU" dirty="0" smtClean="0"/>
              <a:t>rejtett réteg: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166891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Mélytanulás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hu-HU" dirty="0" smtClean="0"/>
              <a:t>A mélytanulás olyan </a:t>
            </a:r>
            <a:r>
              <a:rPr lang="hu-HU" b="1" dirty="0" smtClean="0"/>
              <a:t>gépi tanulást </a:t>
            </a:r>
            <a:r>
              <a:rPr lang="hu-HU" dirty="0" smtClean="0"/>
              <a:t>jelent, amely </a:t>
            </a:r>
            <a:r>
              <a:rPr lang="hu-HU" b="1" dirty="0" smtClean="0"/>
              <a:t>mély neurális hálókkal </a:t>
            </a:r>
            <a:r>
              <a:rPr lang="hu-HU" dirty="0" smtClean="0"/>
              <a:t>történik:</a:t>
            </a:r>
          </a:p>
          <a:p>
            <a:pPr lvl="1"/>
            <a:r>
              <a:rPr lang="hu-HU" dirty="0" smtClean="0"/>
              <a:t>neurális háló: olyan matematikai függvény, amely vektor- és mátrixszorzásokból és a szorzatokra alkalmazott lineáris függvényekből tevődik össze</a:t>
            </a:r>
          </a:p>
          <a:p>
            <a:r>
              <a:rPr lang="hu-HU" dirty="0" smtClean="0"/>
              <a:t>A neurális háló mélynek számít, ha </a:t>
            </a:r>
            <a:r>
              <a:rPr lang="hu-HU" b="1" dirty="0" smtClean="0"/>
              <a:t>több mint két rejtett rétege </a:t>
            </a:r>
            <a:r>
              <a:rPr lang="hu-HU" dirty="0" smtClean="0"/>
              <a:t>van</a:t>
            </a:r>
          </a:p>
          <a:p>
            <a:pPr lvl="1"/>
            <a:r>
              <a:rPr lang="hu-HU" dirty="0" smtClean="0"/>
              <a:t>számuk tipikusan 10-nél kevesebb és néhány tucat közé esik</a:t>
            </a:r>
          </a:p>
          <a:p>
            <a:pPr lvl="1"/>
            <a:r>
              <a:rPr lang="hu-HU" dirty="0" smtClean="0"/>
              <a:t>réteg: a neurális háló számítási gráfjában szereplő olyan csúcsok halmaza, amely csúcsok mindegyikébe ugyanazon más csúcsok halmazából vezetnek élek (általában az eggyel alacsonyabb rétegből)</a:t>
            </a:r>
          </a:p>
          <a:p>
            <a:pPr lvl="1"/>
            <a:r>
              <a:rPr lang="hu-HU" dirty="0" smtClean="0"/>
              <a:t>rejtett réteg: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778759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Mélytanulás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hu-HU" dirty="0" smtClean="0"/>
              <a:t>A mélytanulás olyan </a:t>
            </a:r>
            <a:r>
              <a:rPr lang="hu-HU" b="1" dirty="0" smtClean="0"/>
              <a:t>gépi tanulást </a:t>
            </a:r>
            <a:r>
              <a:rPr lang="hu-HU" dirty="0" smtClean="0"/>
              <a:t>jelent, amely </a:t>
            </a:r>
            <a:r>
              <a:rPr lang="hu-HU" b="1" dirty="0" smtClean="0"/>
              <a:t>mély neurális hálókkal </a:t>
            </a:r>
            <a:r>
              <a:rPr lang="hu-HU" dirty="0" smtClean="0"/>
              <a:t>történik:</a:t>
            </a:r>
          </a:p>
          <a:p>
            <a:pPr lvl="1"/>
            <a:r>
              <a:rPr lang="hu-HU" dirty="0" smtClean="0"/>
              <a:t>neurális háló: olyan matematikai függvény, amely vektor- és mátrixszorzásokból és a szorzatokra alkalmazott lineáris függvényekből tevődik össze</a:t>
            </a:r>
          </a:p>
          <a:p>
            <a:r>
              <a:rPr lang="hu-HU" dirty="0" smtClean="0"/>
              <a:t>A neurális háló mélynek számít, ha </a:t>
            </a:r>
            <a:r>
              <a:rPr lang="hu-HU" b="1" dirty="0" smtClean="0"/>
              <a:t>több mint két rejtett rétege </a:t>
            </a:r>
            <a:r>
              <a:rPr lang="hu-HU" dirty="0" smtClean="0"/>
              <a:t>van</a:t>
            </a:r>
          </a:p>
          <a:p>
            <a:pPr lvl="1"/>
            <a:r>
              <a:rPr lang="hu-HU" dirty="0" smtClean="0"/>
              <a:t>számuk tipikusan 10-nél kevesebb és néhány tucat közé esik</a:t>
            </a:r>
          </a:p>
          <a:p>
            <a:pPr lvl="1"/>
            <a:r>
              <a:rPr lang="hu-HU" dirty="0" smtClean="0"/>
              <a:t>réteg: a neurális háló számítási gráfjában szereplő olyan csúcsok halmaza, amely csúcsok mindegyikébe ugyanazon más csúcsok halmazából vezetnek élek (általában az eggyel alacsonyabb rétegből)</a:t>
            </a:r>
          </a:p>
          <a:p>
            <a:pPr lvl="1"/>
            <a:r>
              <a:rPr lang="hu-HU" dirty="0" smtClean="0"/>
              <a:t>rejtett </a:t>
            </a:r>
            <a:r>
              <a:rPr lang="hu-HU" dirty="0"/>
              <a:t>réteg</a:t>
            </a:r>
            <a:r>
              <a:rPr lang="hu-HU" dirty="0" smtClean="0"/>
              <a:t>: olyan réteg, amely nem a bemeneti, és nem a kimeneti réteg</a:t>
            </a:r>
            <a:endParaRPr lang="hu-HU" dirty="0"/>
          </a:p>
          <a:p>
            <a:pPr lvl="2"/>
            <a:r>
              <a:rPr lang="hu-HU" dirty="0" smtClean="0"/>
              <a:t>neuronjainak aktivációját közvetlenül vagy közvetetten a bemeneti rétegből számítja ki a gép</a:t>
            </a:r>
          </a:p>
        </p:txBody>
      </p:sp>
    </p:spTree>
    <p:extLst>
      <p:ext uri="{BB962C8B-B14F-4D97-AF65-F5344CB8AC3E}">
        <p14:creationId xmlns:p14="http://schemas.microsoft.com/office/powerpoint/2010/main" val="1923405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Mélytanulás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dirty="0" smtClean="0"/>
              <a:t>Bár ez nem következik a rétegek számából, a mély neurális hálóknak általában </a:t>
            </a:r>
            <a:r>
              <a:rPr lang="hu-HU" b="1" dirty="0" smtClean="0"/>
              <a:t>nagyszámú paraméterük </a:t>
            </a:r>
            <a:r>
              <a:rPr lang="hu-HU" dirty="0" smtClean="0"/>
              <a:t>is van</a:t>
            </a:r>
          </a:p>
          <a:p>
            <a:pPr lvl="1"/>
            <a:r>
              <a:rPr lang="hu-HU" dirty="0" smtClean="0"/>
              <a:t>egy kis mély neurális hálóban általában </a:t>
            </a:r>
            <a:r>
              <a:rPr lang="hu-HU" b="1" dirty="0" smtClean="0"/>
              <a:t>néhány millió </a:t>
            </a:r>
            <a:r>
              <a:rPr lang="hu-HU" dirty="0" smtClean="0"/>
              <a:t>paraméter van</a:t>
            </a:r>
          </a:p>
          <a:p>
            <a:pPr lvl="1"/>
            <a:r>
              <a:rPr lang="hu-HU" dirty="0" smtClean="0"/>
              <a:t>a ma létező legnagyobb mély neurális hálóknak, amelyek nagy nyelvmodellek, feltehetőleg </a:t>
            </a:r>
            <a:r>
              <a:rPr lang="hu-HU" b="1" dirty="0" smtClean="0"/>
              <a:t>kb. 2000 milliárd </a:t>
            </a:r>
            <a:r>
              <a:rPr lang="hu-HU" dirty="0" smtClean="0"/>
              <a:t>paraméterük van</a:t>
            </a:r>
          </a:p>
          <a:p>
            <a:pPr lvl="1"/>
            <a:r>
              <a:rPr lang="hu-HU" dirty="0" smtClean="0"/>
              <a:t>paraméterek: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227756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Mélytanulás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hu-HU" dirty="0" smtClean="0"/>
              <a:t>Bár ez nem következik a rétegek számából, a mély neurális hálóknak általában </a:t>
            </a:r>
            <a:r>
              <a:rPr lang="hu-HU" b="1" dirty="0" smtClean="0"/>
              <a:t>nagyszámú paraméterük </a:t>
            </a:r>
            <a:r>
              <a:rPr lang="hu-HU" dirty="0" smtClean="0"/>
              <a:t>is van</a:t>
            </a:r>
          </a:p>
          <a:p>
            <a:pPr lvl="1"/>
            <a:r>
              <a:rPr lang="hu-HU" dirty="0" smtClean="0"/>
              <a:t>egy kis mély neurális hálóban általában </a:t>
            </a:r>
            <a:r>
              <a:rPr lang="hu-HU" b="1" dirty="0" smtClean="0"/>
              <a:t>néhány millió </a:t>
            </a:r>
            <a:r>
              <a:rPr lang="hu-HU" dirty="0" smtClean="0"/>
              <a:t>paraméter van</a:t>
            </a:r>
          </a:p>
          <a:p>
            <a:pPr lvl="1"/>
            <a:r>
              <a:rPr lang="hu-HU" dirty="0" smtClean="0"/>
              <a:t>a ma létező legnagyobb mély neurális hálóknak, amelyek nagy nyelvmodellek, feltehetőleg </a:t>
            </a:r>
            <a:r>
              <a:rPr lang="hu-HU" b="1" dirty="0" smtClean="0"/>
              <a:t>kb. 2000 milliárd </a:t>
            </a:r>
            <a:r>
              <a:rPr lang="hu-HU" dirty="0" smtClean="0"/>
              <a:t>paraméterük van</a:t>
            </a:r>
          </a:p>
          <a:p>
            <a:pPr lvl="1"/>
            <a:r>
              <a:rPr lang="hu-HU" dirty="0"/>
              <a:t>paraméterek</a:t>
            </a:r>
            <a:r>
              <a:rPr lang="hu-HU" dirty="0" smtClean="0"/>
              <a:t>: a modell súlyai, amelyekkel beszorozzuk a háló alacsonyabb rétegében kiszámolt aktivációkat</a:t>
            </a:r>
          </a:p>
          <a:p>
            <a:pPr lvl="2"/>
            <a:r>
              <a:rPr lang="hu-HU" dirty="0" smtClean="0"/>
              <a:t>a bemeneti jegyek a modell változói</a:t>
            </a:r>
          </a:p>
          <a:p>
            <a:pPr lvl="2"/>
            <a:r>
              <a:rPr lang="hu-HU" dirty="0" smtClean="0"/>
              <a:t>a paraméterek annak a függvénynek a konstansai, amely maga a neurális háló</a:t>
            </a:r>
          </a:p>
        </p:txBody>
      </p:sp>
    </p:spTree>
    <p:extLst>
      <p:ext uri="{BB962C8B-B14F-4D97-AF65-F5344CB8AC3E}">
        <p14:creationId xmlns:p14="http://schemas.microsoft.com/office/powerpoint/2010/main" val="2318211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hu-HU" sz="4000" dirty="0" smtClean="0"/>
              <a:t>Mélytanulás és hagyományos</a:t>
            </a:r>
            <a:br>
              <a:rPr lang="hu-HU" sz="4000" dirty="0" smtClean="0"/>
            </a:br>
            <a:r>
              <a:rPr lang="hu-HU" sz="4000" dirty="0" smtClean="0"/>
              <a:t>gépi tanulás viszonya</a:t>
            </a:r>
            <a:endParaRPr lang="en-GB" sz="400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hu-HU" b="1" dirty="0" smtClean="0"/>
              <a:t>Hagyományos gépi tanulás</a:t>
            </a:r>
          </a:p>
          <a:p>
            <a:pPr lvl="1"/>
            <a:r>
              <a:rPr lang="hu-HU" dirty="0" smtClean="0"/>
              <a:t>a bemenetben csak </a:t>
            </a:r>
            <a:r>
              <a:rPr lang="hu-HU" b="1" dirty="0" smtClean="0"/>
              <a:t>kisszámú leíró jegy </a:t>
            </a:r>
            <a:r>
              <a:rPr lang="hu-HU" dirty="0" smtClean="0"/>
              <a:t>feldolgozására alkalmas</a:t>
            </a:r>
          </a:p>
          <a:p>
            <a:pPr lvl="1"/>
            <a:r>
              <a:rPr lang="hu-HU" dirty="0" smtClean="0"/>
              <a:t>magas </a:t>
            </a:r>
            <a:r>
              <a:rPr lang="hu-HU" dirty="0" err="1" smtClean="0"/>
              <a:t>dimenzionalitású</a:t>
            </a:r>
            <a:r>
              <a:rPr lang="hu-HU" dirty="0" smtClean="0"/>
              <a:t> adatokat </a:t>
            </a:r>
            <a:r>
              <a:rPr lang="hu-HU" b="1" dirty="0" smtClean="0"/>
              <a:t>alacsonyabb dimenziószámra </a:t>
            </a:r>
            <a:r>
              <a:rPr lang="hu-HU" dirty="0" smtClean="0"/>
              <a:t>kell csökkenteni</a:t>
            </a:r>
          </a:p>
          <a:p>
            <a:pPr lvl="2"/>
            <a:r>
              <a:rPr lang="hu-HU" dirty="0" smtClean="0"/>
              <a:t>példa: OCR (optikai karakterfelismerés)</a:t>
            </a:r>
          </a:p>
          <a:p>
            <a:pPr lvl="3"/>
            <a:r>
              <a:rPr lang="hu-HU" dirty="0" smtClean="0"/>
              <a:t>a képet szövegsorokra bontjuk, majd a sorokon belül karakterekre, rendre viszonylag üres vízszintes, illetve függőleges sávok alapján</a:t>
            </a:r>
          </a:p>
          <a:p>
            <a:pPr lvl="3"/>
            <a:r>
              <a:rPr lang="hu-HU" dirty="0" smtClean="0"/>
              <a:t>a karaktereket esetleg kiegyenesítjük a dőlt </a:t>
            </a:r>
            <a:r>
              <a:rPr lang="hu-HU" dirty="0" err="1" smtClean="0"/>
              <a:t>betük</a:t>
            </a:r>
            <a:r>
              <a:rPr lang="hu-HU" dirty="0" smtClean="0"/>
              <a:t> kezelése céljából</a:t>
            </a:r>
          </a:p>
          <a:p>
            <a:pPr lvl="3"/>
            <a:r>
              <a:rPr lang="hu-HU" dirty="0" smtClean="0"/>
              <a:t>a karakterek határoló négyzetén belül megszámoljuk a </a:t>
            </a:r>
            <a:r>
              <a:rPr lang="hu-HU" dirty="0" err="1" smtClean="0"/>
              <a:t>függőlesen</a:t>
            </a:r>
            <a:r>
              <a:rPr lang="hu-HU" dirty="0" smtClean="0"/>
              <a:t> és vízszintes letapogató vonalak mentén a fekete pixeleket, így csökken a dimenzió magasság x szélességről magasság + szélességre</a:t>
            </a:r>
          </a:p>
          <a:p>
            <a:pPr lvl="2"/>
            <a:r>
              <a:rPr lang="hu-HU" dirty="0" smtClean="0"/>
              <a:t>Példa: </a:t>
            </a:r>
            <a:r>
              <a:rPr lang="hu-HU" dirty="0" err="1" smtClean="0"/>
              <a:t>NLP</a:t>
            </a:r>
            <a:r>
              <a:rPr lang="hu-HU" dirty="0" smtClean="0"/>
              <a:t> (természetes nyelvek feldolgozása)</a:t>
            </a:r>
          </a:p>
          <a:p>
            <a:pPr lvl="3"/>
            <a:r>
              <a:rPr lang="hu-HU" dirty="0" smtClean="0"/>
              <a:t>szövegosztályozó tanításakor megszűrjük a szavakat (írásjelek, nyelvtani szavak, csak egyszer előforduló szavak törlése, egyéb szavak kisbetűre váltása, lemmatizálás)</a:t>
            </a:r>
          </a:p>
          <a:p>
            <a:pPr lvl="2"/>
            <a:r>
              <a:rPr lang="hu-HU" dirty="0" smtClean="0"/>
              <a:t>általánosabb módszer: dimenziócsökkentés matematikai módszerrel, pl. főkomponens-elemzés (</a:t>
            </a:r>
            <a:r>
              <a:rPr lang="hu-HU" dirty="0" err="1" smtClean="0"/>
              <a:t>PCA</a:t>
            </a:r>
            <a:r>
              <a:rPr lang="hu-HU" dirty="0" smtClean="0"/>
              <a:t>)</a:t>
            </a:r>
          </a:p>
          <a:p>
            <a:pPr lvl="1"/>
            <a:r>
              <a:rPr lang="hu-HU" b="1" dirty="0" smtClean="0"/>
              <a:t>jegykinyerés, </a:t>
            </a:r>
            <a:r>
              <a:rPr lang="hu-HU" b="1" dirty="0" err="1" smtClean="0"/>
              <a:t>feature</a:t>
            </a:r>
            <a:r>
              <a:rPr lang="hu-HU" b="1" dirty="0" smtClean="0"/>
              <a:t> </a:t>
            </a:r>
            <a:r>
              <a:rPr lang="hu-HU" b="1" dirty="0" err="1" smtClean="0"/>
              <a:t>engineering</a:t>
            </a:r>
            <a:r>
              <a:rPr lang="hu-HU" b="1" dirty="0" smtClean="0"/>
              <a:t> </a:t>
            </a:r>
            <a:r>
              <a:rPr lang="hu-HU" dirty="0" smtClean="0"/>
              <a:t>a tanítás előtt</a:t>
            </a:r>
          </a:p>
          <a:p>
            <a:pPr lvl="1"/>
            <a:r>
              <a:rPr lang="hu-HU" dirty="0" smtClean="0"/>
              <a:t>a bemenet legyen </a:t>
            </a:r>
            <a:r>
              <a:rPr lang="hu-HU" b="1" dirty="0" smtClean="0"/>
              <a:t>tiszta</a:t>
            </a:r>
            <a:r>
              <a:rPr lang="hu-HU" dirty="0" smtClean="0"/>
              <a:t>, kiugró, hibás adatokat töröljük</a:t>
            </a:r>
          </a:p>
        </p:txBody>
      </p:sp>
    </p:spTree>
    <p:extLst>
      <p:ext uri="{BB962C8B-B14F-4D97-AF65-F5344CB8AC3E}">
        <p14:creationId xmlns:p14="http://schemas.microsoft.com/office/powerpoint/2010/main" val="750782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hu-HU" sz="4000" dirty="0"/>
              <a:t>Mélytanulás és hagyományos</a:t>
            </a:r>
            <a:br>
              <a:rPr lang="hu-HU" sz="4000" dirty="0"/>
            </a:br>
            <a:r>
              <a:rPr lang="hu-HU" sz="4000" dirty="0"/>
              <a:t>gépi tanulás viszonya</a:t>
            </a:r>
            <a:endParaRPr lang="en-GB" sz="400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hu-HU" dirty="0" smtClean="0"/>
              <a:t>A </a:t>
            </a:r>
            <a:r>
              <a:rPr lang="hu-HU" b="1" dirty="0" smtClean="0"/>
              <a:t>mély neurális hálókban </a:t>
            </a:r>
            <a:r>
              <a:rPr lang="hu-HU" dirty="0" smtClean="0"/>
              <a:t>nincs szükség </a:t>
            </a:r>
            <a:r>
              <a:rPr lang="hu-HU" dirty="0" err="1" smtClean="0"/>
              <a:t>feature</a:t>
            </a:r>
            <a:r>
              <a:rPr lang="hu-HU" dirty="0" smtClean="0"/>
              <a:t> </a:t>
            </a:r>
            <a:r>
              <a:rPr lang="hu-HU" dirty="0" err="1" smtClean="0"/>
              <a:t>engineeringre</a:t>
            </a:r>
            <a:r>
              <a:rPr lang="hu-HU" dirty="0" smtClean="0"/>
              <a:t>, jegyek kinyerésére</a:t>
            </a:r>
          </a:p>
          <a:p>
            <a:pPr lvl="1"/>
            <a:r>
              <a:rPr lang="hu-HU" dirty="0" smtClean="0"/>
              <a:t>OCR: felismerés előtt nincs </a:t>
            </a:r>
            <a:r>
              <a:rPr lang="hu-HU" dirty="0" err="1" smtClean="0"/>
              <a:t>előfeldolgozás</a:t>
            </a:r>
            <a:r>
              <a:rPr lang="hu-HU" dirty="0" smtClean="0"/>
              <a:t>, a nyers pixelértékeket kapja a modell bemenetként</a:t>
            </a:r>
          </a:p>
          <a:p>
            <a:pPr lvl="2"/>
            <a:r>
              <a:rPr lang="hu-HU" dirty="0" smtClean="0"/>
              <a:t>lehet részleges </a:t>
            </a:r>
            <a:r>
              <a:rPr lang="hu-HU" dirty="0" err="1" smtClean="0"/>
              <a:t>előfeldolgozás</a:t>
            </a:r>
            <a:r>
              <a:rPr lang="hu-HU" dirty="0" smtClean="0"/>
              <a:t>, pl. a szövegsorok felismerése, majd a felismerő modell csak egy sort kap bemenetként; így működik Linuxon a </a:t>
            </a:r>
            <a:r>
              <a:rPr lang="hu-HU" dirty="0" err="1" smtClean="0"/>
              <a:t>Tesseract</a:t>
            </a:r>
            <a:r>
              <a:rPr lang="hu-HU" dirty="0" smtClean="0"/>
              <a:t> nyílt forráskódú OCR-szoftver</a:t>
            </a:r>
          </a:p>
          <a:p>
            <a:pPr lvl="2"/>
            <a:r>
              <a:rPr lang="hu-HU" dirty="0" smtClean="0"/>
              <a:t>de minden egyes sort így is pixelmátrixként kap a modell</a:t>
            </a:r>
          </a:p>
          <a:p>
            <a:r>
              <a:rPr lang="hu-HU" dirty="0" smtClean="0"/>
              <a:t>Lényegében a </a:t>
            </a:r>
            <a:r>
              <a:rPr lang="hu-HU" b="1" dirty="0" smtClean="0"/>
              <a:t>rejtett rétegek </a:t>
            </a:r>
            <a:r>
              <a:rPr lang="hu-HU" dirty="0" err="1" smtClean="0"/>
              <a:t>neuronaktivációit</a:t>
            </a:r>
            <a:r>
              <a:rPr lang="hu-HU" dirty="0" smtClean="0"/>
              <a:t> úgy foghatjuk fel, hogy ezek </a:t>
            </a:r>
            <a:r>
              <a:rPr lang="hu-HU" b="1" dirty="0" smtClean="0"/>
              <a:t>automatikusan kinyert jegyek</a:t>
            </a:r>
          </a:p>
          <a:p>
            <a:r>
              <a:rPr lang="hu-HU" dirty="0" smtClean="0"/>
              <a:t>Ezek a jegyek </a:t>
            </a:r>
            <a:r>
              <a:rPr lang="hu-HU" b="1" dirty="0" smtClean="0"/>
              <a:t>nem értelmezhetőek </a:t>
            </a:r>
            <a:r>
              <a:rPr lang="hu-HU" dirty="0" smtClean="0"/>
              <a:t>közvetlenül és nem diszkrétek, hanem </a:t>
            </a:r>
            <a:r>
              <a:rPr lang="hu-HU" b="1" dirty="0" smtClean="0"/>
              <a:t>szétosztott reprezentációk </a:t>
            </a:r>
            <a:r>
              <a:rPr lang="hu-HU" dirty="0" smtClean="0"/>
              <a:t>(lásd </a:t>
            </a:r>
            <a:r>
              <a:rPr lang="hu-HU" dirty="0" err="1" smtClean="0"/>
              <a:t>konnekcionizmus</a:t>
            </a:r>
            <a:r>
              <a:rPr lang="hu-HU" dirty="0" smtClean="0"/>
              <a:t>)</a:t>
            </a:r>
          </a:p>
          <a:p>
            <a:r>
              <a:rPr lang="hu-HU" dirty="0" smtClean="0"/>
              <a:t>Azt, amikor egy mélytanulási modell megtanul </a:t>
            </a:r>
            <a:r>
              <a:rPr lang="hu-HU" b="1" dirty="0" smtClean="0"/>
              <a:t>hasznos mintázatokat kinyerni </a:t>
            </a:r>
            <a:r>
              <a:rPr lang="hu-HU" dirty="0" smtClean="0"/>
              <a:t>a bemenetből spontán módon a </a:t>
            </a:r>
            <a:r>
              <a:rPr lang="hu-HU" b="1" dirty="0" smtClean="0"/>
              <a:t>tanítás során</a:t>
            </a:r>
            <a:r>
              <a:rPr lang="hu-HU" dirty="0" smtClean="0"/>
              <a:t>, </a:t>
            </a:r>
            <a:r>
              <a:rPr lang="hu-HU" b="1" dirty="0" smtClean="0"/>
              <a:t>reprezentációtanulásnak </a:t>
            </a:r>
            <a:r>
              <a:rPr lang="hu-HU" dirty="0" smtClean="0"/>
              <a:t>nevezzük</a:t>
            </a:r>
          </a:p>
          <a:p>
            <a:r>
              <a:rPr lang="hu-HU" dirty="0" smtClean="0"/>
              <a:t>Az adatoknak </a:t>
            </a:r>
            <a:r>
              <a:rPr lang="hu-HU" b="1" dirty="0" smtClean="0"/>
              <a:t>nem kell tisztáknak lenniük</a:t>
            </a:r>
            <a:r>
              <a:rPr lang="hu-HU" dirty="0" smtClean="0"/>
              <a:t>, a neurális háló jól tanítható </a:t>
            </a:r>
            <a:r>
              <a:rPr lang="hu-HU" b="1" dirty="0" smtClean="0"/>
              <a:t>zajos </a:t>
            </a:r>
            <a:r>
              <a:rPr lang="hu-HU" dirty="0" smtClean="0"/>
              <a:t>adatokon</a:t>
            </a:r>
          </a:p>
          <a:p>
            <a:pPr lvl="1"/>
            <a:r>
              <a:rPr lang="hu-HU" dirty="0" smtClean="0"/>
              <a:t>A mély neurális hálókat </a:t>
            </a:r>
            <a:r>
              <a:rPr lang="hu-HU" b="1" dirty="0" smtClean="0"/>
              <a:t>hatalmas mennyiségű </a:t>
            </a:r>
            <a:r>
              <a:rPr lang="hu-HU" dirty="0" smtClean="0"/>
              <a:t>tanítópéldán tanítják</a:t>
            </a:r>
          </a:p>
          <a:p>
            <a:pPr lvl="1"/>
            <a:r>
              <a:rPr lang="hu-HU" dirty="0" smtClean="0"/>
              <a:t>Ha sok különbözőképpen rontott tanítóadaton tanítunk, a sokaság általános statisztikai mintázatait akkor is ki tudja nyerni</a:t>
            </a:r>
          </a:p>
          <a:p>
            <a:pPr lvl="1"/>
            <a:r>
              <a:rPr lang="hu-HU" dirty="0" smtClean="0"/>
              <a:t>Más szóval a (mély) neurális háló megtanulja </a:t>
            </a:r>
            <a:r>
              <a:rPr lang="hu-HU" b="1" dirty="0" smtClean="0"/>
              <a:t>figyelmen kívül hagyni a zajt </a:t>
            </a:r>
            <a:r>
              <a:rPr lang="hu-HU" dirty="0" smtClean="0"/>
              <a:t>a tanítóadatokban</a:t>
            </a:r>
          </a:p>
          <a:p>
            <a:r>
              <a:rPr lang="hu-HU" dirty="0" smtClean="0"/>
              <a:t>A </a:t>
            </a:r>
            <a:r>
              <a:rPr lang="hu-HU" b="1" dirty="0" smtClean="0"/>
              <a:t>zaj </a:t>
            </a:r>
            <a:r>
              <a:rPr lang="hu-HU" dirty="0" smtClean="0"/>
              <a:t>és a </a:t>
            </a:r>
            <a:r>
              <a:rPr lang="hu-HU" b="1" dirty="0" smtClean="0"/>
              <a:t>reprezentációtanulás </a:t>
            </a:r>
            <a:r>
              <a:rPr lang="hu-HU" dirty="0" smtClean="0"/>
              <a:t>szorosan összekapcsolódik a mélytanulásban</a:t>
            </a:r>
          </a:p>
        </p:txBody>
      </p:sp>
    </p:spTree>
    <p:extLst>
      <p:ext uri="{BB962C8B-B14F-4D97-AF65-F5344CB8AC3E}">
        <p14:creationId xmlns:p14="http://schemas.microsoft.com/office/powerpoint/2010/main" val="1323415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Zaj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hu-HU" sz="1600" dirty="0" smtClean="0"/>
              <a:t>Zaj </a:t>
            </a:r>
            <a:r>
              <a:rPr lang="hu-HU" sz="1600" b="1" dirty="0" smtClean="0"/>
              <a:t>hétköznapi értelemben</a:t>
            </a:r>
            <a:r>
              <a:rPr lang="hu-HU" sz="1600" dirty="0" smtClean="0"/>
              <a:t>: zavaró, kellemetlen, nem kívánatos hanghatás</a:t>
            </a:r>
          </a:p>
          <a:p>
            <a:r>
              <a:rPr lang="hu-HU" sz="1600" dirty="0" smtClean="0"/>
              <a:t>A </a:t>
            </a:r>
            <a:r>
              <a:rPr lang="hu-HU" sz="1600" b="1" dirty="0" smtClean="0"/>
              <a:t>gépi tanulásban szakkifejezésként</a:t>
            </a:r>
            <a:r>
              <a:rPr lang="hu-HU" sz="1600" dirty="0" smtClean="0"/>
              <a:t>: </a:t>
            </a:r>
            <a:r>
              <a:rPr lang="hu-HU" sz="1600" b="1" dirty="0" smtClean="0"/>
              <a:t>véletlen </a:t>
            </a:r>
            <a:r>
              <a:rPr lang="hu-HU" sz="1600" dirty="0" smtClean="0"/>
              <a:t>és </a:t>
            </a:r>
            <a:r>
              <a:rPr lang="hu-HU" sz="1600" b="1" dirty="0" smtClean="0"/>
              <a:t>irreleváns variáció </a:t>
            </a:r>
            <a:r>
              <a:rPr lang="hu-HU" sz="1600" dirty="0" smtClean="0"/>
              <a:t>az adatokban, amely nem tükrözi azokat a </a:t>
            </a:r>
            <a:r>
              <a:rPr lang="hu-HU" sz="1600" b="1" dirty="0" smtClean="0"/>
              <a:t>valódi mögöttes mintázatokat</a:t>
            </a:r>
            <a:r>
              <a:rPr lang="hu-HU" sz="1600" dirty="0" smtClean="0"/>
              <a:t>, amelyeket meg kell tanulnia a modellnek</a:t>
            </a:r>
          </a:p>
          <a:p>
            <a:pPr lvl="1"/>
            <a:r>
              <a:rPr lang="hu-HU" sz="1400" dirty="0" smtClean="0"/>
              <a:t>„szemét” vagy hiba a tanítóadatokban, amely megnehezíti a modell számára a bemenet és kimenet közötti valódi kapcsolat megtanulását</a:t>
            </a:r>
          </a:p>
          <a:p>
            <a:r>
              <a:rPr lang="hu-HU" sz="1600" dirty="0" smtClean="0"/>
              <a:t>Lehet:</a:t>
            </a:r>
          </a:p>
          <a:p>
            <a:pPr lvl="1"/>
            <a:r>
              <a:rPr lang="hu-HU" sz="1400" b="1" dirty="0" smtClean="0"/>
              <a:t>zajos címke: </a:t>
            </a:r>
            <a:r>
              <a:rPr lang="hu-HU" sz="1400" dirty="0" smtClean="0"/>
              <a:t>helytelen vagy következetlen célérték, pl. kutya- és macskaképekből álló adathalmazban néhány macskát tévesen kutyaként jelöltek meg</a:t>
            </a:r>
          </a:p>
          <a:p>
            <a:pPr lvl="1"/>
            <a:r>
              <a:rPr lang="hu-HU" sz="1400" b="1" dirty="0" smtClean="0"/>
              <a:t>zajos jegyértékek: </a:t>
            </a:r>
            <a:r>
              <a:rPr lang="hu-HU" sz="1400" dirty="0" smtClean="0"/>
              <a:t>hibák vagy véletlenszerű variáció a bemeneti értékekben, pl. szenzorértékek ingadoznak, mert nem tökéletesen pontos a mérés</a:t>
            </a:r>
          </a:p>
          <a:p>
            <a:pPr lvl="1"/>
            <a:r>
              <a:rPr lang="hu-HU" sz="1400" b="1" dirty="0" smtClean="0"/>
              <a:t>inherens (meg nem szüntethető) zaj </a:t>
            </a:r>
            <a:r>
              <a:rPr lang="hu-HU" sz="1400" dirty="0" smtClean="0"/>
              <a:t>a sokaságban: elkerülhetetlen véletlen variáció az adatokban, egyetlen modell sem képes megmagyarázni, pl. ki lesz rákos? valaki milyen magas? – részben szerencse kérdése</a:t>
            </a:r>
          </a:p>
          <a:p>
            <a:pPr lvl="1"/>
            <a:r>
              <a:rPr lang="hu-HU" sz="1400" b="1" dirty="0" smtClean="0"/>
              <a:t>kiugró értékek: </a:t>
            </a:r>
            <a:r>
              <a:rPr lang="hu-HU" sz="1400" dirty="0" smtClean="0"/>
              <a:t>extrém értékű adatpontok, amelyek eltérnek az általános mintázattól; lehet zaj vagy bírhat jelentéssel, a problémától függően</a:t>
            </a:r>
            <a:endParaRPr lang="hu-HU" sz="1400" b="1" dirty="0" smtClean="0"/>
          </a:p>
          <a:p>
            <a:r>
              <a:rPr lang="hu-HU" sz="1600" dirty="0" smtClean="0"/>
              <a:t>Példa: lineáris összefüggés a lábfejhossz</a:t>
            </a:r>
            <a:r>
              <a:rPr lang="hu-HU" sz="1600" dirty="0"/>
              <a:t/>
            </a:r>
            <a:br>
              <a:rPr lang="hu-HU" sz="1600" dirty="0"/>
            </a:br>
            <a:r>
              <a:rPr lang="hu-HU" sz="1600" dirty="0" smtClean="0"/>
              <a:t>és a testmagasság között</a:t>
            </a:r>
          </a:p>
          <a:p>
            <a:pPr lvl="1"/>
            <a:r>
              <a:rPr lang="hu-HU" sz="1400" dirty="0" smtClean="0"/>
              <a:t>Ábra:</a:t>
            </a:r>
            <a:br>
              <a:rPr lang="hu-HU" sz="1400" dirty="0" smtClean="0"/>
            </a:br>
            <a:r>
              <a:rPr lang="en-GB" sz="1400" dirty="0" smtClean="0"/>
              <a:t>https</a:t>
            </a:r>
            <a:r>
              <a:rPr lang="en-GB" sz="1400" dirty="0"/>
              <a:t>://</a:t>
            </a:r>
            <a:r>
              <a:rPr lang="en-GB" sz="1400" dirty="0" err="1"/>
              <a:t>rpubs.com</a:t>
            </a:r>
            <a:r>
              <a:rPr lang="en-GB" sz="1400" dirty="0"/>
              <a:t>/</a:t>
            </a:r>
            <a:r>
              <a:rPr lang="en-GB" sz="1400" dirty="0" err="1"/>
              <a:t>rbatzing</a:t>
            </a:r>
            <a:r>
              <a:rPr lang="en-GB" sz="1400" dirty="0"/>
              <a:t>/</a:t>
            </a:r>
            <a:r>
              <a:rPr lang="en-GB" sz="1400" dirty="0" err="1"/>
              <a:t>FootStrideHt</a:t>
            </a:r>
            <a:endParaRPr lang="en-GB" sz="1400" dirty="0"/>
          </a:p>
        </p:txBody>
      </p:sp>
      <p:sp>
        <p:nvSpPr>
          <p:cNvPr id="4" name="AutoShape 2" descr="data:image/png;base64,iVBORw0KGgoAAAANSUhEUgAAAn8AAAGKCAMAAABKJ9f+AAABNVBMVEUAAAAAADoAAGYAOjoAOmYAOpAAZmYAZpAAZrYQDv8pDucpJP86AAA6ADo6AGY6OgA6Ojo6OmY6OpA6ZmY6ZpA6ZrY6kLY6kNtmAABmADpmAGZmJMJmOgBmOjpmUv9mWGZmWv9mYP9mZgBmZmZmZv9mkJBmkLZmkNtmtrZmtttmtv+QOgCQOjqQZgCQZjqQkGaQkLaQtpCQttuQtv+Q29uQ2/+jhqO2ZgC2Zjq2ZpC2kDq2kGa227a229u22/+2/7a2/9u2///akdrbkDrbkGbbtmbbtpDb27bb29vb/9vb////AAD/AQH/AgL/Bgb/DhD/DxD/HSn/ISn/JCn/Jin/KSn/SWb/Umb/WGb/Wmb/YGb/Zmb/tmb/tv//zP//25D/27b/3f//4v//8f///7b//9v///9idYIAAAAACXBIWXMAAA7DAAAOwwHHb6hkAAAgAElEQVR4nO2dj3/ctnmHT469Ko3SLls7KU1qu9vaLtLartnk6340a3pruzm21VSOlZMuknWR7v//E0YABA/kEeT7ggABkt/n84ktizyQRz55XwAEgdkGgHjMYp8AmDTwD8QE/oGYwD8QE/gHYgL/QEzgH4gJ/AMxgX8gJvAPxAT+gZjAPxAT+AdiMlz/7v/z+7PZ3g8+Ez8vZnunzE+fzB49D3FaNuazB5/vHvT+3z8nfv7+Nwez2Q/lj/Xfdrfw0n70I/XKYP3LLrdk73gzXP/efvyAasVKfNlD+aOLf4wj9cpg/VvMcsR15fvXO/NZjQC1v6zH+IrUb2vuxzhSrwzWv/ls75Psf+ssCh7LK/1vv5nNHqrL/ccfz2bv/EzGgvvst3s/3IaF/9E5W0aLu6M8hp7u7vnHj7MNH5yWPrS7SZ3Jg//KjvhQ7JCdyK8/nj34zCxOZM6Hn5rx7w9Zge98Ij6Z//+zPeOigE35q8z1eW4q37Y4UF74vdwidTP2K46UGgP2T17OmwORlBZGLNT/EDcjF+yhvvCLYreqf9U9V1szF0bZlU35mVT3LUoWxemKwta//AOHhRXGGS+Knzalr1L2b3tG2wOpwtXR9r5vFCt+hH++yS7u3s9+u/3Ho8/En4fSyOw+qJ/nIpIoRQXZzdp/vvmD2LStLc3z+1vaM9v8nefq38aHqps2uoDss9kO+/pE/tcsLtN1/7mIStq/7Bd/9/ztkdJCOGGesS5AUt5g5N/tt90eqCg8O9pca23ul6B9A/YvDysPP1VZS2ThzJTtlRZ/qV9kW/Nrn92nh78tPq78W+jwV9pT8CfRwN43P1TdpJjLg2/ylCd/Noub6zil/VO/WPzgt/pcjTPWBeiSzQ2mf/rbGgcyC5dHq7sqyTFY/1QtKs9x6uaISFWIJX6VqVPKlcpZWZ/Su4ldjtVfpax6/0v1733zQ9VNirlO+9lnc0uM4rKP7+u95EHNduq8qApUCtCnW7vB+LblA20LN5SV+8G/ENz/6VcHedorrrS63DLtHec1ta1Vbz9W//zXorZ+ojyq7il+//Bf/iTL2n5oZ5Mkv7XigNoSozh9PqZ/+pPqo+YZl/yzbTC+rXEgXaMtjgb/AlLUv6pXuhL/jiufe/ur78sK/bYpoJsxx7vF67upP1SzaWOLf7o4MyIFiX+lAyH+9UR2Vfd+nl3pPx5YrnRe/9vf/ej9L8ymgLqr1T1XOisfmh+q31Su/8nyzOIs9b/VB5/W1/+Mvj1r/W8n2m+0reX6H/wLRtH/XMm/lfbv3iebrKmZBxzZ8hT5NA8UovMit6iypyzkrUzOxoeqm/RHzfavssQozmiRFtL/UBy/SKqWZm5D+9f0Sh+orv273S/VHvrB+md0q5XvSE3/X3Hpf1NU8uTdWm0VruxZlL5vfmhnk0T3/5kPYszittvL/X/7qp5Y7f8zPanfYH7b7YHq+v+2++VHSo7B+re5l+3f4qnB1j/10ODncqe3v8waKMajC/mZD/TzD8O/6p6ikfvwU9UfU3xod5MgS22/+2X+2cISo7j7/ziYvfPJzvMPcYLyYcVn5hlX4lTthtK3LQ5kPP/4m8926n/6SKkxXP+SIcWq1bzn0RXOwL/OJOXfXA7SyiqONQ2vFIF/nUnKP12lSLO1sQv860xS/m3e/vigPFonbeAfiAn8AzGBfyAm8A/EBP6BmMA/EBP4B2IC/0BMPPs3AyPg9vaJlevr62cEYvnntzjQP7ff2snkW5OAf8CJbxv0o8oH/4ATt43y0e2Df4BLk3us0Af/AJ9m+Rrte/r0KfwDHWiMfW2h7+nTGgHhH6DRlnfbEu/Tp3UCwj9A4LZL3oV/oBs+mhzwD7jQNe+WBaz+Ev6BBhrd4/a2oP0LePgKfXbgH6inOe+yO5rhH6DTmnf92Af/QA1NYwv8hT74B2poybte7YN/oESLex4TL/wDVVryrufQB/+AQXve9W8f/AOStrwbIvTBP6Boz7uB7IN/oC3vBgt98A8Q8m5I+4L5p+d+t064CP8SoC3vhg19Af1b6NUyVsXiK12KAwFozbs92BfIv/uTwrqFZXp1+BeVVveCJ96Q/t0dFWukrSwZGP5FpDXv9hL6wvmH+JcwlLzbl33rb35PPW1m/S8PgKj/pUV73u0v9GX2fROq/ZuvNmZfXAf+RYCSd/sLfZl96P+bDu15t8fQp+SDfxOB4F6Poa+QL5x/uv+5uqq4Y3GgA83vjkcIfea/wvh38/5p1gh58PlmbnsAAv/6ItnQF86/vP9lLhYWtyyvCP/6gJJ3+wt9O/KF8i/vfxZ9f5X+5+3UwYzigAsk9/oLfXXyhfJPx799lYS7FgfYkOp8veZdy4ZA4w/EqrKiEnh3hPwbAWLo600+m33B2r9ideO9Bv3gXzCGkXcD+9d3cUBBcq+/0Nci3xr+jYr252s9h772feDfWKDl3YRCnwT+jQGie72FPqJ862D9f9t+PvS/hIboXm+hjy7fOlT8uz+xvnjkUhywQ6vz9Rn6WLsHG39g63hxKg7UM9y8qwlV/1vZh764FAd2oLqXZt7VoP0xUOjy9WKfk3xr+DdMwubdunnqm3GUbw3/hgc577pGvtp1OhpwDX0S+DcoaONalH2ORtSvU2Sjk3xr+DcsQoc+AcO/rvKt4d9wCJ53c6j+eZBvDf8GAqOvpXNzl6KfH/nW8G8Y0EOfDyfa9PMm3xr+pU9feZeIT/nW8C9x+sy7BDzLt4Z/SZPW2AL/8q3hX7ow8q5/LXYJId8a/iXK6POuBv6lxhU97z5+/DiQFibh5FvDv+S4+vprauh7zHxQ60JQ+dbwLy2yOt/l5SUx7/Ie1LoQWr41/EuKzKvLS4KAqtIX2L8e5FvDv3RQ7V2Cf7rFEdK/fuRbw780KPpaLi9bBDTbu6H0602+9fr6mnqJ4F8ozDF9Lf5VOltC6NerfNffPqFeJfgXCLOv5fKyQcA+uvp6k+9ayJcB/5y56l4E5x22PuTryb7cPfjXhauu/pHd6+URmyFf2E4dQz7414GrjgImFvq2Pz999913gwiYeV2WD/65c9XFP3re7Tn0rZV+QQR8+vjx459Uvx78c+PqyllAVt4Nbt9Ope9dhe/jXGfyCeCfF5z9o44t6Cv07fwqhH8i7f7kJ/DPG1dXTgKy8m7/oU/yntTvPX+Hyet8vfqn19+yTsM2cP9cSDzvFrznUz+jwVGnXyD/FnrZX6z/q0k+72557z1P+lVauzX6hfEP659XGELe9c1OV0stQfzL198SrCY//y7DvanJF8o/xL8tdPmi511vUOUL5V9W/8sD4MTrf8i7zdzSPeAJo2fAt0S/KfjXR95d0ndNT75vN7cMD9D/xyO8fJl+S6KAPPlcxx+w5Lu9lZcJ/oWgp+e7RP+Ykc9tWDUr7d4WVyqQf/PZbF/2QdtmwR+vf/21d5dLgoDsvOvyWgmvzmcSxj/R6p3P9kU9cGrtj77kE/p99NFHzQK6VPrY/rHrfCZB/JP9LyuxBvXE+l96Hc+8/Oi73/3uR3b/HFscPP9c6nwmDv6t8pXd7AvMyP5n1fNc6X/ergtHPe5g4OVdFzPKSP3sAro3d+n6Odb5TLj+3R3N8pW1suqdbXTBFOMfRz4/PX3vKeo2detsoenHinzf2i4b07+7H5nKlf9lUNT/jCchjscdBFHeI7L510NP3zVPPkvsE6D925VozzieSv0qoaof+fy4J0D/X0fod4IoH/2ZxtMd/ZKTz5p3NQ7+6WdrbUv8+jluulwFybvkZxrrakUtfOjjyVft6quF79/9ifWhLoPh+0eep4+Xdzn+GfiUr779wZSvJe9q+P4Zg/s6MHD/bjfUifqYnS2kZxpV/Ea+uv4XrnzkC+kS/yxN2i06Qzdk6WH7dyumanlN8Y/b5HDwz3Pa3e1/5qZdhn4u9b+b90/bdr4/aascDte/vM53+fo1ZaJI5s1fLpkC+q/0lf1j9rSQ867Gxb+D9vbH/cm+p+Mmxba9kYW/1y0B0KW3hedfkBaH4V/IwJfjkn9b1JKsGh7PsY6bDqW1d4V+jQHQqatvuaQLGKy5m+vHlm9nbAEFtD+olLpapH72ABh8MH3Qvpa6eYJaYeZdTZD2h8/jJsFuP1/TPKWDlm/tEvnc3BOEaX94PG586vqY7fOUhg596cnnlHc1Lvm3uWfF83Fjw5i3YJLyOeZdDZ7/NsEZ09eUd899yJGefB3dE8A/Gzz3GkPf+XlnAYM/3OXL1zq2gIKLf/NHz+0vlvs+bhx47rU1OTr7F14+ft71c6Ed/JvL8Qd3R5RuwO7HjQGrztde6zs/7yTgKPOuxr3/zzazkOfj9g4z77b3tiylf06jWhKUz6N7Avf+v8UI/eO6R2rwnp+7BsA2+boulGCRr26evlw+L3U+E4f8qyYXujnoVAFM0L9bzlxVGZe0juZl7h83ALZHvt3xzxyska92nlKln/+L7tL+kAMQ9rp1QqfnHzf0XVwQx9MznukWUNJu7fsfRBrSbv08zb7zrgb9LwKXvOs4UJkAsc7X8P5lC411vjr/wrgngH/swKcqfcula5OiGXqDw9G/thbHrn9dnq+1Eeb9X4/HDQ67uSvTbqbfuf8AyGrtuuRfSnO3rF+gvKsJMv+Bz+MGhd/Xout8wj/fAZA9UxVTP2pfS6FfYPcEQeZ/8Xnc7tgWienS1yL18xoAHaeqIu/bw1hmF8Zf/7OsUtTxGQe/SdtEcr3MQet8JtP0r/vYAo/+pSdfD3lXM3r/dpdpa3KvbkRzXS+zS59ePVOWbzN+/3bWCWzMu7sjmv2MKLV5Gjj0xX64S2Ba/rXl3Yp/voYz13cVJief94e7BBzGv3yonrwNYvzL1XahVEKdr/RKh8ex9DWjD1KTr6/2bhV3/wY2/oVwBy7FnBpKQK8vcux2FaYmX/95V8P1b76d2WUo41/I86SpOQ0ufb9FVB3/Fzz0ceXr71bs4h7/ejpuZ77+mjhP1aX07+LignijqY3f0vi/5PJuXx19Fkbe/uDMk5YZmMlH7lKhdr4Y4/+Sky9e3tU4+CfndR7G+7+3lTZFI9eZfIw+veUZbc9i/F9i8sV3T+Dy/lEn8bjHdUbV+azzFOzYd82bfGp5RvRPETb0DaOvpQ6X948IDY/WGBnYP2OeNIp/+Yg+joDLs1dkATny8d/pGExfSx1h5r9a6MZxpPWnq/o1CujU3M30I/on5GNNKc4ScIh1PpMg8/8ZU2T1v/4Rd84Mx5WfM/8oAsrIR69UBlx8TckX7LI74jT/aVsANEKk7SlJIP98v7trQ+rX6p/Ou/Sh+gz/ep6oKhDc8fftM4tv4sU/3pi+Tt3M52eCppd6t5W+5fkZVcCnckxzu3/9T1QViDD9fws9OLrH+p+XvEvuU87ke9Xkn9HiWGZN5TNqBqa8UjT0Op9JoP5nHSetS9V49s/ThC2M3j/5/pF17VOzvbsUshIDYHv8c4h8qfS11NFh/slOb4B49Y+bdxusovb+LWVSpQyrWuapmlRyS/3PRb50Y5/A6f2jQ/nnMaknsOtxW/HY3mU9/jivbX3U9PSdn2eqEud/afJvNHU+E/f+l6xlYWtc3B21LhHnxz+Pc0SuVVAjdz8va0JabT9zlqhF+CMnYC+rr0n5Us67mk7zr9k6V+6O/rZtdiIv/vmUb63f6SX6J6Qq7Wp7yLHMiyW3gGv0c0i76XX11dJh/rUs/ln9O8yawI3d1N398zU3c0mUM6Iosk17VhrU17RzpzeFR5l3NV3qf9YnIapiuJrtKrjtPWSfqYnfvLsVhT6nwdKc06/l+W6XqRIG/XCXgEv/i2wBZ6HPOhCmaJisQqx/yZynj9HNzBBFNSrEzq2DCzhpvYxLc3dY+oXp/yM0jN39C/eMgzFRrmxUiABIGNmyLFRlMb6+ljqG5R8777LuOGOiXFVXfPOGMK5qmfc/swR0ks/pkkZmOOPv3eeqIiLC30tyBl5++eUbYrnc/OuUdhMcW0CBPf7gMMr6W9y5mR3X3n314hVx8dM3b+imsqZ/dqvzDVO+zVDiX5jm7i4vX7yk7CZGlNKrirl/lJ0n0OCokL5/tXnX98LPirMXX7w4a9tJtneXnLYKdVS/i3xDzbsax/6XR8/nDU0MwihB4nEtga9h6d0uY/pefvHFFy8b2x9FZwvnTRHSvhPLuxqX/ue908Wj541t3PuTtsoh6bjWcS31/nWdt+Dli8y/hgz8TWlQH1VAymtN0+hrqcPt+ZsYeNA4/0vrSyLtx21o79a9UdR90gwZ/uwBsDymz9v8f46RbwhjCyi4jT8Q/jXPf7VqGRzYfNzmvpaaV9p8zNhy9kL6V1sDDPf6rpN844h9Avf4N28dY+V43NbGbtU/X/MFvVLs/D6kfFPNuxrn+t8i0Pz37WOZy+/0+pus6iz3rxz/EpNvLHlX4zz+IMj6b8GfcTSxzMefmpW6xmFVXQ7mVukbVeiTpNP/x16DzUulr0xVvqbQ121In4N745Nvk4x/3OdrnkOfxvCPMKzKUcDJjC2gEOT9c/ZxQyz77EDRpUKo9Dn2viDvlnGr/3VqelSKC7LmuBO6T4/S4nDq/pvoM44mIvvntvZpIKRSpDF9Tv5NbmwBhaj+MddgCyqfVOrNmze8h2rkwqc0po9DPP869bWEWPo5rZ6+keddTSz/nnSQj9n2JA2od5CPeArTG9PHYQj+7aZdjn+ENzqcIl+4AaVTyLua5P2rq/Oxql5t/pXkY4TVQEP6JpJ3NYn7V9vgYNX95cuP1q2VyMfQuvUMUOejEKv/meKfrbnL888+Telu2uXM/9d4Cj2NLZj1Qofb3P4NvO9Io9U/e18La52EfPKp3Q11dT7O8h8Nk7r094yjl1V8Juifv44+yzzNtQ0OhtZL6/ynvfa1wD9XGvyjyMeZp3lHwIaZ0jgTUNbs2fd4Uvjnis0/WuTj1tOMve19LXXj/5oLLv8mwnhS+OdKrX/ktMupppkCtnX0UdcUXO/UFeOMa4F/ruz6x5knzWnwE6GX+exV6+vn5ikU5xCrrwX+uVLxjzdPGu/ZP3VEX7bnq5eveIFV/BhxPCn8c8X0j9vaZbYTzpfU52tnL1+8pAVAXVeMPK4F/rlS+MfvamH1/63XX375JbHg81cvXrx4RVsoQT7/jT6uBf658kTbR7zb1ZtP3O+bb+jzpInw94IaANfri4uLqO4J4J8rT5xCn4YY/ETaJU9pqsIfMQBeX1+QVlUvyef3CgrgnytPOj3ioPinKn2cOXXVC+iELpgs7ZKWVTcJMqYK/rnS6flae+2vaHGw/FO0+KcqfTz/Qo1rgX8W7k9axsg8I4lmEaWl+WE0d8/P6QIu810pE6Vd1syB1LN7AvhXz2JWLABimSUwnH/Ob3G0tqvd+lpCUr4p9kFTWThQ92FlXxGXeBDPBPGPsP55B/+aPAn3DlGS40kr/v3jlh3/1H2YT8I/Y4C0bZbALvHPhkU+zpM6276JrsFG9++vPhTzRd396O+n4F/Y+FePNfJxHhXX75te3tXQ/duX83WvHv1C3I9Flp8PRZj4pyPCIuLD829TTA4YpP5XQ0PaXTKWvqrxL/ozjiYY/q2EePNDMWvoYu90c3NwmPmX/bBonUhvgP4V74lYo71P/7aT0tcpxVj7ZbdWmfj8pAz/br73+ebuw9O5njk+qxjJH24O2gLgEP1rxZt/Rt6tzZ4d/POXd6/8XrwChn/3J8dZ+n2e+beSES/zTlbT219mhH9WypW+Ov84i1/pMS0Sn3n36qtAAjL82yz2s/QrZu1e5T00Y/ZPLA18c9AwS68P/yqVvto+GZ5/ep0sz+9xfPXVV6yrR4bj3833fvfPp5si/m1y9Ubpn9Tv/dOGb9fZv532bm2n4FKtE00ScJn7t/S9HsdV5l+YAEjvf97P/vtpVgWU9b/8nozWP1mxncsVaML0v1hf3t0JgKzFT0X+vfDe3hX6BRKQelPkckDzmfgjb/9u5nunI/bvWPcBVvqfi/89O/hX39NX/1SkiGk0//7yl78wB1UR2rtfKRjXjwzLP7kk0Fz3/2X3ZbT+ydi3CBP/uA/Y6COlry8uXv/5NXdUX+u1uMr9CxEAMf6gnrujB5/LALiyNUDc/Gvs6bPrR1z89PL1n/+cCegz9mVcaTgXkAj8s5E38q2rEDr419bT18E/2d69fC39owqYwlxV8M8Vrn/tPX1N+tEWP80EfE3UL5F1sOCfKzz/KD19dgebNho9fUo/koAJhD4J/HOF4R+tp8+uX+M0faZVtDHNKeRdDfxzpca/Wk3oPX1W/2ydz9WHHJeEQfUJuSeAf7UQZknd9a/GKE5Pn12/2qcf41gHi/r8Q63VrN6KaF2avvkgngkT/+5P2ibnJfjnZSh97fOPpMf0caj4d7WlvGUhb8f8H4SGaviV80E8E+z9t5b/yXb8q0Q0Xy9y1Iw/GNF6HFT/5CC/uw9/LR7Jy+fy7gfxTLj+v+bHOvX+Eafp4+pnCDiudbCo/smYt3r0fyfHeSxcqRH4NwdiBP6hGKkkblf9uPxB+tdG1b9tlc7vK2ylquJo8q6G6p9+ICr+muePgu+O9jP/xAh8UUcXVlrG5U/Jv6Xn9yeNtsoY18Ei+7d69DwfAC3+UmNDVnunwrZN/sexbVz+JPyThHl7N58kki9funlXQ/Yvq/TdfXgq/hLVP+VW9qf8Qf9hG5c/Ef9CvTouB5SOLO9qyP5lUU+8AJf/pfzLDCv7ZxmXPwX/As5bkMI8faEg+7eZH8rxcPN98VdT/NvsjIsevX9BJ824YM6TJvD7VQNC7X/OqnXfEW3fzerhx8cbs/5n+Gcblz9u/wLKJyt93Hn6BhP7BPSbcvPX76vanQxy2/av4Z9tXP6Y/XOVjzSgdDtPH1XAIbknoN+U+xP5CC7/a9v/Z/pnGZc/Wv/cQ1/rw9/tmD66f4mM6eOA8QeuPOuUd4kDSpV+r2kCDiz0SeCfK793l69l/Gm1r4Ui39Dyrgb+udLp/V+7fzU9fW3+DdU9AfxzJcT8u7XdzM3VvwHW+Uzgnyve/bM942j0b8ChTwL/XPE8/7P1AZu9/TvkvKuBf674nH+y6fGuxb8RuCeAf6548695bEH9O0XJj2uhAv9c8eOf53n6Bgf8c8WHf2muidAn8M+Vzv7xQ9/I3BPAP1e6+eeQd0dT5zOZ9ULQb+B9Rxpd/EPeHQ+D848d+uBeygzLP758w36+Nn6G5J9D3vV70sA7g/EPeXeUDMQ/tnx+zxaEYgj+oatvvCTvH/LuqAk2/5rqurROA0j0D3l35ITxb6GXne60/jQ79I3yGce4CeJfvvaWwH39I+TdKRDEP2NNsRV5/udOoQ/uDZQk4x/y7mQIVf/LA6BD/Y8d+iDfgAnU/tUrMFiin9U/pnxwb+gk1f/Hzrtg6KTjH/LuFAnU/pXzG3L6n5F3p0k4/xZqsR3LMiDP3EMfxvSNiGD+5eYR+l/Q1TdhgvmXrx9R6X8u3ml55hb6IN/IiBv/ePIxzgAMhED+iRC3v2lYbPEZv6+PcQJgKITqf8kU3Du1P/7YPEPeBZt4/X8M++DeiInl3xOqfRhbMGrS9g95d+wk7B/cmwAB27+Nb4C0+oe8OwnCxL/7E+uD35xm/5B3p0Kw99/2m3d4YuX2tp9ZxUAShPFPrrAYkFBz0gUqF6fbudxeptokk+IV6r/YKZ0u/Euv2CmdLvxLr9gpnS78S6/YKZ0u/Euv2CmdLvxLr9gpnS78S6/YKZ0u/Euv2Cmdblr+gakB/0BM4B+ICfwDMYF/ICbwD8QE/oGYwD8QE/gHYgL/QEzgH4gJ/AMxgX8gJon4t5iJebUybg7UDG++y81+8Pvq3lzOgLjS5fstV67zaJtjzL3Y0g8+y3W/a2n4t3jw+WYlbuQq+zp3R94ELMpdyFnjPAq4kmugiLJXXgWU5d6fZGUufP5/uNJLtqzsa7e4l9vhriXhn5zOUrzbrlb4WrTNsuBQrrg4c3839O5IeXLot9i8XDXJsbfLoIs1f/BZbpe7loR/EuHIzft+k5ku17t/i0e/COFJXq7CY2AtijXL91Zul7uWjn8yRT747yPPFR9Zru/8m13xeXHhbWuBupermHsrtyi2VL63crvctVT8W8kvsBDzarVOMsMv13NDQSQceeFlkf7ilC5XYp/k2LnYUvn+yu1y11LxT3ybR88Xe54DSl6ujCU3B75uqJj9P4R/ulzByl/zoyjWLN9juV3uWjr+ifuoqlL5GiMey/VbUZNpN0D+Lcrd+Ix+ldP1519RXJe7lpB/2RdQt9JzK0SU6zVQLfI5xo49tz+KcsWP/irBRbFG+V7L7XLXkvBP3cfsa6jVbfwFFF1u8YOfcgXzIP0veXxaeJ/mLmT/c5e7loR/25u5KO6q33L91v900QH6n1Wi9HqmRbHlHzyW2+GupeHfZq7Twsrvg6ei3HmYB1qLIM/f8szms+Swz9/c71oi/oGJAv9ATOAfiAn8AzGBfyAm8A/EBP6BmMA/EBP4B2IC/0BM4B+ICfwDMYF/ICbwD8QE/oGYwD8QE/gHYgL/QEzgH4gJ/AMxgX8gJvAPxAT+gZjAPxAT+AdiAv9ATOAfiAn843J3NJuJCT/zaZ/ad/c9ldWogH9M1CzS871TmOUD+MdEzfYnZjuGfx6AfzyMabbvjn56oGZ3K6YfWxjzkIk1gbKtwlI1n9pheTsQwD8m23nB747EKkX5wg5y+R/xDz13pJxyNduio6SYpdfcDiTwj4uIa3KqWbm6UqaZmvlztXcqf6HnodXT0eb+CR1L24EE/jlwfzLT7Y/sDzW5dDHLeT4P/N2R8kz5JxeBKG0HEvjnxjyfLL3wL/thVZpfXq5heZz7J5fIKG8HAvjHQ0cvmW5r45/JPN9LVfo8z1Q+CuAfD93+XW3jn1H/q0a27EUmKGAAAACbSURBVDfilzL7oiu6DvjHJF/xdnZY1P/K7V/ZNb3Jg10u5SIPfOZ2IIF/XOTzN+FQ4V+5/083b1dqNxkgdb3P3A4E8A/EBP6BmMA/EBP4B2IC/0BM4B+ICfwDMYF/ICbwD8QE/oGYwD8QE/gHYgL/QEzgH4gJ/AMxgX8gJvAPxAT+gZjAPxAT+AdiAv9ATOAfiAn8AzGBfyAm/w9FhZuKBDpbe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AutoShape 4" descr="data:image/png;base64,iVBORw0KGgoAAAANSUhEUgAAAn8AAAGKCAMAAABKJ9f+AAABNVBMVEUAAAAAADoAAGYAOjoAOmYAOpAAZmYAZpAAZrYQDv8pDucpJP86AAA6ADo6AGY6OgA6Ojo6OmY6OpA6ZmY6ZpA6ZrY6kLY6kNtmAABmADpmAGZmJMJmOgBmOjpmUv9mWGZmWv9mYP9mZgBmZmZmZv9mkJBmkLZmkNtmtrZmtttmtv+QOgCQOjqQZgCQZjqQkGaQkLaQtpCQttuQtv+Q29uQ2/+jhqO2ZgC2Zjq2ZpC2kDq2kGa227a229u22/+2/7a2/9u2///akdrbkDrbkGbbtmbbtpDb27bb29vb/9vb////AAD/AQH/AgL/Bgb/DhD/DxD/HSn/ISn/JCn/Jin/KSn/SWb/Umb/WGb/Wmb/YGb/Zmb/tmb/tv//zP//25D/27b/3f//4v//8f///7b//9v///9idYIAAAAACXBIWXMAAA7DAAAOwwHHb6hkAAAgAElEQVR4nO2dj3/ctnmHT469Ko3SLls7KU1qu9vaLtLartnk6340a3pruzm21VSOlZMuknWR7v//E0YABA/kEeT7ggABkt/n84ktizyQRz55XwAEgdkGgHjMYp8AmDTwD8QE/oGYwD8QE/gHYgL/QEzgH4gJ/AMxgX8gJvAPxAT+gZjAPxAT+AdiMlz/7v/z+7PZ3g8+Ez8vZnunzE+fzB49D3FaNuazB5/vHvT+3z8nfv7+Nwez2Q/lj/Xfdrfw0n70I/XKYP3LLrdk73gzXP/efvyAasVKfNlD+aOLf4wj9cpg/VvMcsR15fvXO/NZjQC1v6zH+IrUb2vuxzhSrwzWv/ls75Psf+ssCh7LK/1vv5nNHqrL/ccfz2bv/EzGgvvst3s/3IaF/9E5W0aLu6M8hp7u7vnHj7MNH5yWPrS7SZ3Jg//KjvhQ7JCdyK8/nj34zCxOZM6Hn5rx7w9Zge98Ij6Z//+zPeOigE35q8z1eW4q37Y4UF74vdwidTP2K46UGgP2T17OmwORlBZGLNT/EDcjF+yhvvCLYreqf9U9V1szF0bZlU35mVT3LUoWxemKwta//AOHhRXGGS+Knzalr1L2b3tG2wOpwtXR9r5vFCt+hH++yS7u3s9+u/3Ho8/En4fSyOw+qJ/nIpIoRQXZzdp/vvmD2LStLc3z+1vaM9v8nefq38aHqps2uoDss9kO+/pE/tcsLtN1/7mIStq/7Bd/9/ztkdJCOGGesS5AUt5g5N/tt90eqCg8O9pca23ul6B9A/YvDysPP1VZS2ThzJTtlRZ/qV9kW/Nrn92nh78tPq78W+jwV9pT8CfRwN43P1TdpJjLg2/ylCd/Noub6zil/VO/WPzgt/pcjTPWBeiSzQ2mf/rbGgcyC5dHq7sqyTFY/1QtKs9x6uaISFWIJX6VqVPKlcpZWZ/Su4ldjtVfpax6/0v1733zQ9VNirlO+9lnc0uM4rKP7+u95EHNduq8qApUCtCnW7vB+LblA20LN5SV+8G/ENz/6VcHedorrrS63DLtHec1ta1Vbz9W//zXorZ+ojyq7il+//Bf/iTL2n5oZ5Mkv7XigNoSozh9PqZ/+pPqo+YZl/yzbTC+rXEgXaMtjgb/AlLUv6pXuhL/jiufe/ur78sK/bYpoJsxx7vF67upP1SzaWOLf7o4MyIFiX+lAyH+9UR2Vfd+nl3pPx5YrnRe/9vf/ej9L8ymgLqr1T1XOisfmh+q31Su/8nyzOIs9b/VB5/W1/+Mvj1r/W8n2m+0reX6H/wLRtH/XMm/lfbv3iebrKmZBxzZ8hT5NA8UovMit6iypyzkrUzOxoeqm/RHzfavssQozmiRFtL/UBy/SKqWZm5D+9f0Sh+orv273S/VHvrB+md0q5XvSE3/X3Hpf1NU8uTdWm0VruxZlL5vfmhnk0T3/5kPYszittvL/X/7qp5Y7f8zPanfYH7b7YHq+v+2++VHSo7B+re5l+3f4qnB1j/10ODncqe3v8waKMajC/mZD/TzD8O/6p6ikfvwU9UfU3xod5MgS22/+2X+2cISo7j7/ziYvfPJzvMPcYLyYcVn5hlX4lTthtK3LQ5kPP/4m8926n/6SKkxXP+SIcWq1bzn0RXOwL/OJOXfXA7SyiqONQ2vFIF/nUnKP12lSLO1sQv860xS/m3e/vigPFonbeAfiAn8AzGBfyAm8A/EBP6BmMA/EBP4B2IC/0BMPPs3AyPg9vaJlevr62cEYvnntzjQP7ff2snkW5OAf8CJbxv0o8oH/4ATt43y0e2Df4BLk3us0Af/AJ9m+Rrte/r0KfwDHWiMfW2h7+nTGgHhH6DRlnfbEu/Tp3UCwj9A4LZL3oV/oBs+mhzwD7jQNe+WBaz+Ev6BBhrd4/a2oP0LePgKfXbgH6inOe+yO5rhH6DTmnf92Af/QA1NYwv8hT74B2poybte7YN/oESLex4TL/wDVVryrufQB/+AQXve9W8f/AOStrwbIvTBP6Boz7uB7IN/oC3vBgt98A8Q8m5I+4L5p+d+t064CP8SoC3vhg19Af1b6NUyVsXiK12KAwFozbs92BfIv/uTwrqFZXp1+BeVVveCJ96Q/t0dFWukrSwZGP5FpDXv9hL6wvmH+JcwlLzbl33rb35PPW1m/S8PgKj/pUV73u0v9GX2fROq/ZuvNmZfXAf+RYCSd/sLfZl96P+bDu15t8fQp+SDfxOB4F6Poa+QL5x/uv+5uqq4Y3GgA83vjkcIfea/wvh38/5p1gh58PlmbnsAAv/6ItnQF86/vP9lLhYWtyyvCP/6gJJ3+wt9O/KF8i/vfxZ9f5X+5+3UwYzigAsk9/oLfXXyhfJPx799lYS7FgfYkOp8veZdy4ZA4w/EqrKiEnh3hPwbAWLo600+m33B2r9ideO9Bv3gXzCGkXcD+9d3cUBBcq+/0Nci3xr+jYr252s9h772feDfWKDl3YRCnwT+jQGie72FPqJ862D9f9t+PvS/hIboXm+hjy7fOlT8uz+xvnjkUhywQ6vz9Rn6WLsHG39g63hxKg7UM9y8qwlV/1vZh764FAd2oLqXZt7VoP0xUOjy9WKfk3xr+DdMwubdunnqm3GUbw3/hgc577pGvtp1OhpwDX0S+DcoaONalH2ORtSvU2Sjk3xr+DcsQoc+AcO/rvKt4d9wCJ53c6j+eZBvDf8GAqOvpXNzl6KfH/nW8G8Y0EOfDyfa9PMm3xr+pU9feZeIT/nW8C9x+sy7BDzLt4Z/SZPW2AL/8q3hX7ow8q5/LXYJId8a/iXK6POuBv6lxhU97z5+/DiQFibh5FvDv+S4+vprauh7zHxQ60JQ+dbwLy2yOt/l5SUx7/Ie1LoQWr41/EuKzKvLS4KAqtIX2L8e5FvDv3RQ7V2Cf7rFEdK/fuRbw780KPpaLi9bBDTbu6H0602+9fr6mnqJ4F8ozDF9Lf5VOltC6NerfNffPqFeJfgXCLOv5fKyQcA+uvp6k+9ayJcB/5y56l4E5x22PuTryb7cPfjXhauu/pHd6+URmyFf2E4dQz7414GrjgImFvq2Pz999913gwiYeV2WD/65c9XFP3re7Tn0rZV+QQR8+vjx459Uvx78c+PqyllAVt4Nbt9Ope9dhe/jXGfyCeCfF5z9o44t6Cv07fwqhH8i7f7kJ/DPG1dXTgKy8m7/oU/yntTvPX+Hyet8vfqn19+yTsM2cP9cSDzvFrznUz+jwVGnXyD/FnrZX6z/q0k+72557z1P+lVauzX6hfEP659XGELe9c1OV0stQfzL198SrCY//y7DvanJF8o/xL8tdPmi511vUOUL5V9W/8sD4MTrf8i7zdzSPeAJo2fAt0S/KfjXR95d0ndNT75vN7cMD9D/xyO8fJl+S6KAPPlcxx+w5Lu9lZcJ/oWgp+e7RP+Ykc9tWDUr7d4WVyqQf/PZbF/2QdtmwR+vf/21d5dLgoDsvOvyWgmvzmcSxj/R6p3P9kU9cGrtj77kE/p99NFHzQK6VPrY/rHrfCZB/JP9LyuxBvXE+l96Hc+8/Oi73/3uR3b/HFscPP9c6nwmDv6t8pXd7AvMyP5n1fNc6X/ergtHPe5g4OVdFzPKSP3sAro3d+n6Odb5TLj+3R3N8pW1suqdbXTBFOMfRz4/PX3vKeo2detsoenHinzf2i4b07+7H5nKlf9lUNT/jCchjscdBFHeI7L510NP3zVPPkvsE6D925VozzieSv0qoaof+fy4J0D/X0fod4IoH/2ZxtMd/ZKTz5p3NQ7+6WdrbUv8+jluulwFybvkZxrrakUtfOjjyVft6quF79/9ifWhLoPh+0eep4+Xdzn+GfiUr779wZSvJe9q+P4Zg/s6MHD/bjfUifqYnS2kZxpV/Ea+uv4XrnzkC+kS/yxN2i06Qzdk6WH7dyumanlN8Y/b5HDwz3Pa3e1/5qZdhn4u9b+b90/bdr4/aascDte/vM53+fo1ZaJI5s1fLpkC+q/0lf1j9rSQ867Gxb+D9vbH/cm+p+Mmxba9kYW/1y0B0KW3hedfkBaH4V/IwJfjkn9b1JKsGh7PsY6bDqW1d4V+jQHQqatvuaQLGKy5m+vHlm9nbAEFtD+olLpapH72ABh8MH3Qvpa6eYJaYeZdTZD2h8/jJsFuP1/TPKWDlm/tEvnc3BOEaX94PG586vqY7fOUhg596cnnlHc1Lvm3uWfF83Fjw5i3YJLyOeZdDZ7/NsEZ09eUd899yJGefB3dE8A/Gzz3GkPf+XlnAYM/3OXL1zq2gIKLf/NHz+0vlvs+bhx47rU1OTr7F14+ft71c6Ed/JvL8Qd3R5RuwO7HjQGrztde6zs/7yTgKPOuxr3/zzazkOfj9g4z77b3tiylf06jWhKUz6N7Avf+v8UI/eO6R2rwnp+7BsA2+boulGCRr26evlw+L3U+E4f8qyYXujnoVAFM0L9bzlxVGZe0juZl7h83ALZHvt3xzxyska92nlKln/+L7tL+kAMQ9rp1QqfnHzf0XVwQx9MznukWUNJu7fsfRBrSbv08zb7zrgb9LwKXvOs4UJkAsc7X8P5lC411vjr/wrgngH/swKcqfcula5OiGXqDw9G/thbHrn9dnq+1Eeb9X4/HDQ67uSvTbqbfuf8AyGrtuuRfSnO3rF+gvKsJMv+Bz+MGhd/Xout8wj/fAZA9UxVTP2pfS6FfYPcEQeZ/8Xnc7tgWienS1yL18xoAHaeqIu/bw1hmF8Zf/7OsUtTxGQe/SdtEcr3MQet8JtP0r/vYAo/+pSdfD3lXM3r/dpdpa3KvbkRzXS+zS59ePVOWbzN+/3bWCWzMu7sjmv2MKLV5Gjj0xX64S2Ba/rXl3Yp/voYz13cVJief94e7BBzGv3yonrwNYvzL1XahVEKdr/RKh8ex9DWjD1KTr6/2bhV3/wY2/oVwBy7FnBpKQK8vcux2FaYmX/95V8P1b76d2WUo41/I86SpOQ0ufb9FVB3/Fzz0ceXr71bs4h7/ejpuZ77+mjhP1aX07+LignijqY3f0vi/5PJuXx19Fkbe/uDMk5YZmMlH7lKhdr4Y4/+Sky9e3tU4+CfndR7G+7+3lTZFI9eZfIw+veUZbc9i/F9i8sV3T+Dy/lEn8bjHdUbV+azzFOzYd82bfGp5RvRPETb0DaOvpQ6X948IDY/WGBnYP2OeNIp/+Yg+joDLs1dkATny8d/pGExfSx1h5r9a6MZxpPWnq/o1CujU3M30I/on5GNNKc4ScIh1PpMg8/8ZU2T1v/4Rd84Mx5WfM/8oAsrIR69UBlx8TckX7LI74jT/aVsANEKk7SlJIP98v7trQ+rX6p/Ou/Sh+gz/ep6oKhDc8fftM4tv4sU/3pi+Tt3M52eCppd6t5W+5fkZVcCnckxzu3/9T1QViDD9fws9OLrH+p+XvEvuU87ke9Xkn9HiWGZN5TNqBqa8UjT0Op9JoP5nHSetS9V49s/ThC2M3j/5/pF17VOzvbsUshIDYHv8c4h8qfS11NFh/slOb4B49Y+bdxusovb+LWVSpQyrWuapmlRyS/3PRb50Y5/A6f2jQ/nnMaknsOtxW/HY3mU9/jivbX3U9PSdn2eqEud/afJvNHU+E/f+l6xlYWtc3B21LhHnxz+Pc0SuVVAjdz8va0JabT9zlqhF+CMnYC+rr0n5Us67mk7zr9k6V+6O/rZtdiIv/vmUb63f6SX6J6Qq7Wp7yLHMiyW3gGv0c0i76XX11dJh/rUs/ln9O8yawI3d1N398zU3c0mUM6Iosk17VhrU17RzpzeFR5l3NV3qf9YnIapiuJrtKrjtPWSfqYnfvLsVhT6nwdKc06/l+W6XqRIG/XCXgEv/i2wBZ6HPOhCmaJisQqx/yZynj9HNzBBFNSrEzq2DCzhpvYxLc3dY+oXp/yM0jN39C/eMgzFRrmxUiABIGNmyLFRlMb6+ljqG5R8777LuOGOiXFVXfPOGMK5qmfc/swR0ks/pkkZmOOPv3eeqIiLC30tyBl5++eUbYrnc/OuUdhMcW0CBPf7gMMr6W9y5mR3X3n314hVx8dM3b+imsqZ/dqvzDVO+zVDiX5jm7i4vX7yk7CZGlNKrirl/lJ0n0OCokL5/tXnX98LPirMXX7w4a9tJtneXnLYKdVS/i3xDzbsax/6XR8/nDU0MwihB4nEtga9h6d0uY/pefvHFFy8b2x9FZwvnTRHSvhPLuxqX/ue908Wj541t3PuTtsoh6bjWcS31/nWdt+Dli8y/hgz8TWlQH1VAymtN0+hrqcPt+ZsYeNA4/0vrSyLtx21o79a9UdR90gwZ/uwBsDymz9v8f46RbwhjCyi4jT8Q/jXPf7VqGRzYfNzmvpaaV9p8zNhy9kL6V1sDDPf6rpN844h9Avf4N28dY+V43NbGbtU/X/MFvVLs/D6kfFPNuxrn+t8i0Pz37WOZy+/0+pus6iz3rxz/EpNvLHlX4zz+IMj6b8GfcTSxzMefmpW6xmFVXQ7mVukbVeiTpNP/x16DzUulr0xVvqbQ121In4N745Nvk4x/3OdrnkOfxvCPMKzKUcDJjC2gEOT9c/ZxQyz77EDRpUKo9Dn2viDvlnGr/3VqelSKC7LmuBO6T4/S4nDq/pvoM44mIvvntvZpIKRSpDF9Tv5NbmwBhaj+MddgCyqfVOrNmze8h2rkwqc0po9DPP869bWEWPo5rZ6+keddTSz/nnSQj9n2JA2od5CPeArTG9PHYQj+7aZdjn+ENzqcIl+4AaVTyLua5P2rq/Oxql5t/pXkY4TVQEP6JpJ3NYn7V9vgYNX95cuP1q2VyMfQuvUMUOejEKv/meKfrbnL888+Telu2uXM/9d4Cj2NLZj1Qofb3P4NvO9Io9U/e18La52EfPKp3Q11dT7O8h8Nk7r094yjl1V8Juifv44+yzzNtQ0OhtZL6/ynvfa1wD9XGvyjyMeZp3lHwIaZ0jgTUNbs2fd4Uvjnis0/WuTj1tOMve19LXXj/5oLLv8mwnhS+OdKrX/ktMupppkCtnX0UdcUXO/UFeOMa4F/ruz6x5knzWnwE6GX+exV6+vn5ikU5xCrrwX+uVLxjzdPGu/ZP3VEX7bnq5eveIFV/BhxPCn8c8X0j9vaZbYTzpfU52tnL1+8pAVAXVeMPK4F/rlS+MfvamH1/63XX375JbHg81cvXrx4RVsoQT7/jT6uBf658kTbR7zb1ZtP3O+bb+jzpInw94IaANfri4uLqO4J4J8rT5xCn4YY/ETaJU9pqsIfMQBeX1+QVlUvyef3CgrgnytPOj3ioPinKn2cOXXVC+iELpgs7ZKWVTcJMqYK/rnS6flae+2vaHGw/FO0+KcqfTz/Qo1rgX8W7k9axsg8I4lmEaWl+WE0d8/P6QIu810pE6Vd1syB1LN7AvhXz2JWLABimSUwnH/Ob3G0tqvd+lpCUr4p9kFTWThQ92FlXxGXeBDPBPGPsP55B/+aPAn3DlGS40kr/v3jlh3/1H2YT8I/Y4C0bZbALvHPhkU+zpM6276JrsFG9++vPhTzRd396O+n4F/Y+FePNfJxHhXX75te3tXQ/duX83WvHv1C3I9Flp8PRZj4pyPCIuLD829TTA4YpP5XQ0PaXTKWvqrxL/ozjiYY/q2EePNDMWvoYu90c3NwmPmX/bBonUhvgP4V74lYo71P/7aT0tcpxVj7ZbdWmfj8pAz/br73+ebuw9O5njk+qxjJH24O2gLgEP1rxZt/Rt6tzZ4d/POXd6/8XrwChn/3J8dZ+n2e+beSES/zTlbT219mhH9WypW+Ov84i1/pMS0Sn3n36qtAAjL82yz2s/QrZu1e5T00Y/ZPLA18c9AwS68P/yqVvto+GZ5/ep0sz+9xfPXVV6yrR4bj3833fvfPp5si/m1y9Ubpn9Tv/dOGb9fZv532bm2n4FKtE00ScJn7t/S9HsdV5l+YAEjvf97P/vtpVgWU9b/8nozWP1mxncsVaML0v1hf3t0JgKzFT0X+vfDe3hX6BRKQelPkckDzmfgjb/9u5nunI/bvWPcBVvqfi/89O/hX39NX/1SkiGk0//7yl78wB1UR2rtfKRjXjwzLP7kk0Fz3/2X3ZbT+ydi3CBP/uA/Y6COlry8uXv/5NXdUX+u1uMr9CxEAMf6gnrujB5/LALiyNUDc/Gvs6bPrR1z89PL1n/+cCegz9mVcaTgXkAj8s5E38q2rEDr419bT18E/2d69fC39owqYwlxV8M8Vrn/tPX1N+tEWP80EfE3UL5F1sOCfKzz/KD19dgebNho9fUo/koAJhD4J/HOF4R+tp8+uX+M0faZVtDHNKeRdDfxzpca/Wk3oPX1W/2ydz9WHHJeEQfUJuSeAf7UQZknd9a/GKE5Pn12/2qcf41gHi/r8Q63VrN6KaF2avvkgngkT/+5P2ibnJfjnZSh97fOPpMf0caj4d7WlvGUhb8f8H4SGaviV80E8E+z9t5b/yXb8q0Q0Xy9y1Iw/GNF6HFT/5CC/uw9/LR7Jy+fy7gfxTLj+v+bHOvX+Eafp4+pnCDiudbCo/smYt3r0fyfHeSxcqRH4NwdiBP6hGKkkblf9uPxB+tdG1b9tlc7vK2ylquJo8q6G6p9+ICr+muePgu+O9jP/xAh8UUcXVlrG5U/Jv6Xn9yeNtsoY18Ei+7d69DwfAC3+UmNDVnunwrZN/sexbVz+JPyThHl7N58kki9funlXQ/Yvq/TdfXgq/hLVP+VW9qf8Qf9hG5c/Ef9CvTouB5SOLO9qyP5lUU+8AJf/pfzLDCv7ZxmXPwX/As5bkMI8faEg+7eZH8rxcPN98VdT/NvsjIsevX9BJ824YM6TJvD7VQNC7X/OqnXfEW3fzerhx8cbs/5n+Gcblz9u/wLKJyt93Hn6BhP7BPSbcvPX76vanQxy2/av4Z9tXP6Y/XOVjzSgdDtPH1XAIbknoN+U+xP5CC7/a9v/Z/pnGZc/Wv/cQ1/rw9/tmD66f4mM6eOA8QeuPOuUd4kDSpV+r2kCDiz0SeCfK793l69l/Gm1r4Ui39Dyrgb+udLp/V+7fzU9fW3+DdU9AfxzJcT8u7XdzM3VvwHW+Uzgnyve/bM942j0b8ChTwL/XPE8/7P1AZu9/TvkvKuBf674nH+y6fGuxb8RuCeAf6548695bEH9O0XJj2uhAv9c8eOf53n6Bgf8c8WHf2muidAn8M+Vzv7xQ9/I3BPAP1e6+eeQd0dT5zOZ9ULQb+B9Rxpd/EPeHQ+D848d+uBeygzLP758w36+Nn6G5J9D3vV70sA7g/EPeXeUDMQ/tnx+zxaEYgj+oatvvCTvH/LuqAk2/5rqurROA0j0D3l35ITxb6GXne60/jQ79I3yGce4CeJfvvaWwH39I+TdKRDEP2NNsRV5/udOoQ/uDZQk4x/y7mQIVf/LA6BD/Y8d+iDfgAnU/tUrMFiin9U/pnxwb+gk1f/Hzrtg6KTjH/LuFAnU/pXzG3L6n5F3p0k4/xZqsR3LMiDP3EMfxvSNiGD+5eYR+l/Q1TdhgvmXrx9R6X8u3ml55hb6IN/IiBv/ePIxzgAMhED+iRC3v2lYbPEZv6+PcQJgKITqf8kU3Du1P/7YPEPeBZt4/X8M++DeiInl3xOqfRhbMGrS9g95d+wk7B/cmwAB27+Nb4C0+oe8OwnCxL/7E+uD35xm/5B3p0Kw99/2m3d4YuX2tp9ZxUAShPFPrrAYkFBz0gUqF6fbudxeptokk+IV6r/YKZ0u/Euv2CmdLvxLr9gpnS78S6/YKZ0u/Euv2CmdLvxLr9gpnS78S6/YKZ0u/Euv2Cmdblr+gakB/0BM4B+ICfwDMYF/ICbwD8QE/oGYwD8QE/gHYgL/QEzgH4gJ/AMxgX8gJon4t5iJebUybg7UDG++y81+8Pvq3lzOgLjS5fstV67zaJtjzL3Y0g8+y3W/a2n4t3jw+WYlbuQq+zp3R94ELMpdyFnjPAq4kmugiLJXXgWU5d6fZGUufP5/uNJLtqzsa7e4l9vhriXhn5zOUrzbrlb4WrTNsuBQrrg4c3839O5IeXLot9i8XDXJsbfLoIs1f/BZbpe7loR/EuHIzft+k5ku17t/i0e/COFJXq7CY2AtijXL91Zul7uWjn8yRT747yPPFR9Zru/8m13xeXHhbWuBupermHsrtyi2VL63crvctVT8W8kvsBDzarVOMsMv13NDQSQceeFlkf7ilC5XYp/k2LnYUvn+yu1y11LxT3ybR88Xe54DSl6ujCU3B75uqJj9P4R/ulzByl/zoyjWLN9juV3uWjr+ifuoqlL5GiMey/VbUZNpN0D+Lcrd+Ix+ldP1519RXJe7lpB/2RdQt9JzK0SU6zVQLfI5xo49tz+KcsWP/irBRbFG+V7L7XLXkvBP3cfsa6jVbfwFFF1u8YOfcgXzIP0veXxaeJ/mLmT/c5e7loR/25u5KO6q33L91v900QH6n1Wi9HqmRbHlHzyW2+GupeHfZq7Twsrvg6ei3HmYB1qLIM/f8szms+Swz9/c71oi/oGJAv9ATOAfiAn8AzGBfyAm8A/EBP6BmMA/EBP4B2IC/0BM4B+ICfwDMYF/ICbwD8QE/oGYwD8QE/gHYgL/QEzgH4gJ/AMxgX8gJvAPxAT+gZjAPxAT+AdiAv9ATOAfiAn843J3NJuJCT/zaZ/ad/c9ldWogH9M1CzS871TmOUD+MdEzfYnZjuGfx6AfzyMabbvjn56oGZ3K6YfWxjzkIk1gbKtwlI1n9pheTsQwD8m23nB747EKkX5wg5y+R/xDz13pJxyNduio6SYpdfcDiTwj4uIa3KqWbm6UqaZmvlztXcqf6HnodXT0eb+CR1L24EE/jlwfzLT7Y/sDzW5dDHLeT4P/N2R8kz5JxeBKG0HEvjnxjyfLL3wL/thVZpfXq5heZz7J5fIKG8HAvjHQ0cvmW5r45/JPN9LVfo8z1Q+CuAfD93+XW3jn1H/q0a27EUmKGAAAACbSURBVDfilzL7oiu6DvjHJF/xdnZY1P/K7V/ZNb3Jg10u5SIPfOZ2IIF/XOTzN+FQ4V+5/083b1dqNxkgdb3P3A4E8A/EBP6BmMA/EBP4B2IC/0BM4B+ICfwDMYF/ICbwD8QE/oGYwD8QE/gHYgL/QEzgH4gJ/AMxgX8gJvAPxAT+gZjAPxAT+AdiAv9ATOAfiAn8AzGBfyAm/w9FhZuKBDpbegAAAABJRU5ErkJggg=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6" name="AutoShape 6" descr="data:image/png;base64,iVBORw0KGgoAAAANSUhEUgAAAn8AAAGKCAMAAABKJ9f+AAABNVBMVEUAAAAAADoAAGYAOjoAOmYAOpAAZmYAZpAAZrYQDv8pDucpJP86AAA6ADo6AGY6OgA6Ojo6OmY6OpA6ZmY6ZpA6ZrY6kLY6kNtmAABmADpmAGZmJMJmOgBmOjpmUv9mWGZmWv9mYP9mZgBmZmZmZv9mkJBmkLZmkNtmtrZmtttmtv+QOgCQOjqQZgCQZjqQkGaQkLaQtpCQttuQtv+Q29uQ2/+jhqO2ZgC2Zjq2ZpC2kDq2kGa227a229u22/+2/7a2/9u2///akdrbkDrbkGbbtmbbtpDb27bb29vb/9vb////AAD/AQH/AgL/Bgb/DhD/DxD/HSn/ISn/JCn/Jin/KSn/SWb/Umb/WGb/Wmb/YGb/Zmb/tmb/tv//zP//25D/27b/3f//4v//8f///7b//9v///9idYIAAAAACXBIWXMAAA7DAAAOwwHHb6hkAAAgAElEQVR4nO2dj3/ctnmHT469Ko3SLls7KU1qu9vaLtLartnk6340a3pruzm21VSOlZMuknWR7v//E0YABA/kEeT7ggABkt/n84ktizyQRz55XwAEgdkGgHjMYp8AmDTwD8QE/oGYwD8QE/gHYgL/QEzgH4gJ/AMxgX8gJvAPxAT+gZjAPxAT+AdiMlz/7v/z+7PZ3g8+Ez8vZnunzE+fzB49D3FaNuazB5/vHvT+3z8nfv7+Nwez2Q/lj/Xfdrfw0n70I/XKYP3LLrdk73gzXP/efvyAasVKfNlD+aOLf4wj9cpg/VvMcsR15fvXO/NZjQC1v6zH+IrUb2vuxzhSrwzWv/ls75Psf+ssCh7LK/1vv5nNHqrL/ccfz2bv/EzGgvvst3s/3IaF/9E5W0aLu6M8hp7u7vnHj7MNH5yWPrS7SZ3Jg//KjvhQ7JCdyK8/nj34zCxOZM6Hn5rx7w9Zge98Ij6Z//+zPeOigE35q8z1eW4q37Y4UF74vdwidTP2K46UGgP2T17OmwORlBZGLNT/EDcjF+yhvvCLYreqf9U9V1szF0bZlU35mVT3LUoWxemKwta//AOHhRXGGS+Knzalr1L2b3tG2wOpwtXR9r5vFCt+hH++yS7u3s9+u/3Ho8/En4fSyOw+qJ/nIpIoRQXZzdp/vvmD2LStLc3z+1vaM9v8nefq38aHqps2uoDss9kO+/pE/tcsLtN1/7mIStq/7Bd/9/ztkdJCOGGesS5AUt5g5N/tt90eqCg8O9pca23ul6B9A/YvDysPP1VZS2ThzJTtlRZ/qV9kW/Nrn92nh78tPq78W+jwV9pT8CfRwN43P1TdpJjLg2/ylCd/Noub6zil/VO/WPzgt/pcjTPWBeiSzQ2mf/rbGgcyC5dHq7sqyTFY/1QtKs9x6uaISFWIJX6VqVPKlcpZWZ/Su4ldjtVfpax6/0v1733zQ9VNirlO+9lnc0uM4rKP7+u95EHNduq8qApUCtCnW7vB+LblA20LN5SV+8G/ENz/6VcHedorrrS63DLtHec1ta1Vbz9W//zXorZ+ojyq7il+//Bf/iTL2n5oZ5Mkv7XigNoSozh9PqZ/+pPqo+YZl/yzbTC+rXEgXaMtjgb/AlLUv6pXuhL/jiufe/ur78sK/bYpoJsxx7vF67upP1SzaWOLf7o4MyIFiX+lAyH+9UR2Vfd+nl3pPx5YrnRe/9vf/ej9L8ymgLqr1T1XOisfmh+q31Su/8nyzOIs9b/VB5/W1/+Mvj1r/W8n2m+0reX6H/wLRtH/XMm/lfbv3iebrKmZBxzZ8hT5NA8UovMit6iypyzkrUzOxoeqm/RHzfavssQozmiRFtL/UBy/SKqWZm5D+9f0Sh+orv273S/VHvrB+md0q5XvSE3/X3Hpf1NU8uTdWm0VruxZlL5vfmhnk0T3/5kPYszittvL/X/7qp5Y7f8zPanfYH7b7YHq+v+2++VHSo7B+re5l+3f4qnB1j/10ODncqe3v8waKMajC/mZD/TzD8O/6p6ikfvwU9UfU3xod5MgS22/+2X+2cISo7j7/ziYvfPJzvMPcYLyYcVn5hlX4lTthtK3LQ5kPP/4m8926n/6SKkxXP+SIcWq1bzn0RXOwL/OJOXfXA7SyiqONQ2vFIF/nUnKP12lSLO1sQv860xS/m3e/vigPFonbeAfiAn8AzGBfyAm8A/EBP6BmMA/EBP4B2IC/0BMPPs3AyPg9vaJlevr62cEYvnntzjQP7ff2snkW5OAf8CJbxv0o8oH/4ATt43y0e2Df4BLk3us0Af/AJ9m+Rrte/r0KfwDHWiMfW2h7+nTGgHhH6DRlnfbEu/Tp3UCwj9A4LZL3oV/oBs+mhzwD7jQNe+WBaz+Ev6BBhrd4/a2oP0LePgKfXbgH6inOe+yO5rhH6DTmnf92Af/QA1NYwv8hT74B2poybte7YN/oESLex4TL/wDVVryrufQB/+AQXve9W8f/AOStrwbIvTBP6Boz7uB7IN/oC3vBgt98A8Q8m5I+4L5p+d+t064CP8SoC3vhg19Af1b6NUyVsXiK12KAwFozbs92BfIv/uTwrqFZXp1+BeVVveCJ96Q/t0dFWukrSwZGP5FpDXv9hL6wvmH+JcwlLzbl33rb35PPW1m/S8PgKj/pUV73u0v9GX2fROq/ZuvNmZfXAf+RYCSd/sLfZl96P+bDu15t8fQp+SDfxOB4F6Poa+QL5x/uv+5uqq4Y3GgA83vjkcIfea/wvh38/5p1gh58PlmbnsAAv/6ItnQF86/vP9lLhYWtyyvCP/6gJJ3+wt9O/KF8i/vfxZ9f5X+5+3UwYzigAsk9/oLfXXyhfJPx799lYS7FgfYkOp8veZdy4ZA4w/EqrKiEnh3hPwbAWLo600+m33B2r9ideO9Bv3gXzCGkXcD+9d3cUBBcq+/0Nci3xr+jYr252s9h772feDfWKDl3YRCnwT+jQGie72FPqJ862D9f9t+PvS/hIboXm+hjy7fOlT8uz+xvnjkUhywQ6vz9Rn6WLsHG39g63hxKg7UM9y8qwlV/1vZh764FAd2oLqXZt7VoP0xUOjy9WKfk3xr+DdMwubdunnqm3GUbw3/hgc577pGvtp1OhpwDX0S+DcoaONalH2ORtSvU2Sjk3xr+DcsQoc+AcO/rvKt4d9wCJ53c6j+eZBvDf8GAqOvpXNzl6KfH/nW8G8Y0EOfDyfa9PMm3xr+pU9feZeIT/nW8C9x+sy7BDzLt4Z/SZPW2AL/8q3hX7ow8q5/LXYJId8a/iXK6POuBv6lxhU97z5+/DiQFibh5FvDv+S4+vprauh7zHxQ60JQ+dbwLy2yOt/l5SUx7/Ie1LoQWr41/EuKzKvLS4KAqtIX2L8e5FvDv3RQ7V2Cf7rFEdK/fuRbw780KPpaLi9bBDTbu6H0602+9fr6mnqJ4F8ozDF9Lf5VOltC6NerfNffPqFeJfgXCLOv5fKyQcA+uvp6k+9ayJcB/5y56l4E5x22PuTryb7cPfjXhauu/pHd6+URmyFf2E4dQz7414GrjgImFvq2Pz999913gwiYeV2WD/65c9XFP3re7Tn0rZV+QQR8+vjx459Uvx78c+PqyllAVt4Nbt9Ope9dhe/jXGfyCeCfF5z9o44t6Cv07fwqhH8i7f7kJ/DPG1dXTgKy8m7/oU/yntTvPX+Hyet8vfqn19+yTsM2cP9cSDzvFrznUz+jwVGnXyD/FnrZX6z/q0k+72557z1P+lVauzX6hfEP659XGELe9c1OV0stQfzL198SrCY//y7DvanJF8o/xL8tdPmi511vUOUL5V9W/8sD4MTrf8i7zdzSPeAJo2fAt0S/KfjXR95d0ndNT75vN7cMD9D/xyO8fJl+S6KAPPlcxx+w5Lu9lZcJ/oWgp+e7RP+Ykc9tWDUr7d4WVyqQf/PZbF/2QdtmwR+vf/21d5dLgoDsvOvyWgmvzmcSxj/R6p3P9kU9cGrtj77kE/p99NFHzQK6VPrY/rHrfCZB/JP9LyuxBvXE+l96Hc+8/Oi73/3uR3b/HFscPP9c6nwmDv6t8pXd7AvMyP5n1fNc6X/ergtHPe5g4OVdFzPKSP3sAro3d+n6Odb5TLj+3R3N8pW1suqdbXTBFOMfRz4/PX3vKeo2detsoenHinzf2i4b07+7H5nKlf9lUNT/jCchjscdBFHeI7L510NP3zVPPkvsE6D925VozzieSv0qoaof+fy4J0D/X0fod4IoH/2ZxtMd/ZKTz5p3NQ7+6WdrbUv8+jluulwFybvkZxrrakUtfOjjyVft6quF79/9ifWhLoPh+0eep4+Xdzn+GfiUr779wZSvJe9q+P4Zg/s6MHD/bjfUifqYnS2kZxpV/Ea+uv4XrnzkC+kS/yxN2i06Qzdk6WH7dyumanlN8Y/b5HDwz3Pa3e1/5qZdhn4u9b+b90/bdr4/aascDte/vM53+fo1ZaJI5s1fLpkC+q/0lf1j9rSQ867Gxb+D9vbH/cm+p+Mmxba9kYW/1y0B0KW3hedfkBaH4V/IwJfjkn9b1JKsGh7PsY6bDqW1d4V+jQHQqatvuaQLGKy5m+vHlm9nbAEFtD+olLpapH72ABh8MH3Qvpa6eYJaYeZdTZD2h8/jJsFuP1/TPKWDlm/tEvnc3BOEaX94PG586vqY7fOUhg596cnnlHc1Lvm3uWfF83Fjw5i3YJLyOeZdDZ7/NsEZ09eUd899yJGefB3dE8A/Gzz3GkPf+XlnAYM/3OXL1zq2gIKLf/NHz+0vlvs+bhx47rU1OTr7F14+ft71c6Ed/JvL8Qd3R5RuwO7HjQGrztde6zs/7yTgKPOuxr3/zzazkOfj9g4z77b3tiylf06jWhKUz6N7Avf+v8UI/eO6R2rwnp+7BsA2+boulGCRr26evlw+L3U+E4f8qyYXujnoVAFM0L9bzlxVGZe0juZl7h83ALZHvt3xzxyska92nlKln/+L7tL+kAMQ9rp1QqfnHzf0XVwQx9MznukWUNJu7fsfRBrSbv08zb7zrgb9LwKXvOs4UJkAsc7X8P5lC411vjr/wrgngH/swKcqfcula5OiGXqDw9G/thbHrn9dnq+1Eeb9X4/HDQ67uSvTbqbfuf8AyGrtuuRfSnO3rF+gvKsJMv+Bz+MGhd/Xout8wj/fAZA9UxVTP2pfS6FfYPcEQeZ/8Xnc7tgWienS1yL18xoAHaeqIu/bw1hmF8Zf/7OsUtTxGQe/SdtEcr3MQet8JtP0r/vYAo/+pSdfD3lXM3r/dpdpa3KvbkRzXS+zS59ePVOWbzN+/3bWCWzMu7sjmv2MKLV5Gjj0xX64S2Ba/rXl3Yp/voYz13cVJief94e7BBzGv3yonrwNYvzL1XahVEKdr/RKh8ex9DWjD1KTr6/2bhV3/wY2/oVwBy7FnBpKQK8vcux2FaYmX/95V8P1b76d2WUo41/I86SpOQ0ufb9FVB3/Fzz0ceXr71bs4h7/ejpuZ77+mjhP1aX07+LignijqY3f0vi/5PJuXx19Fkbe/uDMk5YZmMlH7lKhdr4Y4/+Sky9e3tU4+CfndR7G+7+3lTZFI9eZfIw+veUZbc9i/F9i8sV3T+Dy/lEn8bjHdUbV+azzFOzYd82bfGp5RvRPETb0DaOvpQ6X948IDY/WGBnYP2OeNIp/+Yg+joDLs1dkATny8d/pGExfSx1h5r9a6MZxpPWnq/o1CujU3M30I/on5GNNKc4ScIh1PpMg8/8ZU2T1v/4Rd84Mx5WfM/8oAsrIR69UBlx8TckX7LI74jT/aVsANEKk7SlJIP98v7trQ+rX6p/Ou/Sh+gz/ep6oKhDc8fftM4tv4sU/3pi+Tt3M52eCppd6t5W+5fkZVcCnckxzu3/9T1QViDD9fws9OLrH+p+XvEvuU87ke9Xkn9HiWGZN5TNqBqa8UjT0Op9JoP5nHSetS9V49s/ThC2M3j/5/pF17VOzvbsUshIDYHv8c4h8qfS11NFh/slOb4B49Y+bdxusovb+LWVSpQyrWuapmlRyS/3PRb50Y5/A6f2jQ/nnMaknsOtxW/HY3mU9/jivbX3U9PSdn2eqEud/afJvNHU+E/f+l6xlYWtc3B21LhHnxz+Pc0SuVVAjdz8va0JabT9zlqhF+CMnYC+rr0n5Us67mk7zr9k6V+6O/rZtdiIv/vmUb63f6SX6J6Qq7Wp7yLHMiyW3gGv0c0i76XX11dJh/rUs/ln9O8yawI3d1N398zU3c0mUM6Iosk17VhrU17RzpzeFR5l3NV3qf9YnIapiuJrtKrjtPWSfqYnfvLsVhT6nwdKc06/l+W6XqRIG/XCXgEv/i2wBZ6HPOhCmaJisQqx/yZynj9HNzBBFNSrEzq2DCzhpvYxLc3dY+oXp/yM0jN39C/eMgzFRrmxUiABIGNmyLFRlMb6+ljqG5R8777LuOGOiXFVXfPOGMK5qmfc/swR0ks/pkkZmOOPv3eeqIiLC30tyBl5++eUbYrnc/OuUdhMcW0CBPf7gMMr6W9y5mR3X3n314hVx8dM3b+imsqZ/dqvzDVO+zVDiX5jm7i4vX7yk7CZGlNKrirl/lJ0n0OCokL5/tXnX98LPirMXX7w4a9tJtneXnLYKdVS/i3xDzbsax/6XR8/nDU0MwihB4nEtga9h6d0uY/pefvHFFy8b2x9FZwvnTRHSvhPLuxqX/ue908Wj541t3PuTtsoh6bjWcS31/nWdt+Dli8y/hgz8TWlQH1VAymtN0+hrqcPt+ZsYeNA4/0vrSyLtx21o79a9UdR90gwZ/uwBsDymz9v8f46RbwhjCyi4jT8Q/jXPf7VqGRzYfNzmvpaaV9p8zNhy9kL6V1sDDPf6rpN844h9Avf4N28dY+V43NbGbtU/X/MFvVLs/D6kfFPNuxrn+t8i0Pz37WOZy+/0+pus6iz3rxz/EpNvLHlX4zz+IMj6b8GfcTSxzMefmpW6xmFVXQ7mVukbVeiTpNP/x16DzUulr0xVvqbQ121In4N745Nvk4x/3OdrnkOfxvCPMKzKUcDJjC2gEOT9c/ZxQyz77EDRpUKo9Dn2viDvlnGr/3VqelSKC7LmuBO6T4/S4nDq/pvoM44mIvvntvZpIKRSpDF9Tv5NbmwBhaj+MddgCyqfVOrNmze8h2rkwqc0po9DPP869bWEWPo5rZ6+keddTSz/nnSQj9n2JA2od5CPeArTG9PHYQj+7aZdjn+ENzqcIl+4AaVTyLua5P2rq/Oxql5t/pXkY4TVQEP6JpJ3NYn7V9vgYNX95cuP1q2VyMfQuvUMUOejEKv/meKfrbnL888+Telu2uXM/9d4Cj2NLZj1Qofb3P4NvO9Io9U/e18La52EfPKp3Q11dT7O8h8Nk7r094yjl1V8Juifv44+yzzNtQ0OhtZL6/ynvfa1wD9XGvyjyMeZp3lHwIaZ0jgTUNbs2fd4Uvjnis0/WuTj1tOMve19LXXj/5oLLv8mwnhS+OdKrX/ktMupppkCtnX0UdcUXO/UFeOMa4F/ruz6x5knzWnwE6GX+exV6+vn5ikU5xCrrwX+uVLxjzdPGu/ZP3VEX7bnq5eveIFV/BhxPCn8c8X0j9vaZbYTzpfU52tnL1+8pAVAXVeMPK4F/rlS+MfvamH1/63XX375JbHg81cvXrx4RVsoQT7/jT6uBf658kTbR7zb1ZtP3O+bb+jzpInw94IaANfri4uLqO4J4J8rT5xCn4YY/ETaJU9pqsIfMQBeX1+QVlUvyef3CgrgnytPOj3ioPinKn2cOXXVC+iELpgs7ZKWVTcJMqYK/rnS6flae+2vaHGw/FO0+KcqfTz/Qo1rgX8W7k9axsg8I4lmEaWl+WE0d8/P6QIu810pE6Vd1syB1LN7AvhXz2JWLABimSUwnH/Ob3G0tqvd+lpCUr4p9kFTWThQ92FlXxGXeBDPBPGPsP55B/+aPAn3DlGS40kr/v3jlh3/1H2YT8I/Y4C0bZbALvHPhkU+zpM6276JrsFG9++vPhTzRd396O+n4F/Y+FePNfJxHhXX75te3tXQ/duX83WvHv1C3I9Flp8PRZj4pyPCIuLD829TTA4YpP5XQ0PaXTKWvqrxL/ozjiYY/q2EePNDMWvoYu90c3NwmPmX/bBonUhvgP4V74lYo71P/7aT0tcpxVj7ZbdWmfj8pAz/br73+ebuw9O5njk+qxjJH24O2gLgEP1rxZt/Rt6tzZ4d/POXd6/8XrwChn/3J8dZ+n2e+beSES/zTlbT219mhH9WypW+Ov84i1/pMS0Sn3n36qtAAjL82yz2s/QrZu1e5T00Y/ZPLA18c9AwS68P/yqVvto+GZ5/ep0sz+9xfPXVV6yrR4bj3833fvfPp5si/m1y9Ubpn9Tv/dOGb9fZv532bm2n4FKtE00ScJn7t/S9HsdV5l+YAEjvf97P/vtpVgWU9b/8nozWP1mxncsVaML0v1hf3t0JgKzFT0X+vfDe3hX6BRKQelPkckDzmfgjb/9u5nunI/bvWPcBVvqfi/89O/hX39NX/1SkiGk0//7yl78wB1UR2rtfKRjXjwzLP7kk0Fz3/2X3ZbT+ydi3CBP/uA/Y6COlry8uXv/5NXdUX+u1uMr9CxEAMf6gnrujB5/LALiyNUDc/Gvs6bPrR1z89PL1n/+cCegz9mVcaTgXkAj8s5E38q2rEDr419bT18E/2d69fC39owqYwlxV8M8Vrn/tPX1N+tEWP80EfE3UL5F1sOCfKzz/KD19dgebNho9fUo/koAJhD4J/HOF4R+tp8+uX+M0faZVtDHNKeRdDfxzpca/Wk3oPX1W/2ydz9WHHJeEQfUJuSeAf7UQZknd9a/GKE5Pn12/2qcf41gHi/r8Q63VrN6KaF2avvkgngkT/+5P2ibnJfjnZSh97fOPpMf0caj4d7WlvGUhb8f8H4SGaviV80E8E+z9t5b/yXb8q0Q0Xy9y1Iw/GNF6HFT/5CC/uw9/LR7Jy+fy7gfxTLj+v+bHOvX+Eafp4+pnCDiudbCo/smYt3r0fyfHeSxcqRH4NwdiBP6hGKkkblf9uPxB+tdG1b9tlc7vK2ylquJo8q6G6p9+ICr+muePgu+O9jP/xAh8UUcXVlrG5U/Jv6Xn9yeNtsoY18Ei+7d69DwfAC3+UmNDVnunwrZN/sexbVz+JPyThHl7N58kki9funlXQ/Yvq/TdfXgq/hLVP+VW9qf8Qf9hG5c/Ef9CvTouB5SOLO9qyP5lUU+8AJf/pfzLDCv7ZxmXPwX/As5bkMI8faEg+7eZH8rxcPN98VdT/NvsjIsevX9BJ824YM6TJvD7VQNC7X/OqnXfEW3fzerhx8cbs/5n+Gcblz9u/wLKJyt93Hn6BhP7BPSbcvPX76vanQxy2/av4Z9tXP6Y/XOVjzSgdDtPH1XAIbknoN+U+xP5CC7/a9v/Z/pnGZc/Wv/cQ1/rw9/tmD66f4mM6eOA8QeuPOuUd4kDSpV+r2kCDiz0SeCfK793l69l/Gm1r4Ui39Dyrgb+udLp/V+7fzU9fW3+DdU9AfxzJcT8u7XdzM3VvwHW+Uzgnyve/bM942j0b8ChTwL/XPE8/7P1AZu9/TvkvKuBf674nH+y6fGuxb8RuCeAf6548695bEH9O0XJj2uhAv9c8eOf53n6Bgf8c8WHf2muidAn8M+Vzv7xQ9/I3BPAP1e6+eeQd0dT5zOZ9ULQb+B9Rxpd/EPeHQ+D848d+uBeygzLP758w36+Nn6G5J9D3vV70sA7g/EPeXeUDMQ/tnx+zxaEYgj+oatvvCTvH/LuqAk2/5rqurROA0j0D3l35ITxb6GXne60/jQ79I3yGce4CeJfvvaWwH39I+TdKRDEP2NNsRV5/udOoQ/uDZQk4x/y7mQIVf/LA6BD/Y8d+iDfgAnU/tUrMFiin9U/pnxwb+gk1f/Hzrtg6KTjH/LuFAnU/pXzG3L6n5F3p0k4/xZqsR3LMiDP3EMfxvSNiGD+5eYR+l/Q1TdhgvmXrx9R6X8u3ml55hb6IN/IiBv/ePIxzgAMhED+iRC3v2lYbPEZv6+PcQJgKITqf8kU3Du1P/7YPEPeBZt4/X8M++DeiInl3xOqfRhbMGrS9g95d+wk7B/cmwAB27+Nb4C0+oe8OwnCxL/7E+uD35xm/5B3p0Kw99/2m3d4YuX2tp9ZxUAShPFPrrAYkFBz0gUqF6fbudxeptokk+IV6r/YKZ0u/Euv2CmdLvxLr9gpnS78S6/YKZ0u/Euv2CmdLvxLr9gpnS78S6/YKZ0u/Euv2Cmdblr+gakB/0BM4B+ICfwDMYF/ICbwD8QE/oGYwD8QE/gHYgL/QEzgH4gJ/AMxgX8gJon4t5iJebUybg7UDG++y81+8Pvq3lzOgLjS5fstV67zaJtjzL3Y0g8+y3W/a2n4t3jw+WYlbuQq+zp3R94ELMpdyFnjPAq4kmugiLJXXgWU5d6fZGUufP5/uNJLtqzsa7e4l9vhriXhn5zOUrzbrlb4WrTNsuBQrrg4c3839O5IeXLot9i8XDXJsbfLoIs1f/BZbpe7loR/EuHIzft+k5ku17t/i0e/COFJXq7CY2AtijXL91Zul7uWjn8yRT747yPPFR9Zru/8m13xeXHhbWuBupermHsrtyi2VL63crvctVT8W8kvsBDzarVOMsMv13NDQSQceeFlkf7ilC5XYp/k2LnYUvn+yu1y11LxT3ybR88Xe54DSl6ujCU3B75uqJj9P4R/ulzByl/zoyjWLN9juV3uWjr+ifuoqlL5GiMey/VbUZNpN0D+Lcrd+Ix+ldP1519RXJe7lpB/2RdQt9JzK0SU6zVQLfI5xo49tz+KcsWP/irBRbFG+V7L7XLXkvBP3cfsa6jVbfwFFF1u8YOfcgXzIP0veXxaeJ/mLmT/c5e7loR/25u5KO6q33L91v900QH6n1Wi9HqmRbHlHzyW2+GupeHfZq7Twsrvg6ei3HmYB1qLIM/f8szms+Swz9/c71oi/oGJAv9ATOAfiAn8AzGBfyAm8A/EBP6BmMA/EBP4B2IC/0BM4B+ICfwDMYF/ICbwD8QE/oGYwD8QE/gHYgL/QEzgH4gJ/AMxgX8gJvAPxAT+gZjAPxAT+AdiAv9ATOAfiAn843J3NJuJCT/zaZ/ad/c9ldWogH9M1CzS871TmOUD+MdEzfYnZjuGfx6AfzyMabbvjn56oGZ3K6YfWxjzkIk1gbKtwlI1n9pheTsQwD8m23nB747EKkX5wg5y+R/xDz13pJxyNduio6SYpdfcDiTwj4uIa3KqWbm6UqaZmvlztXcqf6HnodXT0eb+CR1L24EE/jlwfzLT7Y/sDzW5dDHLeT4P/N2R8kz5JxeBKG0HEvjnxjyfLL3wL/thVZpfXq5heZz7J5fIKG8HAvjHQ0cvmW5r45/JPN9LVfo8z1Q+CuAfD93+XW3jn1H/q0a27EUmKGAAAACbSURBVDfilzL7oiu6DvjHJF/xdnZY1P/K7V/ZNb3Jg10u5SIPfOZ2IIF/XOTzN+FQ4V+5/083b1dqNxkgdb3P3A4E8A/EBP6BmMA/EBP4B2IC/0BM4B+ICfwDMYF/ICbwD8QE/oGYwD8QE/gHYgL/QEzgH4gJ/AMxgX8gJvAPxAT+gZjAPxAT+AdiAv9ATOAfiAn8AzGBfyAm/w9FhZuKBDpbegAAAABJRU5ErkJggg==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7" name="AutoShape 8" descr="data:image/png;base64,iVBORw0KGgoAAAANSUhEUgAAAn8AAAGKCAMAAABKJ9f+AAABNVBMVEUAAAAAADoAAGYAOjoAOmYAOpAAZmYAZpAAZrYQDv8pDucpJP86AAA6ADo6AGY6OgA6Ojo6OmY6OpA6ZmY6ZpA6ZrY6kLY6kNtmAABmADpmAGZmJMJmOgBmOjpmUv9mWGZmWv9mYP9mZgBmZmZmZv9mkJBmkLZmkNtmtrZmtttmtv+QOgCQOjqQZgCQZjqQkGaQkLaQtpCQttuQtv+Q29uQ2/+jhqO2ZgC2Zjq2ZpC2kDq2kGa227a229u22/+2/7a2/9u2///akdrbkDrbkGbbtmbbtpDb27bb29vb/9vb////AAD/AQH/AgL/Bgb/DhD/DxD/HSn/ISn/JCn/Jin/KSn/SWb/Umb/WGb/Wmb/YGb/Zmb/tmb/tv//zP//25D/27b/3f//4v//8f///7b//9v///9idYIAAAAACXBIWXMAAA7DAAAOwwHHb6hkAAAgAElEQVR4nO2dj3/ctnmHT469Ko3SLls7KU1qu9vaLtLartnk6340a3pruzm21VSOlZMuknWR7v//E0YABA/kEeT7ggABkt/n84ktizyQRz55XwAEgdkGgHjMYp8AmDTwD8QE/oGYwD8QE/gHYgL/QEzgH4gJ/AMxgX8gJvAPxAT+gZjAPxAT+AdiMlz/7v/z+7PZ3g8+Ez8vZnunzE+fzB49D3FaNuazB5/vHvT+3z8nfv7+Nwez2Q/lj/Xfdrfw0n70I/XKYP3LLrdk73gzXP/efvyAasVKfNlD+aOLf4wj9cpg/VvMcsR15fvXO/NZjQC1v6zH+IrUb2vuxzhSrwzWv/ls75Psf+ssCh7LK/1vv5nNHqrL/ccfz2bv/EzGgvvst3s/3IaF/9E5W0aLu6M8hp7u7vnHj7MNH5yWPrS7SZ3Jg//KjvhQ7JCdyK8/nj34zCxOZM6Hn5rx7w9Zge98Ij6Z//+zPeOigE35q8z1eW4q37Y4UF74vdwidTP2K46UGgP2T17OmwORlBZGLNT/EDcjF+yhvvCLYreqf9U9V1szF0bZlU35mVT3LUoWxemKwta//AOHhRXGGS+Knzalr1L2b3tG2wOpwtXR9r5vFCt+hH++yS7u3s9+u/3Ho8/En4fSyOw+qJ/nIpIoRQXZzdp/vvmD2LStLc3z+1vaM9v8nefq38aHqps2uoDss9kO+/pE/tcsLtN1/7mIStq/7Bd/9/ztkdJCOGGesS5AUt5g5N/tt90eqCg8O9pca23ul6B9A/YvDysPP1VZS2ThzJTtlRZ/qV9kW/Nrn92nh78tPq78W+jwV9pT8CfRwN43P1TdpJjLg2/ylCd/Noub6zil/VO/WPzgt/pcjTPWBeiSzQ2mf/rbGgcyC5dHq7sqyTFY/1QtKs9x6uaISFWIJX6VqVPKlcpZWZ/Su4ldjtVfpax6/0v1733zQ9VNirlO+9lnc0uM4rKP7+u95EHNduq8qApUCtCnW7vB+LblA20LN5SV+8G/ENz/6VcHedorrrS63DLtHec1ta1Vbz9W//zXorZ+ojyq7il+//Bf/iTL2n5oZ5Mkv7XigNoSozh9PqZ/+pPqo+YZl/yzbTC+rXEgXaMtjgb/AlLUv6pXuhL/jiufe/ur78sK/bYpoJsxx7vF67upP1SzaWOLf7o4MyIFiX+lAyH+9UR2Vfd+nl3pPx5YrnRe/9vf/ej9L8ymgLqr1T1XOisfmh+q31Su/8nyzOIs9b/VB5/W1/+Mvj1r/W8n2m+0reX6H/wLRtH/XMm/lfbv3iebrKmZBxzZ8hT5NA8UovMit6iypyzkrUzOxoeqm/RHzfavssQozmiRFtL/UBy/SKqWZm5D+9f0Sh+orv273S/VHvrB+md0q5XvSE3/X3Hpf1NU8uTdWm0VruxZlL5vfmhnk0T3/5kPYszittvL/X/7qp5Y7f8zPanfYH7b7YHq+v+2++VHSo7B+re5l+3f4qnB1j/10ODncqe3v8waKMajC/mZD/TzD8O/6p6ikfvwU9UfU3xod5MgS22/+2X+2cISo7j7/ziYvfPJzvMPcYLyYcVn5hlX4lTthtK3LQ5kPP/4m8926n/6SKkxXP+SIcWq1bzn0RXOwL/OJOXfXA7SyiqONQ2vFIF/nUnKP12lSLO1sQv860xS/m3e/vigPFonbeAfiAn8AzGBfyAm8A/EBP6BmMA/EBP4B2IC/0BMPPs3AyPg9vaJlevr62cEYvnntzjQP7ff2snkW5OAf8CJbxv0o8oH/4ATt43y0e2Df4BLk3us0Af/AJ9m+Rrte/r0KfwDHWiMfW2h7+nTGgHhH6DRlnfbEu/Tp3UCwj9A4LZL3oV/oBs+mhzwD7jQNe+WBaz+Ev6BBhrd4/a2oP0LePgKfXbgH6inOe+yO5rhH6DTmnf92Af/QA1NYwv8hT74B2poybte7YN/oESLex4TL/wDVVryrufQB/+AQXve9W8f/AOStrwbIvTBP6Boz7uB7IN/oC3vBgt98A8Q8m5I+4L5p+d+t064CP8SoC3vhg19Af1b6NUyVsXiK12KAwFozbs92BfIv/uTwrqFZXp1+BeVVveCJ96Q/t0dFWukrSwZGP5FpDXv9hL6wvmH+JcwlLzbl33rb35PPW1m/S8PgKj/pUV73u0v9GX2fROq/ZuvNmZfXAf+RYCSd/sLfZl96P+bDu15t8fQp+SDfxOB4F6Poa+QL5x/uv+5uqq4Y3GgA83vjkcIfea/wvh38/5p1gh58PlmbnsAAv/6ItnQF86/vP9lLhYWtyyvCP/6gJJ3+wt9O/KF8i/vfxZ9f5X+5+3UwYzigAsk9/oLfXXyhfJPx799lYS7FgfYkOp8veZdy4ZA4w/EqrKiEnh3hPwbAWLo600+m33B2r9ideO9Bv3gXzCGkXcD+9d3cUBBcq+/0Nci3xr+jYr252s9h772feDfWKDl3YRCnwT+jQGie72FPqJ862D9f9t+PvS/hIboXm+hjy7fOlT8uz+xvnjkUhywQ6vz9Rn6WLsHG39g63hxKg7UM9y8qwlV/1vZh764FAd2oLqXZt7VoP0xUOjy9WKfk3xr+DdMwubdunnqm3GUbw3/hgc577pGvtp1OhpwDX0S+DcoaONalH2ORtSvU2Sjk3xr+DcsQoc+AcO/rvKt4d9wCJ53c6j+eZBvDf8GAqOvpXNzl6KfH/nW8G8Y0EOfDyfa9PMm3xr+pU9feZeIT/nW8C9x+sy7BDzLt4Z/SZPW2AL/8q3hX7ow8q5/LXYJId8a/iXK6POuBv6lxhU97z5+/DiQFibh5FvDv+S4+vprauh7zHxQ60JQ+dbwLy2yOt/l5SUx7/Ie1LoQWr41/EuKzKvLS4KAqtIX2L8e5FvDv3RQ7V2Cf7rFEdK/fuRbw780KPpaLi9bBDTbu6H0602+9fr6mnqJ4F8ozDF9Lf5VOltC6NerfNffPqFeJfgXCLOv5fKyQcA+uvp6k+9ayJcB/5y56l4E5x22PuTryb7cPfjXhauu/pHd6+URmyFf2E4dQz7414GrjgImFvq2Pz999913gwiYeV2WD/65c9XFP3re7Tn0rZV+QQR8+vjx459Uvx78c+PqyllAVt4Nbt9Ope9dhe/jXGfyCeCfF5z9o44t6Cv07fwqhH8i7f7kJ/DPG1dXTgKy8m7/oU/yntTvPX+Hyet8vfqn19+yTsM2cP9cSDzvFrznUz+jwVGnXyD/FnrZX6z/q0k+72557z1P+lVauzX6hfEP659XGELe9c1OV0stQfzL198SrCY//y7DvanJF8o/xL8tdPmi511vUOUL5V9W/8sD4MTrf8i7zdzSPeAJo2fAt0S/KfjXR95d0ndNT75vN7cMD9D/xyO8fJl+S6KAPPlcxx+w5Lu9lZcJ/oWgp+e7RP+Ykc9tWDUr7d4WVyqQf/PZbF/2QdtmwR+vf/21d5dLgoDsvOvyWgmvzmcSxj/R6p3P9kU9cGrtj77kE/p99NFHzQK6VPrY/rHrfCZB/JP9LyuxBvXE+l96Hc+8/Oi73/3uR3b/HFscPP9c6nwmDv6t8pXd7AvMyP5n1fNc6X/ergtHPe5g4OVdFzPKSP3sAro3d+n6Odb5TLj+3R3N8pW1suqdbXTBFOMfRz4/PX3vKeo2detsoenHinzf2i4b07+7H5nKlf9lUNT/jCchjscdBFHeI7L510NP3zVPPkvsE6D925VozzieSv0qoaof+fy4J0D/X0fod4IoH/2ZxtMd/ZKTz5p3NQ7+6WdrbUv8+jluulwFybvkZxrrakUtfOjjyVft6quF79/9ifWhLoPh+0eep4+Xdzn+GfiUr779wZSvJe9q+P4Zg/s6MHD/bjfUifqYnS2kZxpV/Ea+uv4XrnzkC+kS/yxN2i06Qzdk6WH7dyumanlN8Y/b5HDwz3Pa3e1/5qZdhn4u9b+b90/bdr4/aascDte/vM53+fo1ZaJI5s1fLpkC+q/0lf1j9rSQ867Gxb+D9vbH/cm+p+Mmxba9kYW/1y0B0KW3hedfkBaH4V/IwJfjkn9b1JKsGh7PsY6bDqW1d4V+jQHQqatvuaQLGKy5m+vHlm9nbAEFtD+olLpapH72ABh8MH3Qvpa6eYJaYeZdTZD2h8/jJsFuP1/TPKWDlm/tEvnc3BOEaX94PG586vqY7fOUhg596cnnlHc1Lvm3uWfF83Fjw5i3YJLyOeZdDZ7/NsEZ09eUd899yJGefB3dE8A/Gzz3GkPf+XlnAYM/3OXL1zq2gIKLf/NHz+0vlvs+bhx47rU1OTr7F14+ft71c6Ed/JvL8Qd3R5RuwO7HjQGrztde6zs/7yTgKPOuxr3/zzazkOfj9g4z77b3tiylf06jWhKUz6N7Avf+v8UI/eO6R2rwnp+7BsA2+boulGCRr26evlw+L3U+E4f8qyYXujnoVAFM0L9bzlxVGZe0juZl7h83ALZHvt3xzxyska92nlKln/+L7tL+kAMQ9rp1QqfnHzf0XVwQx9MznukWUNJu7fsfRBrSbv08zb7zrgb9LwKXvOs4UJkAsc7X8P5lC411vjr/wrgngH/swKcqfcula5OiGXqDw9G/thbHrn9dnq+1Eeb9X4/HDQ67uSvTbqbfuf8AyGrtuuRfSnO3rF+gvKsJMv+Bz+MGhd/Xout8wj/fAZA9UxVTP2pfS6FfYPcEQeZ/8Xnc7tgWienS1yL18xoAHaeqIu/bw1hmF8Zf/7OsUtTxGQe/SdtEcr3MQet8JtP0r/vYAo/+pSdfD3lXM3r/dpdpa3KvbkRzXS+zS59ePVOWbzN+/3bWCWzMu7sjmv2MKLV5Gjj0xX64S2Ba/rXl3Yp/voYz13cVJief94e7BBzGv3yonrwNYvzL1XahVEKdr/RKh8ex9DWjD1KTr6/2bhV3/wY2/oVwBy7FnBpKQK8vcux2FaYmX/95V8P1b76d2WUo41/I86SpOQ0ufb9FVB3/Fzz0ceXr71bs4h7/ejpuZ77+mjhP1aX07+LignijqY3f0vi/5PJuXx19Fkbe/uDMk5YZmMlH7lKhdr4Y4/+Sky9e3tU4+CfndR7G+7+3lTZFI9eZfIw+veUZbc9i/F9i8sV3T+Dy/lEn8bjHdUbV+azzFOzYd82bfGp5RvRPETb0DaOvpQ6X948IDY/WGBnYP2OeNIp/+Yg+joDLs1dkATny8d/pGExfSx1h5r9a6MZxpPWnq/o1CujU3M30I/on5GNNKc4ScIh1PpMg8/8ZU2T1v/4Rd84Mx5WfM/8oAsrIR69UBlx8TckX7LI74jT/aVsANEKk7SlJIP98v7trQ+rX6p/Ou/Sh+gz/ep6oKhDc8fftM4tv4sU/3pi+Tt3M52eCppd6t5W+5fkZVcCnckxzu3/9T1QViDD9fws9OLrH+p+XvEvuU87ke9Xkn9HiWGZN5TNqBqa8UjT0Op9JoP5nHSetS9V49s/ThC2M3j/5/pF17VOzvbsUshIDYHv8c4h8qfS11NFh/slOb4B49Y+bdxusovb+LWVSpQyrWuapmlRyS/3PRb50Y5/A6f2jQ/nnMaknsOtxW/HY3mU9/jivbX3U9PSdn2eqEud/afJvNHU+E/f+l6xlYWtc3B21LhHnxz+Pc0SuVVAjdz8va0JabT9zlqhF+CMnYC+rr0n5Us67mk7zr9k6V+6O/rZtdiIv/vmUb63f6SX6J6Qq7Wp7yLHMiyW3gGv0c0i76XX11dJh/rUs/ln9O8yawI3d1N398zU3c0mUM6Iosk17VhrU17RzpzeFR5l3NV3qf9YnIapiuJrtKrjtPWSfqYnfvLsVhT6nwdKc06/l+W6XqRIG/XCXgEv/i2wBZ6HPOhCmaJisQqx/yZynj9HNzBBFNSrEzq2DCzhpvYxLc3dY+oXp/yM0jN39C/eMgzFRrmxUiABIGNmyLFRlMb6+ljqG5R8777LuOGOiXFVXfPOGMK5qmfc/swR0ks/pkkZmOOPv3eeqIiLC30tyBl5++eUbYrnc/OuUdhMcW0CBPf7gMMr6W9y5mR3X3n314hVx8dM3b+imsqZ/dqvzDVO+zVDiX5jm7i4vX7yk7CZGlNKrirl/lJ0n0OCokL5/tXnX98LPirMXX7w4a9tJtneXnLYKdVS/i3xDzbsax/6XR8/nDU0MwihB4nEtga9h6d0uY/pefvHFFy8b2x9FZwvnTRHSvhPLuxqX/ue908Wj541t3PuTtsoh6bjWcS31/nWdt+Dli8y/hgz8TWlQH1VAymtN0+hrqcPt+ZsYeNA4/0vrSyLtx21o79a9UdR90gwZ/uwBsDymz9v8f46RbwhjCyi4jT8Q/jXPf7VqGRzYfNzmvpaaV9p8zNhy9kL6V1sDDPf6rpN844h9Avf4N28dY+V43NbGbtU/X/MFvVLs/D6kfFPNuxrn+t8i0Pz37WOZy+/0+pus6iz3rxz/EpNvLHlX4zz+IMj6b8GfcTSxzMefmpW6xmFVXQ7mVukbVeiTpNP/x16DzUulr0xVvqbQ121In4N745Nvk4x/3OdrnkOfxvCPMKzKUcDJjC2gEOT9c/ZxQyz77EDRpUKo9Dn2viDvlnGr/3VqelSKC7LmuBO6T4/S4nDq/pvoM44mIvvntvZpIKRSpDF9Tv5NbmwBhaj+MddgCyqfVOrNmze8h2rkwqc0po9DPP869bWEWPo5rZ6+keddTSz/nnSQj9n2JA2od5CPeArTG9PHYQj+7aZdjn+ENzqcIl+4AaVTyLua5P2rq/Oxql5t/pXkY4TVQEP6JpJ3NYn7V9vgYNX95cuP1q2VyMfQuvUMUOejEKv/meKfrbnL888+Telu2uXM/9d4Cj2NLZj1Qofb3P4NvO9Io9U/e18La52EfPKp3Q11dT7O8h8Nk7r094yjl1V8Juifv44+yzzNtQ0OhtZL6/ynvfa1wD9XGvyjyMeZp3lHwIaZ0jgTUNbs2fd4Uvjnis0/WuTj1tOMve19LXXj/5oLLv8mwnhS+OdKrX/ktMupppkCtnX0UdcUXO/UFeOMa4F/ruz6x5knzWnwE6GX+exV6+vn5ikU5xCrrwX+uVLxjzdPGu/ZP3VEX7bnq5eveIFV/BhxPCn8c8X0j9vaZbYTzpfU52tnL1+8pAVAXVeMPK4F/rlS+MfvamH1/63XX375JbHg81cvXrx4RVsoQT7/jT6uBf658kTbR7zb1ZtP3O+bb+jzpInw94IaANfri4uLqO4J4J8rT5xCn4YY/ETaJU9pqsIfMQBeX1+QVlUvyef3CgrgnytPOj3ioPinKn2cOXXVC+iELpgs7ZKWVTcJMqYK/rnS6flae+2vaHGw/FO0+KcqfTz/Qo1rgX8W7k9axsg8I4lmEaWl+WE0d8/P6QIu810pE6Vd1syB1LN7AvhXz2JWLABimSUwnH/Ob3G0tqvd+lpCUr4p9kFTWThQ92FlXxGXeBDPBPGPsP55B/+aPAn3DlGS40kr/v3jlh3/1H2YT8I/Y4C0bZbALvHPhkU+zpM6276JrsFG9++vPhTzRd396O+n4F/Y+FePNfJxHhXX75te3tXQ/duX83WvHv1C3I9Flp8PRZj4pyPCIuLD829TTA4YpP5XQ0PaXTKWvqrxL/ozjiYY/q2EePNDMWvoYu90c3NwmPmX/bBonUhvgP4V74lYo71P/7aT0tcpxVj7ZbdWmfj8pAz/br73+ebuw9O5njk+qxjJH24O2gLgEP1rxZt/Rt6tzZ4d/POXd6/8XrwChn/3J8dZ+n2e+beSES/zTlbT219mhH9WypW+Ov84i1/pMS0Sn3n36qtAAjL82yz2s/QrZu1e5T00Y/ZPLA18c9AwS68P/yqVvto+GZ5/ep0sz+9xfPXVV6yrR4bj3833fvfPp5si/m1y9Ubpn9Tv/dOGb9fZv532bm2n4FKtE00ScJn7t/S9HsdV5l+YAEjvf97P/vtpVgWU9b/8nozWP1mxncsVaML0v1hf3t0JgKzFT0X+vfDe3hX6BRKQelPkckDzmfgjb/9u5nunI/bvWPcBVvqfi/89O/hX39NX/1SkiGk0//7yl78wB1UR2rtfKRjXjwzLP7kk0Fz3/2X3ZbT+ydi3CBP/uA/Y6COlry8uXv/5NXdUX+u1uMr9CxEAMf6gnrujB5/LALiyNUDc/Gvs6bPrR1z89PL1n/+cCegz9mVcaTgXkAj8s5E38q2rEDr419bT18E/2d69fC39owqYwlxV8M8Vrn/tPX1N+tEWP80EfE3UL5F1sOCfKzz/KD19dgebNho9fUo/koAJhD4J/HOF4R+tp8+uX+M0faZVtDHNKeRdDfxzpca/Wk3oPX1W/2ydz9WHHJeEQfUJuSeAf7UQZknd9a/GKE5Pn12/2qcf41gHi/r8Q63VrN6KaF2avvkgngkT/+5P2ibnJfjnZSh97fOPpMf0caj4d7WlvGUhb8f8H4SGaviV80E8E+z9t5b/yXb8q0Q0Xy9y1Iw/GNF6HFT/5CC/uw9/LR7Jy+fy7gfxTLj+v+bHOvX+Eafp4+pnCDiudbCo/smYt3r0fyfHeSxcqRH4NwdiBP6hGKkkblf9uPxB+tdG1b9tlc7vK2ylquJo8q6G6p9+ICr+muePgu+O9jP/xAh8UUcXVlrG5U/Jv6Xn9yeNtsoY18Ei+7d69DwfAC3+UmNDVnunwrZN/sexbVz+JPyThHl7N58kki9funlXQ/Yvq/TdfXgq/hLVP+VW9qf8Qf9hG5c/Ef9CvTouB5SOLO9qyP5lUU+8AJf/pfzLDCv7ZxmXPwX/As5bkMI8faEg+7eZH8rxcPN98VdT/NvsjIsevX9BJ824YM6TJvD7VQNC7X/OqnXfEW3fzerhx8cbs/5n+Gcblz9u/wLKJyt93Hn6BhP7BPSbcvPX76vanQxy2/av4Z9tXP6Y/XOVjzSgdDtPH1XAIbknoN+U+xP5CC7/a9v/Z/pnGZc/Wv/cQ1/rw9/tmD66f4mM6eOA8QeuPOuUd4kDSpV+r2kCDiz0SeCfK793l69l/Gm1r4Ui39Dyrgb+udLp/V+7fzU9fW3+DdU9AfxzJcT8u7XdzM3VvwHW+Uzgnyve/bM942j0b8ChTwL/XPE8/7P1AZu9/TvkvKuBf674nH+y6fGuxb8RuCeAf6548695bEH9O0XJj2uhAv9c8eOf53n6Bgf8c8WHf2muidAn8M+Vzv7xQ9/I3BPAP1e6+eeQd0dT5zOZ9ULQb+B9Rxpd/EPeHQ+D848d+uBeygzLP758w36+Nn6G5J9D3vV70sA7g/EPeXeUDMQ/tnx+zxaEYgj+oatvvCTvH/LuqAk2/5rqurROA0j0D3l35ITxb6GXne60/jQ79I3yGce4CeJfvvaWwH39I+TdKRDEP2NNsRV5/udOoQ/uDZQk4x/y7mQIVf/LA6BD/Y8d+iDfgAnU/tUrMFiin9U/pnxwb+gk1f/Hzrtg6KTjH/LuFAnU/pXzG3L6n5F3p0k4/xZqsR3LMiDP3EMfxvSNiGD+5eYR+l/Q1TdhgvmXrx9R6X8u3ml55hb6IN/IiBv/ePIxzgAMhED+iRC3v2lYbPEZv6+PcQJgKITqf8kU3Du1P/7YPEPeBZt4/X8M++DeiInl3xOqfRhbMGrS9g95d+wk7B/cmwAB27+Nb4C0+oe8OwnCxL/7E+uD35xm/5B3p0Kw99/2m3d4YuX2tp9ZxUAShPFPrrAYkFBz0gUqF6fbudxeptokk+IV6r/YKZ0u/Euv2CmdLvxLr9gpnS78S6/YKZ0u/Euv2CmdLvxLr9gpnS78S6/YKZ0u/Euv2Cmdblr+gakB/0BM4B+ICfwDMYF/ICbwD8QE/oGYwD8QE/gHYgL/QEzgH4gJ/AMxgX8gJon4t5iJebUybg7UDG++y81+8Pvq3lzOgLjS5fstV67zaJtjzL3Y0g8+y3W/a2n4t3jw+WYlbuQq+zp3R94ELMpdyFnjPAq4kmugiLJXXgWU5d6fZGUufP5/uNJLtqzsa7e4l9vhriXhn5zOUrzbrlb4WrTNsuBQrrg4c3839O5IeXLot9i8XDXJsbfLoIs1f/BZbpe7loR/EuHIzft+k5ku17t/i0e/COFJXq7CY2AtijXL91Zul7uWjn8yRT747yPPFR9Zru/8m13xeXHhbWuBupermHsrtyi2VL63crvctVT8W8kvsBDzarVOMsMv13NDQSQceeFlkf7ilC5XYp/k2LnYUvn+yu1y11LxT3ybR88Xe54DSl6ujCU3B75uqJj9P4R/ulzByl/zoyjWLN9juV3uWjr+ifuoqlL5GiMey/VbUZNpN0D+Lcrd+Ix+ldP1519RXJe7lpB/2RdQt9JzK0SU6zVQLfI5xo49tz+KcsWP/irBRbFG+V7L7XLXkvBP3cfsa6jVbfwFFF1u8YOfcgXzIP0veXxaeJ/mLmT/c5e7loR/25u5KO6q33L91v900QH6n1Wi9HqmRbHlHzyW2+GupeHfZq7Twsrvg6ei3HmYB1qLIM/f8szms+Swz9/c71oi/oGJAv9ATOAfiAn8AzGBfyAm8A/EBP6BmMA/EBP4B2IC/0BM4B+ICfwDMYF/ICbwD8QE/oGYwD8QE/gHYgL/QEzgH4gJ/AMxgX8gJvAPxAT+gZjAPxAT+AdiAv9ATOAfiAn843J3NJuJCT/zaZ/ad/c9ldWogH9M1CzS871TmOUD+MdEzfYnZjuGfx6AfzyMabbvjn56oGZ3K6YfWxjzkIk1gbKtwlI1n9pheTsQwD8m23nB747EKkX5wg5y+R/xDz13pJxyNduio6SYpdfcDiTwj4uIa3KqWbm6UqaZmvlztXcqf6HnodXT0eb+CR1L24EE/jlwfzLT7Y/sDzW5dDHLeT4P/N2R8kz5JxeBKG0HEvjnxjyfLL3wL/thVZpfXq5heZz7J5fIKG8HAvjHQ0cvmW5r45/JPN9LVfo8z1Q+CuAfD93+XW3jn1H/q0a27EUmKGAAAACbSURBVDfilzL7oiu6DvjHJF/xdnZY1P/K7V/ZNb3Jg10u5SIPfOZ2IIF/XOTzN+FQ4V+5/083b1dqNxkgdb3P3A4E8A/EBP6BmMA/EBP4B2IC/0BM4B+ICfwDMYF/ICbwD8QE/oGYwD8QE/gHYgL/QEzgH4gJ/AMxgX8gJvAPxAT+gZjAPxAT+AdiAv9ATOAfiAn8AzGBfyAm/w9FhZuKBDpbegAAAABJRU5ErkJggg==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AutoShape 10" descr="data:image/png;base64,iVBORw0KGgoAAAANSUhEUgAAAn8AAAGKCAMAAABKJ9f+AAABNVBMVEUAAAAAADoAAGYAOjoAOmYAOpAAZmYAZpAAZrYQDv8pDucpJP86AAA6ADo6AGY6OgA6Ojo6OmY6OpA6ZmY6ZpA6ZrY6kLY6kNtmAABmADpmAGZmJMJmOgBmOjpmUv9mWGZmWv9mYP9mZgBmZmZmZv9mkJBmkLZmkNtmtrZmtttmtv+QOgCQOjqQZgCQZjqQkGaQkLaQtpCQttuQtv+Q29uQ2/+jhqO2ZgC2Zjq2ZpC2kDq2kGa227a229u22/+2/7a2/9u2///akdrbkDrbkGbbtmbbtpDb27bb29vb/9vb////AAD/AQH/AgL/Bgb/DhD/DxD/HSn/ISn/JCn/Jin/KSn/SWb/Umb/WGb/Wmb/YGb/Zmb/tmb/tv//zP//25D/27b/3f//4v//8f///7b//9v///9idYIAAAAACXBIWXMAAA7DAAAOwwHHb6hkAAAgAElEQVR4nO2dj3/ctnmHT469Ko3SLls7KU1qu9vaLtLartnk6340a3pruzm21VSOlZMuknWR7v//E0YABA/kEeT7ggABkt/n84ktizyQRz55XwAEgdkGgHjMYp8AmDTwD8QE/oGYwD8QE/gHYgL/QEzgH4gJ/AMxgX8gJvAPxAT+gZjAPxAT+AdiMlz/7v/z+7PZ3g8+Ez8vZnunzE+fzB49D3FaNuazB5/vHvT+3z8nfv7+Nwez2Q/lj/Xfdrfw0n70I/XKYP3LLrdk73gzXP/efvyAasVKfNlD+aOLf4wj9cpg/VvMcsR15fvXO/NZjQC1v6zH+IrUb2vuxzhSrwzWv/ls75Psf+ssCh7LK/1vv5nNHqrL/ccfz2bv/EzGgvvst3s/3IaF/9E5W0aLu6M8hp7u7vnHj7MNH5yWPrS7SZ3Jg//KjvhQ7JCdyK8/nj34zCxOZM6Hn5rx7w9Zge98Ij6Z//+zPeOigE35q8z1eW4q37Y4UF74vdwidTP2K46UGgP2T17OmwORlBZGLNT/EDcjF+yhvvCLYreqf9U9V1szF0bZlU35mVT3LUoWxemKwta//AOHhRXGGS+Knzalr1L2b3tG2wOpwtXR9r5vFCt+hH++yS7u3s9+u/3Ho8/En4fSyOw+qJ/nIpIoRQXZzdp/vvmD2LStLc3z+1vaM9v8nefq38aHqps2uoDss9kO+/pE/tcsLtN1/7mIStq/7Bd/9/ztkdJCOGGesS5AUt5g5N/tt90eqCg8O9pca23ul6B9A/YvDysPP1VZS2ThzJTtlRZ/qV9kW/Nrn92nh78tPq78W+jwV9pT8CfRwN43P1TdpJjLg2/ylCd/Noub6zil/VO/WPzgt/pcjTPWBeiSzQ2mf/rbGgcyC5dHq7sqyTFY/1QtKs9x6uaISFWIJX6VqVPKlcpZWZ/Su4ldjtVfpax6/0v1733zQ9VNirlO+9lnc0uM4rKP7+u95EHNduq8qApUCtCnW7vB+LblA20LN5SV+8G/ENz/6VcHedorrrS63DLtHec1ta1Vbz9W//zXorZ+ojyq7il+//Bf/iTL2n5oZ5Mkv7XigNoSozh9PqZ/+pPqo+YZl/yzbTC+rXEgXaMtjgb/AlLUv6pXuhL/jiufe/ur78sK/bYpoJsxx7vF67upP1SzaWOLf7o4MyIFiX+lAyH+9UR2Vfd+nl3pPx5YrnRe/9vf/ej9L8ymgLqr1T1XOisfmh+q31Su/8nyzOIs9b/VB5/W1/+Mvj1r/W8n2m+0reX6H/wLRtH/XMm/lfbv3iebrKmZBxzZ8hT5NA8UovMit6iypyzkrUzOxoeqm/RHzfavssQozmiRFtL/UBy/SKqWZm5D+9f0Sh+orv273S/VHvrB+md0q5XvSE3/X3Hpf1NU8uTdWm0VruxZlL5vfmhnk0T3/5kPYszittvL/X/7qp5Y7f8zPanfYH7b7YHq+v+2++VHSo7B+re5l+3f4qnB1j/10ODncqe3v8waKMajC/mZD/TzD8O/6p6ikfvwU9UfU3xod5MgS22/+2X+2cISo7j7/ziYvfPJzvMPcYLyYcVn5hlX4lTthtK3LQ5kPP/4m8926n/6SKkxXP+SIcWq1bzn0RXOwL/OJOXfXA7SyiqONQ2vFIF/nUnKP12lSLO1sQv860xS/m3e/vigPFonbeAfiAn8AzGBfyAm8A/EBP6BmMA/EBP4B2IC/0BMPPs3AyPg9vaJlevr62cEYvnntzjQP7ff2snkW5OAf8CJbxv0o8oH/4ATt43y0e2Df4BLk3us0Af/AJ9m+Rrte/r0KfwDHWiMfW2h7+nTGgHhH6DRlnfbEu/Tp3UCwj9A4LZL3oV/oBs+mhzwD7jQNe+WBaz+Ev6BBhrd4/a2oP0LePgKfXbgH6inOe+yO5rhH6DTmnf92Af/QA1NYwv8hT74B2poybte7YN/oESLex4TL/wDVVryrufQB/+AQXve9W8f/AOStrwbIvTBP6Boz7uB7IN/oC3vBgt98A8Q8m5I+4L5p+d+t064CP8SoC3vhg19Af1b6NUyVsXiK12KAwFozbs92BfIv/uTwrqFZXp1+BeVVveCJ96Q/t0dFWukrSwZGP5FpDXv9hL6wvmH+JcwlLzbl33rb35PPW1m/S8PgKj/pUV73u0v9GX2fROq/ZuvNmZfXAf+RYCSd/sLfZl96P+bDu15t8fQp+SDfxOB4F6Poa+QL5x/uv+5uqq4Y3GgA83vjkcIfea/wvh38/5p1gh58PlmbnsAAv/6ItnQF86/vP9lLhYWtyyvCP/6gJJ3+wt9O/KF8i/vfxZ9f5X+5+3UwYzigAsk9/oLfXXyhfJPx799lYS7FgfYkOp8veZdy4ZA4w/EqrKiEnh3hPwbAWLo600+m33B2r9ideO9Bv3gXzCGkXcD+9d3cUBBcq+/0Nci3xr+jYr252s9h772feDfWKDl3YRCnwT+jQGie72FPqJ862D9f9t+PvS/hIboXm+hjy7fOlT8uz+xvnjkUhywQ6vz9Rn6WLsHG39g63hxKg7UM9y8qwlV/1vZh764FAd2oLqXZt7VoP0xUOjy9WKfk3xr+DdMwubdunnqm3GUbw3/hgc577pGvtp1OhpwDX0S+DcoaONalH2ORtSvU2Sjk3xr+DcsQoc+AcO/rvKt4d9wCJ53c6j+eZBvDf8GAqOvpXNzl6KfH/nW8G8Y0EOfDyfa9PMm3xr+pU9feZeIT/nW8C9x+sy7BDzLt4Z/SZPW2AL/8q3hX7ow8q5/LXYJId8a/iXK6POuBv6lxhU97z5+/DiQFibh5FvDv+S4+vprauh7zHxQ60JQ+dbwLy2yOt/l5SUx7/Ie1LoQWr41/EuKzKvLS4KAqtIX2L8e5FvDv3RQ7V2Cf7rFEdK/fuRbw780KPpaLi9bBDTbu6H0602+9fr6mnqJ4F8ozDF9Lf5VOltC6NerfNffPqFeJfgXCLOv5fKyQcA+uvp6k+9ayJcB/5y56l4E5x22PuTryb7cPfjXhauu/pHd6+URmyFf2E4dQz7414GrjgImFvq2Pz999913gwiYeV2WD/65c9XFP3re7Tn0rZV+QQR8+vjx459Uvx78c+PqyllAVt4Nbt9Ope9dhe/jXGfyCeCfF5z9o44t6Cv07fwqhH8i7f7kJ/DPG1dXTgKy8m7/oU/yntTvPX+Hyet8vfqn19+yTsM2cP9cSDzvFrznUz+jwVGnXyD/FnrZX6z/q0k+72557z1P+lVauzX6hfEP659XGELe9c1OV0stQfzL198SrCY//y7DvanJF8o/xL8tdPmi511vUOUL5V9W/8sD4MTrf8i7zdzSPeAJo2fAt0S/KfjXR95d0ndNT75vN7cMD9D/xyO8fJl+S6KAPPlcxx+w5Lu9lZcJ/oWgp+e7RP+Ykc9tWDUr7d4WVyqQf/PZbF/2QdtmwR+vf/21d5dLgoDsvOvyWgmvzmcSxj/R6p3P9kU9cGrtj77kE/p99NFHzQK6VPrY/rHrfCZB/JP9LyuxBvXE+l96Hc+8/Oi73/3uR3b/HFscPP9c6nwmDv6t8pXd7AvMyP5n1fNc6X/ergtHPe5g4OVdFzPKSP3sAro3d+n6Odb5TLj+3R3N8pW1suqdbXTBFOMfRz4/PX3vKeo2detsoenHinzf2i4b07+7H5nKlf9lUNT/jCchjscdBFHeI7L510NP3zVPPkvsE6D925VozzieSv0qoaof+fy4J0D/X0fod4IoH/2ZxtMd/ZKTz5p3NQ7+6WdrbUv8+jluulwFybvkZxrrakUtfOjjyVft6quF79/9ifWhLoPh+0eep4+Xdzn+GfiUr779wZSvJe9q+P4Zg/s6MHD/bjfUifqYnS2kZxpV/Ea+uv4XrnzkC+kS/yxN2i06Qzdk6WH7dyumanlN8Y/b5HDwz3Pa3e1/5qZdhn4u9b+b90/bdr4/aascDte/vM53+fo1ZaJI5s1fLpkC+q/0lf1j9rSQ867Gxb+D9vbH/cm+p+Mmxba9kYW/1y0B0KW3hedfkBaH4V/IwJfjkn9b1JKsGh7PsY6bDqW1d4V+jQHQqatvuaQLGKy5m+vHlm9nbAEFtD+olLpapH72ABh8MH3Qvpa6eYJaYeZdTZD2h8/jJsFuP1/TPKWDlm/tEvnc3BOEaX94PG586vqY7fOUhg596cnnlHc1Lvm3uWfF83Fjw5i3YJLyOeZdDZ7/NsEZ09eUd899yJGefB3dE8A/Gzz3GkPf+XlnAYM/3OXL1zq2gIKLf/NHz+0vlvs+bhx47rU1OTr7F14+ft71c6Ed/JvL8Qd3R5RuwO7HjQGrztde6zs/7yTgKPOuxr3/zzazkOfj9g4z77b3tiylf06jWhKUz6N7Avf+v8UI/eO6R2rwnp+7BsA2+boulGCRr26evlw+L3U+E4f8qyYXujnoVAFM0L9bzlxVGZe0juZl7h83ALZHvt3xzxyska92nlKln/+L7tL+kAMQ9rp1QqfnHzf0XVwQx9MznukWUNJu7fsfRBrSbv08zb7zrgb9LwKXvOs4UJkAsc7X8P5lC411vjr/wrgngH/swKcqfcula5OiGXqDw9G/thbHrn9dnq+1Eeb9X4/HDQ67uSvTbqbfuf8AyGrtuuRfSnO3rF+gvKsJMv+Bz+MGhd/Xout8wj/fAZA9UxVTP2pfS6FfYPcEQeZ/8Xnc7tgWienS1yL18xoAHaeqIu/bw1hmF8Zf/7OsUtTxGQe/SdtEcr3MQet8JtP0r/vYAo/+pSdfD3lXM3r/dpdpa3KvbkRzXS+zS59ePVOWbzN+/3bWCWzMu7sjmv2MKLV5Gjj0xX64S2Ba/rXl3Yp/voYz13cVJief94e7BBzGv3yonrwNYvzL1XahVEKdr/RKh8ex9DWjD1KTr6/2bhV3/wY2/oVwBy7FnBpKQK8vcux2FaYmX/95V8P1b76d2WUo41/I86SpOQ0ufb9FVB3/Fzz0ceXr71bs4h7/ejpuZ77+mjhP1aX07+LignijqY3f0vi/5PJuXx19Fkbe/uDMk5YZmMlH7lKhdr4Y4/+Sky9e3tU4+CfndR7G+7+3lTZFI9eZfIw+veUZbc9i/F9i8sV3T+Dy/lEn8bjHdUbV+azzFOzYd82bfGp5RvRPETb0DaOvpQ6X948IDY/WGBnYP2OeNIp/+Yg+joDLs1dkATny8d/pGExfSx1h5r9a6MZxpPWnq/o1CujU3M30I/on5GNNKc4ScIh1PpMg8/8ZU2T1v/4Rd84Mx5WfM/8oAsrIR69UBlx8TckX7LI74jT/aVsANEKk7SlJIP98v7trQ+rX6p/Ou/Sh+gz/ep6oKhDc8fftM4tv4sU/3pi+Tt3M52eCppd6t5W+5fkZVcCnckxzu3/9T1QViDD9fws9OLrH+p+XvEvuU87ke9Xkn9HiWGZN5TNqBqa8UjT0Op9JoP5nHSetS9V49s/ThC2M3j/5/pF17VOzvbsUshIDYHv8c4h8qfS11NFh/slOb4B49Y+bdxusovb+LWVSpQyrWuapmlRyS/3PRb50Y5/A6f2jQ/nnMaknsOtxW/HY3mU9/jivbX3U9PSdn2eqEud/afJvNHU+E/f+l6xlYWtc3B21LhHnxz+Pc0SuVVAjdz8va0JabT9zlqhF+CMnYC+rr0n5Us67mk7zr9k6V+6O/rZtdiIv/vmUb63f6SX6J6Qq7Wp7yLHMiyW3gGv0c0i76XX11dJh/rUs/ln9O8yawI3d1N398zU3c0mUM6Iosk17VhrU17RzpzeFR5l3NV3qf9YnIapiuJrtKrjtPWSfqYnfvLsVhT6nwdKc06/l+W6XqRIG/XCXgEv/i2wBZ6HPOhCmaJisQqx/yZynj9HNzBBFNSrEzq2DCzhpvYxLc3dY+oXp/yM0jN39C/eMgzFRrmxUiABIGNmyLFRlMb6+ljqG5R8777LuOGOiXFVXfPOGMK5qmfc/swR0ks/pkkZmOOPv3eeqIiLC30tyBl5++eUbYrnc/OuUdhMcW0CBPf7gMMr6W9y5mR3X3n314hVx8dM3b+imsqZ/dqvzDVO+zVDiX5jm7i4vX7yk7CZGlNKrirl/lJ0n0OCokL5/tXnX98LPirMXX7w4a9tJtneXnLYKdVS/i3xDzbsax/6XR8/nDU0MwihB4nEtga9h6d0uY/pefvHFFy8b2x9FZwvnTRHSvhPLuxqX/ue908Wj541t3PuTtsoh6bjWcS31/nWdt+Dli8y/hgz8TWlQH1VAymtN0+hrqcPt+ZsYeNA4/0vrSyLtx21o79a9UdR90gwZ/uwBsDymz9v8f46RbwhjCyi4jT8Q/jXPf7VqGRzYfNzmvpaaV9p8zNhy9kL6V1sDDPf6rpN844h9Avf4N28dY+V43NbGbtU/X/MFvVLs/D6kfFPNuxrn+t8i0Pz37WOZy+/0+pus6iz3rxz/EpNvLHlX4zz+IMj6b8GfcTSxzMefmpW6xmFVXQ7mVukbVeiTpNP/x16DzUulr0xVvqbQ121In4N745Nvk4x/3OdrnkOfxvCPMKzKUcDJjC2gEOT9c/ZxQyz77EDRpUKo9Dn2viDvlnGr/3VqelSKC7LmuBO6T4/S4nDq/pvoM44mIvvntvZpIKRSpDF9Tv5NbmwBhaj+MddgCyqfVOrNmze8h2rkwqc0po9DPP869bWEWPo5rZ6+keddTSz/nnSQj9n2JA2od5CPeArTG9PHYQj+7aZdjn+ENzqcIl+4AaVTyLua5P2rq/Oxql5t/pXkY4TVQEP6JpJ3NYn7V9vgYNX95cuP1q2VyMfQuvUMUOejEKv/meKfrbnL888+Telu2uXM/9d4Cj2NLZj1Qofb3P4NvO9Io9U/e18La52EfPKp3Q11dT7O8h8Nk7r094yjl1V8Juifv44+yzzNtQ0OhtZL6/ynvfa1wD9XGvyjyMeZp3lHwIaZ0jgTUNbs2fd4Uvjnis0/WuTj1tOMve19LXXj/5oLLv8mwnhS+OdKrX/ktMupppkCtnX0UdcUXO/UFeOMa4F/ruz6x5knzWnwE6GX+exV6+vn5ikU5xCrrwX+uVLxjzdPGu/ZP3VEX7bnq5eveIFV/BhxPCn8c8X0j9vaZbYTzpfU52tnL1+8pAVAXVeMPK4F/rlS+MfvamH1/63XX375JbHg81cvXrx4RVsoQT7/jT6uBf658kTbR7zb1ZtP3O+bb+jzpInw94IaANfri4uLqO4J4J8rT5xCn4YY/ETaJU9pqsIfMQBeX1+QVlUvyef3CgrgnytPOj3ioPinKn2cOXXVC+iELpgs7ZKWVTcJMqYK/rnS6flae+2vaHGw/FO0+KcqfTz/Qo1rgX8W7k9axsg8I4lmEaWl+WE0d8/P6QIu810pE6Vd1syB1LN7AvhXz2JWLABimSUwnH/Ob3G0tqvd+lpCUr4p9kFTWThQ92FlXxGXeBDPBPGPsP55B/+aPAn3DlGS40kr/v3jlh3/1H2YT8I/Y4C0bZbALvHPhkU+zpM6276JrsFG9++vPhTzRd396O+n4F/Y+FePNfJxHhXX75te3tXQ/duX83WvHv1C3I9Flp8PRZj4pyPCIuLD829TTA4YpP5XQ0PaXTKWvqrxL/ozjiYY/q2EePNDMWvoYu90c3NwmPmX/bBonUhvgP4V74lYo71P/7aT0tcpxVj7ZbdWmfj8pAz/br73+ebuw9O5njk+qxjJH24O2gLgEP1rxZt/Rt6tzZ4d/POXd6/8XrwChn/3J8dZ+n2e+beSES/zTlbT219mhH9WypW+Ov84i1/pMS0Sn3n36qtAAjL82yz2s/QrZu1e5T00Y/ZPLA18c9AwS68P/yqVvto+GZ5/ep0sz+9xfPXVV6yrR4bj3833fvfPp5si/m1y9Ubpn9Tv/dOGb9fZv532bm2n4FKtE00ScJn7t/S9HsdV5l+YAEjvf97P/vtpVgWU9b/8nozWP1mxncsVaML0v1hf3t0JgKzFT0X+vfDe3hX6BRKQelPkckDzmfgjb/9u5nunI/bvWPcBVvqfi/89O/hX39NX/1SkiGk0//7yl78wB1UR2rtfKRjXjwzLP7kk0Fz3/2X3ZbT+ydi3CBP/uA/Y6COlry8uXv/5NXdUX+u1uMr9CxEAMf6gnrujB5/LALiyNUDc/Gvs6bPrR1z89PL1n/+cCegz9mVcaTgXkAj8s5E38q2rEDr419bT18E/2d69fC39owqYwlxV8M8Vrn/tPX1N+tEWP80EfE3UL5F1sOCfKzz/KD19dgebNho9fUo/koAJhD4J/HOF4R+tp8+uX+M0faZVtDHNKeRdDfxzpca/Wk3oPX1W/2ydz9WHHJeEQfUJuSeAf7UQZknd9a/GKE5Pn12/2qcf41gHi/r8Q63VrN6KaF2avvkgngkT/+5P2ibnJfjnZSh97fOPpMf0caj4d7WlvGUhb8f8H4SGaviV80E8E+z9t5b/yXb8q0Q0Xy9y1Iw/GNF6HFT/5CC/uw9/LR7Jy+fy7gfxTLj+v+bHOvX+Eafp4+pnCDiudbCo/smYt3r0fyfHeSxcqRH4NwdiBP6hGKkkblf9uPxB+tdG1b9tlc7vK2ylquJo8q6G6p9+ICr+muePgu+O9jP/xAh8UUcXVlrG5U/Jv6Xn9yeNtsoY18Ei+7d69DwfAC3+UmNDVnunwrZN/sexbVz+JPyThHl7N58kki9funlXQ/Yvq/TdfXgq/hLVP+VW9qf8Qf9hG5c/Ef9CvTouB5SOLO9qyP5lUU+8AJf/pfzLDCv7ZxmXPwX/As5bkMI8faEg+7eZH8rxcPN98VdT/NvsjIsevX9BJ824YM6TJvD7VQNC7X/OqnXfEW3fzerhx8cbs/5n+Gcblz9u/wLKJyt93Hn6BhP7BPSbcvPX76vanQxy2/av4Z9tXP6Y/XOVjzSgdDtPH1XAIbknoN+U+xP5CC7/a9v/Z/pnGZc/Wv/cQ1/rw9/tmD66f4mM6eOA8QeuPOuUd4kDSpV+r2kCDiz0SeCfK793l69l/Gm1r4Ui39Dyrgb+udLp/V+7fzU9fW3+DdU9AfxzJcT8u7XdzM3VvwHW+Uzgnyve/bM942j0b8ChTwL/XPE8/7P1AZu9/TvkvKuBf674nH+y6fGuxb8RuCeAf6548695bEH9O0XJj2uhAv9c8eOf53n6Bgf8c8WHf2muidAn8M+Vzv7xQ9/I3BPAP1e6+eeQd0dT5zOZ9ULQb+B9Rxpd/EPeHQ+D848d+uBeygzLP758w36+Nn6G5J9D3vV70sA7g/EPeXeUDMQ/tnx+zxaEYgj+oatvvCTvH/LuqAk2/5rqurROA0j0D3l35ITxb6GXne60/jQ79I3yGce4CeJfvvaWwH39I+TdKRDEP2NNsRV5/udOoQ/uDZQk4x/y7mQIVf/LA6BD/Y8d+iDfgAnU/tUrMFiin9U/pnxwb+gk1f/Hzrtg6KTjH/LuFAnU/pXzG3L6n5F3p0k4/xZqsR3LMiDP3EMfxvSNiGD+5eYR+l/Q1TdhgvmXrx9R6X8u3ml55hb6IN/IiBv/ePIxzgAMhED+iRC3v2lYbPEZv6+PcQJgKITqf8kU3Du1P/7YPEPeBZt4/X8M++DeiInl3xOqfRhbMGrS9g95d+wk7B/cmwAB27+Nb4C0+oe8OwnCxL/7E+uD35xm/5B3p0Kw99/2m3d4YuX2tp9ZxUAShPFPrrAYkFBz0gUqF6fbudxeptokk+IV6r/YKZ0u/Euv2CmdLvxLr9gpnS78S6/YKZ0u/Euv2CmdLvxLr9gpnS78S6/YKZ0u/Euv2Cmdblr+gakB/0BM4B+ICfwDMYF/ICbwD8QE/oGYwD8QE/gHYgL/QEzgH4gJ/AMxgX8gJon4t5iJebUybg7UDG++y81+8Pvq3lzOgLjS5fstV67zaJtjzL3Y0g8+y3W/a2n4t3jw+WYlbuQq+zp3R94ELMpdyFnjPAq4kmugiLJXXgWU5d6fZGUufP5/uNJLtqzsa7e4l9vhriXhn5zOUrzbrlb4WrTNsuBQrrg4c3839O5IeXLot9i8XDXJsbfLoIs1f/BZbpe7loR/EuHIzft+k5ku17t/i0e/COFJXq7CY2AtijXL91Zul7uWjn8yRT747yPPFR9Zru/8m13xeXHhbWuBupermHsrtyi2VL63crvctVT8W8kvsBDzarVOMsMv13NDQSQceeFlkf7ilC5XYp/k2LnYUvn+yu1y11LxT3ybR88Xe54DSl6ujCU3B75uqJj9P4R/ulzByl/zoyjWLN9juV3uWjr+ifuoqlL5GiMey/VbUZNpN0D+Lcrd+Ix+ldP1519RXJe7lpB/2RdQt9JzK0SU6zVQLfI5xo49tz+KcsWP/irBRbFG+V7L7XLXkvBP3cfsa6jVbfwFFF1u8YOfcgXzIP0veXxaeJ/mLmT/c5e7loR/25u5KO6q33L91v900QH6n1Wi9HqmRbHlHzyW2+GupeHfZq7Twsrvg6ei3HmYB1qLIM/f8szms+Swz9/c71oi/oGJAv9ATOAfiAn8AzGBfyAm8A/EBP6BmMA/EBP4B2IC/0BM4B+ICfwDMYF/ICbwD8QE/oGYwD8QE/gHYgL/QEzgH4gJ/AMxgX8gJvAPxAT+gZjAPxAT+AdiAv9ATOAfiAn843J3NJuJCT/zaZ/ad/c9ldWogH9M1CzS871TmOUD+MdEzfYnZjuGfx6AfzyMabbvjn56oGZ3K6YfWxjzkIk1gbKtwlI1n9pheTsQwD8m23nB747EKkX5wg5y+R/xDz13pJxyNduio6SYpdfcDiTwj4uIa3KqWbm6UqaZmvlztXcqf6HnodXT0eb+CR1L24EE/jlwfzLT7Y/sDzW5dDHLeT4P/N2R8kz5JxeBKG0HEvjnxjyfLL3wL/thVZpfXq5heZz7J5fIKG8HAvjHQ0cvmW5r45/JPN9LVfo8z1Q+CuAfD93+XW3jn1H/q0a27EUmKGAAAACbSURBVDfilzL7oiu6DvjHJF/xdnZY1P/K7V/ZNb3Jg10u5SIPfOZ2IIF/XOTzN+FQ4V+5/083b1dqNxkgdb3P3A4E8A/EBP6BmMA/EBP4B2IC/0BM4B+ICfwDMYF/ICbwD8QE/oGYwD8QE/gHYgL/QEzgH4gJ/AMxgX8gJvAPxAT+gZjAPxAT+AdiAv9ATOAfiAn8AzGBfyAm/w9FhZuKBDpbegAAAABJRU5ErkJggg==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9" name="AutoShape 12" descr="data:image/png;base64,iVBORw0KGgoAAAANSUhEUgAAAn8AAAGKCAMAAABKJ9f+AAABNVBMVEUAAAAAADoAAGYAOjoAOmYAOpAAZmYAZpAAZrYQDv8pDucpJP86AAA6ADo6AGY6OgA6Ojo6OmY6OpA6ZmY6ZpA6ZrY6kLY6kNtmAABmADpmAGZmJMJmOgBmOjpmUv9mWGZmWv9mYP9mZgBmZmZmZv9mkJBmkLZmkNtmtrZmtttmtv+QOgCQOjqQZgCQZjqQkGaQkLaQtpCQttuQtv+Q29uQ2/+jhqO2ZgC2Zjq2ZpC2kDq2kGa227a229u22/+2/7a2/9u2///akdrbkDrbkGbbtmbbtpDb27bb29vb/9vb////AAD/AQH/AgL/Bgb/DhD/DxD/HSn/ISn/JCn/Jin/KSn/SWb/Umb/WGb/Wmb/YGb/Zmb/tmb/tv//zP//25D/27b/3f//4v//8f///7b//9v///9idYIAAAAACXBIWXMAAA7DAAAOwwHHb6hkAAAgAElEQVR4nO2dj3/ctnmHT469Ko3SLls7KU1qu9vaLtLartnk6340a3pruzm21VSOlZMuknWR7v//E0YABA/kEeT7ggABkt/n84ktizyQRz55XwAEgdkGgHjMYp8AmDTwD8QE/oGYwD8QE/gHYgL/QEzgH4gJ/AMxgX8gJvAPxAT+gZjAPxAT+AdiMlz/7v/z+7PZ3g8+Ez8vZnunzE+fzB49D3FaNuazB5/vHvT+3z8nfv7+Nwez2Q/lj/Xfdrfw0n70I/XKYP3LLrdk73gzXP/efvyAasVKfNlD+aOLf4wj9cpg/VvMcsR15fvXO/NZjQC1v6zH+IrUb2vuxzhSrwzWv/ls75Psf+ssCh7LK/1vv5nNHqrL/ccfz2bv/EzGgvvst3s/3IaF/9E5W0aLu6M8hp7u7vnHj7MNH5yWPrS7SZ3Jg//KjvhQ7JCdyK8/nj34zCxOZM6Hn5rx7w9Zge98Ij6Z//+zPeOigE35q8z1eW4q37Y4UF74vdwidTP2K46UGgP2T17OmwORlBZGLNT/EDcjF+yhvvCLYreqf9U9V1szF0bZlU35mVT3LUoWxemKwta//AOHhRXGGS+Knzalr1L2b3tG2wOpwtXR9r5vFCt+hH++yS7u3s9+u/3Ho8/En4fSyOw+qJ/nIpIoRQXZzdp/vvmD2LStLc3z+1vaM9v8nefq38aHqps2uoDss9kO+/pE/tcsLtN1/7mIStq/7Bd/9/ztkdJCOGGesS5AUt5g5N/tt90eqCg8O9pca23ul6B9A/YvDysPP1VZS2ThzJTtlRZ/qV9kW/Nrn92nh78tPq78W+jwV9pT8CfRwN43P1TdpJjLg2/ylCd/Noub6zil/VO/WPzgt/pcjTPWBeiSzQ2mf/rbGgcyC5dHq7sqyTFY/1QtKs9x6uaISFWIJX6VqVPKlcpZWZ/Su4ldjtVfpax6/0v1733zQ9VNirlO+9lnc0uM4rKP7+u95EHNduq8qApUCtCnW7vB+LblA20LN5SV+8G/ENz/6VcHedorrrS63DLtHec1ta1Vbz9W//zXorZ+ojyq7il+//Bf/iTL2n5oZ5Mkv7XigNoSozh9PqZ/+pPqo+YZl/yzbTC+rXEgXaMtjgb/AlLUv6pXuhL/jiufe/ur78sK/bYpoJsxx7vF67upP1SzaWOLf7o4MyIFiX+lAyH+9UR2Vfd+nl3pPx5YrnRe/9vf/ej9L8ymgLqr1T1XOisfmh+q31Su/8nyzOIs9b/VB5/W1/+Mvj1r/W8n2m+0reX6H/wLRtH/XMm/lfbv3iebrKmZBxzZ8hT5NA8UovMit6iypyzkrUzOxoeqm/RHzfavssQozmiRFtL/UBy/SKqWZm5D+9f0Sh+orv273S/VHvrB+md0q5XvSE3/X3Hpf1NU8uTdWm0VruxZlL5vfmhnk0T3/5kPYszittvL/X/7qp5Y7f8zPanfYH7b7YHq+v+2++VHSo7B+re5l+3f4qnB1j/10ODncqe3v8waKMajC/mZD/TzD8O/6p6ikfvwU9UfU3xod5MgS22/+2X+2cISo7j7/ziYvfPJzvMPcYLyYcVn5hlX4lTthtK3LQ5kPP/4m8926n/6SKkxXP+SIcWq1bzn0RXOwL/OJOXfXA7SyiqONQ2vFIF/nUnKP12lSLO1sQv860xS/m3e/vigPFonbeAfiAn8AzGBfyAm8A/EBP6BmMA/EBP4B2IC/0BMPPs3AyPg9vaJlevr62cEYvnntzjQP7ff2snkW5OAf8CJbxv0o8oH/4ATt43y0e2Df4BLk3us0Af/AJ9m+Rrte/r0KfwDHWiMfW2h7+nTGgHhH6DRlnfbEu/Tp3UCwj9A4LZL3oV/oBs+mhzwD7jQNe+WBaz+Ev6BBhrd4/a2oP0LePgKfXbgH6inOe+yO5rhH6DTmnf92Af/QA1NYwv8hT74B2poybte7YN/oESLex4TL/wDVVryrufQB/+AQXve9W8f/AOStrwbIvTBP6Boz7uB7IN/oC3vBgt98A8Q8m5I+4L5p+d+t064CP8SoC3vhg19Af1b6NUyVsXiK12KAwFozbs92BfIv/uTwrqFZXp1+BeVVveCJ96Q/t0dFWukrSwZGP5FpDXv9hL6wvmH+JcwlLzbl33rb35PPW1m/S8PgKj/pUV73u0v9GX2fROq/ZuvNmZfXAf+RYCSd/sLfZl96P+bDu15t8fQp+SDfxOB4F6Poa+QL5x/uv+5uqq4Y3GgA83vjkcIfea/wvh38/5p1gh58PlmbnsAAv/6ItnQF86/vP9lLhYWtyyvCP/6gJJ3+wt9O/KF8i/vfxZ9f5X+5+3UwYzigAsk9/oLfXXyhfJPx799lYS7FgfYkOp8veZdy4ZA4w/EqrKiEnh3hPwbAWLo600+m33B2r9ideO9Bv3gXzCGkXcD+9d3cUBBcq+/0Nci3xr+jYr252s9h772feDfWKDl3YRCnwT+jQGie72FPqJ862D9f9t+PvS/hIboXm+hjy7fOlT8uz+xvnjkUhywQ6vz9Rn6WLsHG39g63hxKg7UM9y8qwlV/1vZh764FAd2oLqXZt7VoP0xUOjy9WKfk3xr+DdMwubdunnqm3GUbw3/hgc577pGvtp1OhpwDX0S+DcoaONalH2ORtSvU2Sjk3xr+DcsQoc+AcO/rvKt4d9wCJ53c6j+eZBvDf8GAqOvpXNzl6KfH/nW8G8Y0EOfDyfa9PMm3xr+pU9feZeIT/nW8C9x+sy7BDzLt4Z/SZPW2AL/8q3hX7ow8q5/LXYJId8a/iXK6POuBv6lxhU97z5+/DiQFibh5FvDv+S4+vprauh7zHxQ60JQ+dbwLy2yOt/l5SUx7/Ie1LoQWr41/EuKzKvLS4KAqtIX2L8e5FvDv3RQ7V2Cf7rFEdK/fuRbw780KPpaLi9bBDTbu6H0602+9fr6mnqJ4F8ozDF9Lf5VOltC6NerfNffPqFeJfgXCLOv5fKyQcA+uvp6k+9ayJcB/5y56l4E5x22PuTryb7cPfjXhauu/pHd6+URmyFf2E4dQz7414GrjgImFvq2Pz999913gwiYeV2WD/65c9XFP3re7Tn0rZV+QQR8+vjx459Uvx78c+PqyllAVt4Nbt9Ope9dhe/jXGfyCeCfF5z9o44t6Cv07fwqhH8i7f7kJ/DPG1dXTgKy8m7/oU/yntTvPX+Hyet8vfqn19+yTsM2cP9cSDzvFrznUz+jwVGnXyD/FnrZX6z/q0k+72557z1P+lVauzX6hfEP659XGELe9c1OV0stQfzL198SrCY//y7DvanJF8o/xL8tdPmi511vUOUL5V9W/8sD4MTrf8i7zdzSPeAJo2fAt0S/KfjXR95d0ndNT75vN7cMD9D/xyO8fJl+S6KAPPlcxx+w5Lu9lZcJ/oWgp+e7RP+Ykc9tWDUr7d4WVyqQf/PZbF/2QdtmwR+vf/21d5dLgoDsvOvyWgmvzmcSxj/R6p3P9kU9cGrtj77kE/p99NFHzQK6VPrY/rHrfCZB/JP9LyuxBvXE+l96Hc+8/Oi73/3uR3b/HFscPP9c6nwmDv6t8pXd7AvMyP5n1fNc6X/ergtHPe5g4OVdFzPKSP3sAro3d+n6Odb5TLj+3R3N8pW1suqdbXTBFOMfRz4/PX3vKeo2detsoenHinzf2i4b07+7H5nKlf9lUNT/jCchjscdBFHeI7L510NP3zVPPkvsE6D925VozzieSv0qoaof+fy4J0D/X0fod4IoH/2ZxtMd/ZKTz5p3NQ7+6WdrbUv8+jluulwFybvkZxrrakUtfOjjyVft6quF79/9ifWhLoPh+0eep4+Xdzn+GfiUr779wZSvJe9q+P4Zg/s6MHD/bjfUifqYnS2kZxpV/Ea+uv4XrnzkC+kS/yxN2i06Qzdk6WH7dyumanlN8Y/b5HDwz3Pa3e1/5qZdhn4u9b+b90/bdr4/aascDte/vM53+fo1ZaJI5s1fLpkC+q/0lf1j9rSQ867Gxb+D9vbH/cm+p+Mmxba9kYW/1y0B0KW3hedfkBaH4V/IwJfjkn9b1JKsGh7PsY6bDqW1d4V+jQHQqatvuaQLGKy5m+vHlm9nbAEFtD+olLpapH72ABh8MH3Qvpa6eYJaYeZdTZD2h8/jJsFuP1/TPKWDlm/tEvnc3BOEaX94PG586vqY7fOUhg596cnnlHc1Lvm3uWfF83Fjw5i3YJLyOeZdDZ7/NsEZ09eUd899yJGefB3dE8A/Gzz3GkPf+XlnAYM/3OXL1zq2gIKLf/NHz+0vlvs+bhx47rU1OTr7F14+ft71c6Ed/JvL8Qd3R5RuwO7HjQGrztde6zs/7yTgKPOuxr3/zzazkOfj9g4z77b3tiylf06jWhKUz6N7Avf+v8UI/eO6R2rwnp+7BsA2+boulGCRr26evlw+L3U+E4f8qyYXujnoVAFM0L9bzlxVGZe0juZl7h83ALZHvt3xzxyska92nlKln/+L7tL+kAMQ9rp1QqfnHzf0XVwQx9MznukWUNJu7fsfRBrSbv08zb7zrgb9LwKXvOs4UJkAsc7X8P5lC411vjr/wrgngH/swKcqfcula5OiGXqDw9G/thbHrn9dnq+1Eeb9X4/HDQ67uSvTbqbfuf8AyGrtuuRfSnO3rF+gvKsJMv+Bz+MGhd/Xout8wj/fAZA9UxVTP2pfS6FfYPcEQeZ/8Xnc7tgWienS1yL18xoAHaeqIu/bw1hmF8Zf/7OsUtTxGQe/SdtEcr3MQet8JtP0r/vYAo/+pSdfD3lXM3r/dpdpa3KvbkRzXS+zS59ePVOWbzN+/3bWCWzMu7sjmv2MKLV5Gjj0xX64S2Ba/rXl3Yp/voYz13cVJief94e7BBzGv3yonrwNYvzL1XahVEKdr/RKh8ex9DWjD1KTr6/2bhV3/wY2/oVwBy7FnBpKQK8vcux2FaYmX/95V8P1b76d2WUo41/I86SpOQ0ufb9FVB3/Fzz0ceXr71bs4h7/ejpuZ77+mjhP1aX07+LignijqY3f0vi/5PJuXx19Fkbe/uDMk5YZmMlH7lKhdr4Y4/+Sky9e3tU4+CfndR7G+7+3lTZFI9eZfIw+veUZbc9i/F9i8sV3T+Dy/lEn8bjHdUbV+azzFOzYd82bfGp5RvRPETb0DaOvpQ6X948IDY/WGBnYP2OeNIp/+Yg+joDLs1dkATny8d/pGExfSx1h5r9a6MZxpPWnq/o1CujU3M30I/on5GNNKc4ScIh1PpMg8/8ZU2T1v/4Rd84Mx5WfM/8oAsrIR69UBlx8TckX7LI74jT/aVsANEKk7SlJIP98v7trQ+rX6p/Ou/Sh+gz/ep6oKhDc8fftM4tv4sU/3pi+Tt3M52eCppd6t5W+5fkZVcCnckxzu3/9T1QViDD9fws9OLrH+p+XvEvuU87ke9Xkn9HiWGZN5TNqBqa8UjT0Op9JoP5nHSetS9V49s/ThC2M3j/5/pF17VOzvbsUshIDYHv8c4h8qfS11NFh/slOb4B49Y+bdxusovb+LWVSpQyrWuapmlRyS/3PRb50Y5/A6f2jQ/nnMaknsOtxW/HY3mU9/jivbX3U9PSdn2eqEud/afJvNHU+E/f+l6xlYWtc3B21LhHnxz+Pc0SuVVAjdz8va0JabT9zlqhF+CMnYC+rr0n5Us67mk7zr9k6V+6O/rZtdiIv/vmUb63f6SX6J6Qq7Wp7yLHMiyW3gGv0c0i76XX11dJh/rUs/ln9O8yawI3d1N398zU3c0mUM6Iosk17VhrU17RzpzeFR5l3NV3qf9YnIapiuJrtKrjtPWSfqYnfvLsVhT6nwdKc06/l+W6XqRIG/XCXgEv/i2wBZ6HPOhCmaJisQqx/yZynj9HNzBBFNSrEzq2DCzhpvYxLc3dY+oXp/yM0jN39C/eMgzFRrmxUiABIGNmyLFRlMb6+ljqG5R8777LuOGOiXFVXfPOGMK5qmfc/swR0ks/pkkZmOOPv3eeqIiLC30tyBl5++eUbYrnc/OuUdhMcW0CBPf7gMMr6W9y5mR3X3n314hVx8dM3b+imsqZ/dqvzDVO+zVDiX5jm7i4vX7yk7CZGlNKrirl/lJ0n0OCokL5/tXnX98LPirMXX7w4a9tJtneXnLYKdVS/i3xDzbsax/6XR8/nDU0MwihB4nEtga9h6d0uY/pefvHFFy8b2x9FZwvnTRHSvhPLuxqX/ue908Wj541t3PuTtsoh6bjWcS31/nWdt+Dli8y/hgz8TWlQH1VAymtN0+hrqcPt+ZsYeNA4/0vrSyLtx21o79a9UdR90gwZ/uwBsDymz9v8f46RbwhjCyi4jT8Q/jXPf7VqGRzYfNzmvpaaV9p8zNhy9kL6V1sDDPf6rpN844h9Avf4N28dY+V43NbGbtU/X/MFvVLs/D6kfFPNuxrn+t8i0Pz37WOZy+/0+pus6iz3rxz/EpNvLHlX4zz+IMj6b8GfcTSxzMefmpW6xmFVXQ7mVukbVeiTpNP/x16DzUulr0xVvqbQ121In4N745Nvk4x/3OdrnkOfxvCPMKzKUcDJjC2gEOT9c/ZxQyz77EDRpUKo9Dn2viDvlnGr/3VqelSKC7LmuBO6T4/S4nDq/pvoM44mIvvntvZpIKRSpDF9Tv5NbmwBhaj+MddgCyqfVOrNmze8h2rkwqc0po9DPP869bWEWPo5rZ6+keddTSz/nnSQj9n2JA2od5CPeArTG9PHYQj+7aZdjn+ENzqcIl+4AaVTyLua5P2rq/Oxql5t/pXkY4TVQEP6JpJ3NYn7V9vgYNX95cuP1q2VyMfQuvUMUOejEKv/meKfrbnL888+Telu2uXM/9d4Cj2NLZj1Qofb3P4NvO9Io9U/e18La52EfPKp3Q11dT7O8h8Nk7r094yjl1V8Juifv44+yzzNtQ0OhtZL6/ynvfa1wD9XGvyjyMeZp3lHwIaZ0jgTUNbs2fd4Uvjnis0/WuTj1tOMve19LXXj/5oLLv8mwnhS+OdKrX/ktMupppkCtnX0UdcUXO/UFeOMa4F/ruz6x5knzWnwE6GX+exV6+vn5ikU5xCrrwX+uVLxjzdPGu/ZP3VEX7bnq5eveIFV/BhxPCn8c8X0j9vaZbYTzpfU52tnL1+8pAVAXVeMPK4F/rlS+MfvamH1/63XX375JbHg81cvXrx4RVsoQT7/jT6uBf658kTbR7zb1ZtP3O+bb+jzpInw94IaANfri4uLqO4J4J8rT5xCn4YY/ETaJU9pqsIfMQBeX1+QVlUvyef3CgrgnytPOj3ioPinKn2cOXXVC+iELpgs7ZKWVTcJMqYK/rnS6flae+2vaHGw/FO0+KcqfTz/Qo1rgX8W7k9axsg8I4lmEaWl+WE0d8/P6QIu810pE6Vd1syB1LN7AvhXz2JWLABimSUwnH/Ob3G0tqvd+lpCUr4p9kFTWThQ92FlXxGXeBDPBPGPsP55B/+aPAn3DlGS40kr/v3jlh3/1H2YT8I/Y4C0bZbALvHPhkU+zpM6276JrsFG9++vPhTzRd396O+n4F/Y+FePNfJxHhXX75te3tXQ/duX83WvHv1C3I9Flp8PRZj4pyPCIuLD829TTA4YpP5XQ0PaXTKWvqrxL/ozjiYY/q2EePNDMWvoYu90c3NwmPmX/bBonUhvgP4V74lYo71P/7aT0tcpxVj7ZbdWmfj8pAz/br73+ebuw9O5njk+qxjJH24O2gLgEP1rxZt/Rt6tzZ4d/POXd6/8XrwChn/3J8dZ+n2e+beSES/zTlbT219mhH9WypW+Ov84i1/pMS0Sn3n36qtAAjL82yz2s/QrZu1e5T00Y/ZPLA18c9AwS68P/yqVvto+GZ5/ep0sz+9xfPXVV6yrR4bj3833fvfPp5si/m1y9Ubpn9Tv/dOGb9fZv532bm2n4FKtE00ScJn7t/S9HsdV5l+YAEjvf97P/vtpVgWU9b/8nozWP1mxncsVaML0v1hf3t0JgKzFT0X+vfDe3hX6BRKQelPkckDzmfgjb/9u5nunI/bvWPcBVvqfi/89O/hX39NX/1SkiGk0//7yl78wB1UR2rtfKRjXjwzLP7kk0Fz3/2X3ZbT+ydi3CBP/uA/Y6COlry8uXv/5NXdUX+u1uMr9CxEAMf6gnrujB5/LALiyNUDc/Gvs6bPrR1z89PL1n/+cCegz9mVcaTgXkAj8s5E38q2rEDr419bT18E/2d69fC39owqYwlxV8M8Vrn/tPX1N+tEWP80EfE3UL5F1sOCfKzz/KD19dgebNho9fUo/koAJhD4J/HOF4R+tp8+uX+M0faZVtDHNKeRdDfxzpca/Wk3oPX1W/2ydz9WHHJeEQfUJuSeAf7UQZknd9a/GKE5Pn12/2qcf41gHi/r8Q63VrN6KaF2avvkgngkT/+5P2ibnJfjnZSh97fOPpMf0caj4d7WlvGUhb8f8H4SGaviV80E8E+z9t5b/yXb8q0Q0Xy9y1Iw/GNF6HFT/5CC/uw9/LR7Jy+fy7gfxTLj+v+bHOvX+Eafp4+pnCDiudbCo/smYt3r0fyfHeSxcqRH4NwdiBP6hGKkkblf9uPxB+tdG1b9tlc7vK2ylquJo8q6G6p9+ICr+muePgu+O9jP/xAh8UUcXVlrG5U/Jv6Xn9yeNtsoY18Ei+7d69DwfAC3+UmNDVnunwrZN/sexbVz+JPyThHl7N58kki9funlXQ/Yvq/TdfXgq/hLVP+VW9qf8Qf9hG5c/Ef9CvTouB5SOLO9qyP5lUU+8AJf/pfzLDCv7ZxmXPwX/As5bkMI8faEg+7eZH8rxcPN98VdT/NvsjIsevX9BJ824YM6TJvD7VQNC7X/OqnXfEW3fzerhx8cbs/5n+Gcblz9u/wLKJyt93Hn6BhP7BPSbcvPX76vanQxy2/av4Z9tXP6Y/XOVjzSgdDtPH1XAIbknoN+U+xP5CC7/a9v/Z/pnGZc/Wv/cQ1/rw9/tmD66f4mM6eOA8QeuPOuUd4kDSpV+r2kCDiz0SeCfK793l69l/Gm1r4Ui39Dyrgb+udLp/V+7fzU9fW3+DdU9AfxzJcT8u7XdzM3VvwHW+Uzgnyve/bM942j0b8ChTwL/XPE8/7P1AZu9/TvkvKuBf674nH+y6fGuxb8RuCeAf6548695bEH9O0XJj2uhAv9c8eOf53n6Bgf8c8WHf2muidAn8M+Vzv7xQ9/I3BPAP1e6+eeQd0dT5zOZ9ULQb+B9Rxpd/EPeHQ+D848d+uBeygzLP758w36+Nn6G5J9D3vV70sA7g/EPeXeUDMQ/tnx+zxaEYgj+oatvvCTvH/LuqAk2/5rqurROA0j0D3l35ITxb6GXne60/jQ79I3yGce4CeJfvvaWwH39I+TdKRDEP2NNsRV5/udOoQ/uDZQk4x/y7mQIVf/LA6BD/Y8d+iDfgAnU/tUrMFiin9U/pnxwb+gk1f/Hzrtg6KTjH/LuFAnU/pXzG3L6n5F3p0k4/xZqsR3LMiDP3EMfxvSNiGD+5eYR+l/Q1TdhgvmXrx9R6X8u3ml55hb6IN/IiBv/ePIxzgAMhED+iRC3v2lYbPEZv6+PcQJgKITqf8kU3Du1P/7YPEPeBZt4/X8M++DeiInl3xOqfRhbMGrS9g95d+wk7B/cmwAB27+Nb4C0+oe8OwnCxL/7E+uD35xm/5B3p0Kw99/2m3d4YuX2tp9ZxUAShPFPrrAYkFBz0gUqF6fbudxeptokk+IV6r/YKZ0u/Euv2CmdLvxLr9gpnS78S6/YKZ0u/Euv2CmdLvxLr9gpnS78S6/YKZ0u/Euv2Cmdblr+gakB/0BM4B+ICfwDMYF/ICbwD8QE/oGYwD8QE/gHYgL/QEzgH4gJ/AMxgX8gJon4t5iJebUybg7UDG++y81+8Pvq3lzOgLjS5fstV67zaJtjzL3Y0g8+y3W/a2n4t3jw+WYlbuQq+zp3R94ELMpdyFnjPAq4kmugiLJXXgWU5d6fZGUufP5/uNJLtqzsa7e4l9vhriXhn5zOUrzbrlb4WrTNsuBQrrg4c3839O5IeXLot9i8XDXJsbfLoIs1f/BZbpe7loR/EuHIzft+k5ku17t/i0e/COFJXq7CY2AtijXL91Zul7uWjn8yRT747yPPFR9Zru/8m13xeXHhbWuBupermHsrtyi2VL63crvctVT8W8kvsBDzarVOMsMv13NDQSQceeFlkf7ilC5XYp/k2LnYUvn+yu1y11LxT3ybR88Xe54DSl6ujCU3B75uqJj9P4R/ulzByl/zoyjWLN9juV3uWjr+ifuoqlL5GiMey/VbUZNpN0D+Lcrd+Ix+ldP1519RXJe7lpB/2RdQt9JzK0SU6zVQLfI5xo49tz+KcsWP/irBRbFG+V7L7XLXkvBP3cfsa6jVbfwFFF1u8YOfcgXzIP0veXxaeJ/mLmT/c5e7loR/25u5KO6q33L91v900QH6n1Wi9HqmRbHlHzyW2+GupeHfZq7Twsrvg6ei3HmYB1qLIM/f8szms+Swz9/c71oi/oGJAv9ATOAfiAn8AzGBfyAm8A/EBP6BmMA/EBP4B2IC/0BM4B+ICfwDMYF/ICbwD8QE/oGYwD8QE/gHYgL/QEzgH4gJ/AMxgX8gJvAPxAT+gZjAPxAT+AdiAv9ATOAfiAn843J3NJuJCT/zaZ/ad/c9ldWogH9M1CzS871TmOUD+MdEzfYnZjuGfx6AfzyMabbvjn56oGZ3K6YfWxjzkIk1gbKtwlI1n9pheTsQwD8m23nB747EKkX5wg5y+R/xDz13pJxyNduio6SYpdfcDiTwj4uIa3KqWbm6UqaZmvlztXcqf6HnodXT0eb+CR1L24EE/jlwfzLT7Y/sDzW5dDHLeT4P/N2R8kz5JxeBKG0HEvjnxjyfLL3wL/thVZpfXq5heZz7J5fIKG8HAvjHQ0cvmW5r45/JPN9LVfo8z1Q+CuAfD93+XW3jn1H/q0a27EUmKGAAAACbSURBVDfilzL7oiu6DvjHJF/xdnZY1P/K7V/ZNb3Jg10u5SIPfOZ2IIF/XOTzN+FQ4V+5/083b1dqNxkgdb3P3A4E8A/EBP6BmMA/EBP4B2IC/0BM4B+ICfwDMYF/ICbwD8QE/oGYwD8QE/gHYgL/QEzgH4gJ/AMxgX8gJvAPxAT+gZjAPxAT+AdiAv9ATOAfiAn8AzGBfyAm/w9FhZuKBDpbegAAAABJRU5ErkJggg==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3085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4894448"/>
            <a:ext cx="3096344" cy="19091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459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Zaj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548880"/>
          </a:xfrm>
        </p:spPr>
        <p:txBody>
          <a:bodyPr>
            <a:noAutofit/>
          </a:bodyPr>
          <a:lstStyle/>
          <a:p>
            <a:r>
              <a:rPr lang="hu-HU" sz="1600" dirty="0" smtClean="0"/>
              <a:t>Zaj kezelése a gépi tanulásban:</a:t>
            </a:r>
          </a:p>
          <a:p>
            <a:pPr lvl="1"/>
            <a:r>
              <a:rPr lang="hu-HU" sz="1400" dirty="0" smtClean="0"/>
              <a:t>adattisztítás: eltávolítjuk vagy javítjuk a hibásan címkézett vagy hibás értékű adatokat</a:t>
            </a:r>
          </a:p>
          <a:p>
            <a:pPr lvl="1"/>
            <a:r>
              <a:rPr lang="hu-HU" sz="1400" dirty="0" err="1" smtClean="0"/>
              <a:t>feature</a:t>
            </a:r>
            <a:r>
              <a:rPr lang="hu-HU" sz="1400" dirty="0" smtClean="0"/>
              <a:t> </a:t>
            </a:r>
            <a:r>
              <a:rPr lang="hu-HU" sz="1400" dirty="0" err="1" smtClean="0"/>
              <a:t>engineering</a:t>
            </a:r>
            <a:r>
              <a:rPr lang="hu-HU" sz="1400" dirty="0" smtClean="0"/>
              <a:t>: zajos leíró jegyek simítása, normalizálása</a:t>
            </a:r>
          </a:p>
          <a:p>
            <a:pPr lvl="1"/>
            <a:r>
              <a:rPr lang="hu-HU" sz="1400" b="1" dirty="0" err="1" smtClean="0"/>
              <a:t>regularizáció</a:t>
            </a:r>
            <a:r>
              <a:rPr lang="hu-HU" sz="1400" dirty="0" smtClean="0"/>
              <a:t>: a modell olyan része, amely megakadályozza, hogy a modell a tanítás során a zajra illeszkedjen; ilyen pl. az ún. </a:t>
            </a:r>
            <a:r>
              <a:rPr lang="hu-HU" sz="1400" b="1" dirty="0" err="1" smtClean="0"/>
              <a:t>dropout</a:t>
            </a:r>
            <a:r>
              <a:rPr lang="hu-HU" sz="1400" b="1" dirty="0" smtClean="0"/>
              <a:t> </a:t>
            </a:r>
            <a:r>
              <a:rPr lang="hu-HU" sz="1400" dirty="0" smtClean="0"/>
              <a:t>a mély neurális hálókban</a:t>
            </a:r>
          </a:p>
          <a:p>
            <a:pPr lvl="1"/>
            <a:r>
              <a:rPr lang="hu-HU" sz="1400" b="1" dirty="0" smtClean="0"/>
              <a:t>robusztus modell: </a:t>
            </a:r>
            <a:r>
              <a:rPr lang="hu-HU" sz="1400" dirty="0" smtClean="0"/>
              <a:t>olyan modellt választunk, amely nem érzékeny a zajra, pl. </a:t>
            </a:r>
            <a:r>
              <a:rPr lang="hu-HU" sz="1400" b="1" dirty="0" smtClean="0"/>
              <a:t>neurális hálót</a:t>
            </a:r>
          </a:p>
          <a:p>
            <a:r>
              <a:rPr lang="hu-HU" sz="1600" dirty="0" smtClean="0"/>
              <a:t>Kapcsolódó fogalom: </a:t>
            </a:r>
            <a:r>
              <a:rPr lang="hu-HU" sz="1600" b="1" dirty="0" smtClean="0"/>
              <a:t>zaj a képfeldolgozásban, </a:t>
            </a:r>
            <a:r>
              <a:rPr lang="hu-HU" sz="1600" dirty="0" smtClean="0"/>
              <a:t>többek között mélytanulás révén</a:t>
            </a:r>
          </a:p>
          <a:p>
            <a:pPr lvl="1"/>
            <a:r>
              <a:rPr lang="hu-HU" sz="1400" b="1" dirty="0" smtClean="0"/>
              <a:t>zajos kép: </a:t>
            </a:r>
            <a:r>
              <a:rPr lang="hu-HU" sz="1400" dirty="0" smtClean="0"/>
              <a:t>nem kívánatos véletlen variáció a </a:t>
            </a:r>
            <a:r>
              <a:rPr lang="hu-HU" sz="1400" b="1" dirty="0" smtClean="0"/>
              <a:t>pixelértékekben</a:t>
            </a:r>
            <a:r>
              <a:rPr lang="hu-HU" sz="1400" dirty="0" smtClean="0"/>
              <a:t>, amely rontja a képminőséget</a:t>
            </a:r>
          </a:p>
          <a:p>
            <a:pPr lvl="1"/>
            <a:r>
              <a:rPr lang="hu-HU" sz="1400" dirty="0" smtClean="0"/>
              <a:t>képadatok </a:t>
            </a:r>
            <a:r>
              <a:rPr lang="hu-HU" sz="1400" b="1" dirty="0" smtClean="0"/>
              <a:t>vizuális sérülése</a:t>
            </a:r>
          </a:p>
          <a:p>
            <a:pPr lvl="1"/>
            <a:r>
              <a:rPr lang="hu-HU" sz="1400" dirty="0" smtClean="0"/>
              <a:t>a kép elmosódott, szemcsés, eltorzult: elfedi a „valódi” képet</a:t>
            </a:r>
          </a:p>
          <a:p>
            <a:pPr lvl="1"/>
            <a:r>
              <a:rPr lang="hu-HU" sz="1400" dirty="0" smtClean="0"/>
              <a:t>Példák forrása: </a:t>
            </a:r>
            <a:r>
              <a:rPr lang="hu-HU" sz="1400" dirty="0" err="1"/>
              <a:t>https</a:t>
            </a:r>
            <a:r>
              <a:rPr lang="hu-HU" sz="1400" dirty="0"/>
              <a:t>://</a:t>
            </a:r>
            <a:r>
              <a:rPr lang="hu-HU" sz="1400" dirty="0" err="1" smtClean="0"/>
              <a:t>www.researchgate.net</a:t>
            </a:r>
            <a:r>
              <a:rPr lang="hu-HU" sz="1400" dirty="0" smtClean="0"/>
              <a:t>/</a:t>
            </a:r>
            <a:r>
              <a:rPr lang="hu-HU" sz="1400" dirty="0" err="1" smtClean="0"/>
              <a:t>publication</a:t>
            </a:r>
            <a:r>
              <a:rPr lang="hu-HU" sz="1400" dirty="0" smtClean="0"/>
              <a:t>/266015548</a:t>
            </a:r>
          </a:p>
        </p:txBody>
      </p:sp>
      <p:sp>
        <p:nvSpPr>
          <p:cNvPr id="4" name="AutoShape 2" descr="The original image. Noisy image (noise density 50%). Image denoised with linear interpolation and median filter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351" y="4975033"/>
            <a:ext cx="4608512" cy="11656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zövegdoboz 4"/>
          <p:cNvSpPr txBox="1"/>
          <p:nvPr/>
        </p:nvSpPr>
        <p:spPr>
          <a:xfrm>
            <a:off x="539552" y="6112460"/>
            <a:ext cx="38309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400" dirty="0" smtClean="0"/>
              <a:t>1: eredeti kép, 2: 50% sűrűségű zaj hozzáadásával,</a:t>
            </a:r>
            <a:br>
              <a:rPr lang="hu-HU" sz="1400" dirty="0" smtClean="0"/>
            </a:br>
            <a:r>
              <a:rPr lang="hu-HU" sz="1400" dirty="0" smtClean="0"/>
              <a:t>3, 4: zajszűrés két különböző szűrővel</a:t>
            </a:r>
            <a:endParaRPr lang="en-GB" sz="1400" dirty="0"/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975033"/>
            <a:ext cx="4587776" cy="116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zövegdoboz 7"/>
          <p:cNvSpPr txBox="1"/>
          <p:nvPr/>
        </p:nvSpPr>
        <p:spPr>
          <a:xfrm>
            <a:off x="5364088" y="6135471"/>
            <a:ext cx="27404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400" dirty="0"/>
              <a:t>5</a:t>
            </a:r>
            <a:r>
              <a:rPr lang="hu-HU" sz="1400" dirty="0" smtClean="0"/>
              <a:t>: 95% sűrűségű zaj hozzáadásával,</a:t>
            </a:r>
            <a:br>
              <a:rPr lang="hu-HU" sz="1400" dirty="0" smtClean="0"/>
            </a:br>
            <a:r>
              <a:rPr lang="hu-HU" sz="1400" dirty="0" smtClean="0"/>
              <a:t>6-8: </a:t>
            </a:r>
            <a:r>
              <a:rPr lang="hu-HU" sz="1400" dirty="0"/>
              <a:t>zajszűrés különböző </a:t>
            </a:r>
            <a:r>
              <a:rPr lang="hu-HU" sz="1400" dirty="0" smtClean="0"/>
              <a:t>szűrőkkel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981149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19256" cy="778098"/>
          </a:xfrm>
        </p:spPr>
        <p:txBody>
          <a:bodyPr>
            <a:normAutofit/>
          </a:bodyPr>
          <a:lstStyle/>
          <a:p>
            <a:r>
              <a:rPr lang="hu-HU" sz="3600" dirty="0" smtClean="0"/>
              <a:t>Reprezentációtanulás</a:t>
            </a:r>
            <a:endParaRPr lang="en-GB" sz="360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99170" y="1268760"/>
            <a:ext cx="8229600" cy="4525963"/>
          </a:xfrm>
        </p:spPr>
        <p:txBody>
          <a:bodyPr>
            <a:normAutofit/>
          </a:bodyPr>
          <a:lstStyle/>
          <a:p>
            <a:r>
              <a:rPr lang="hu-HU" sz="2400" dirty="0" smtClean="0"/>
              <a:t>1. példa: Tanult szűrők CNN-ekben</a:t>
            </a:r>
          </a:p>
          <a:p>
            <a:pPr lvl="1"/>
            <a:r>
              <a:rPr lang="hu-HU" sz="1400" dirty="0" smtClean="0"/>
              <a:t>Első </a:t>
            </a:r>
            <a:r>
              <a:rPr lang="hu-HU" sz="1400" dirty="0" err="1" smtClean="0"/>
              <a:t>konvolúciós</a:t>
            </a:r>
            <a:r>
              <a:rPr lang="hu-HU" sz="1400" dirty="0" smtClean="0"/>
              <a:t> réteg szűrői egy úttörő cikkből (184.000 hivatkozás!) </a:t>
            </a:r>
            <a:r>
              <a:rPr lang="hu-HU" sz="1400" dirty="0" err="1" smtClean="0"/>
              <a:t>Krizhevsky</a:t>
            </a:r>
            <a:r>
              <a:rPr lang="hu-HU" sz="1400" dirty="0" smtClean="0"/>
              <a:t>, </a:t>
            </a:r>
            <a:r>
              <a:rPr lang="hu-HU" sz="1400" dirty="0" err="1" smtClean="0"/>
              <a:t>Sutskever</a:t>
            </a:r>
            <a:r>
              <a:rPr lang="hu-HU" sz="1400" dirty="0" smtClean="0"/>
              <a:t>, </a:t>
            </a:r>
            <a:r>
              <a:rPr lang="hu-HU" sz="1400" dirty="0" err="1" smtClean="0"/>
              <a:t>Hinton</a:t>
            </a:r>
            <a:r>
              <a:rPr lang="hu-HU" sz="1400" dirty="0" smtClean="0"/>
              <a:t>: </a:t>
            </a:r>
            <a:r>
              <a:rPr lang="en-GB" sz="1400" i="1" dirty="0" smtClean="0"/>
              <a:t>ImageNet </a:t>
            </a:r>
            <a:r>
              <a:rPr lang="en-GB" sz="1400" i="1" dirty="0"/>
              <a:t>Classification with Deep Convolutional Neural </a:t>
            </a:r>
            <a:r>
              <a:rPr lang="en-GB" sz="1400" i="1" dirty="0" smtClean="0"/>
              <a:t>Networks</a:t>
            </a:r>
            <a:r>
              <a:rPr lang="hu-HU" sz="1400" i="1" dirty="0" smtClean="0"/>
              <a:t>, </a:t>
            </a:r>
            <a:r>
              <a:rPr lang="hu-HU" sz="1400" dirty="0" err="1" smtClean="0"/>
              <a:t>NIPS</a:t>
            </a:r>
            <a:r>
              <a:rPr lang="hu-HU" sz="1400" dirty="0" smtClean="0"/>
              <a:t> 2012</a:t>
            </a:r>
          </a:p>
          <a:p>
            <a:pPr lvl="1"/>
            <a:endParaRPr lang="hu-HU" sz="1400" dirty="0" smtClean="0"/>
          </a:p>
          <a:p>
            <a:pPr lvl="1"/>
            <a:endParaRPr lang="hu-HU" sz="1400" dirty="0"/>
          </a:p>
          <a:p>
            <a:pPr lvl="1"/>
            <a:endParaRPr lang="hu-HU" sz="1400" dirty="0" smtClean="0"/>
          </a:p>
          <a:p>
            <a:pPr lvl="1"/>
            <a:endParaRPr lang="hu-HU" sz="1400" dirty="0"/>
          </a:p>
          <a:p>
            <a:pPr lvl="1"/>
            <a:endParaRPr lang="hu-HU" sz="1400" dirty="0" smtClean="0"/>
          </a:p>
          <a:p>
            <a:pPr lvl="1"/>
            <a:endParaRPr lang="hu-HU" sz="1400" dirty="0"/>
          </a:p>
          <a:p>
            <a:pPr lvl="1"/>
            <a:r>
              <a:rPr lang="hu-HU" sz="1400" b="1" dirty="0" smtClean="0"/>
              <a:t>Második (fent) és harmadik (lent) </a:t>
            </a:r>
            <a:r>
              <a:rPr lang="hu-HU" sz="1400" b="1" dirty="0" err="1" smtClean="0"/>
              <a:t>konvolúciós</a:t>
            </a:r>
            <a:r>
              <a:rPr lang="hu-HU" sz="1400" b="1" dirty="0" smtClean="0"/>
              <a:t> rétegbeli </a:t>
            </a:r>
            <a:r>
              <a:rPr lang="hu-HU" sz="1400" dirty="0" smtClean="0"/>
              <a:t>szűrők különböző tárgykategóriák képein tanított CNN-ekben, forrás: Lee et </a:t>
            </a:r>
            <a:r>
              <a:rPr lang="hu-HU" sz="1400" dirty="0" err="1" smtClean="0"/>
              <a:t>al</a:t>
            </a:r>
            <a:r>
              <a:rPr lang="hu-HU" sz="1400" dirty="0" smtClean="0"/>
              <a:t>.: </a:t>
            </a:r>
            <a:r>
              <a:rPr lang="en-GB" sz="1400" i="1" dirty="0" smtClean="0"/>
              <a:t>Convolutional </a:t>
            </a:r>
            <a:r>
              <a:rPr lang="en-GB" sz="1400" i="1" dirty="0"/>
              <a:t>Deep Belief </a:t>
            </a:r>
            <a:r>
              <a:rPr lang="en-GB" sz="1400" i="1" dirty="0" smtClean="0"/>
              <a:t>Networks</a:t>
            </a:r>
            <a:r>
              <a:rPr lang="hu-HU" sz="1400" i="1" dirty="0" smtClean="0"/>
              <a:t> </a:t>
            </a:r>
            <a:r>
              <a:rPr lang="en-GB" sz="1400" i="1" dirty="0" smtClean="0"/>
              <a:t>for </a:t>
            </a:r>
            <a:r>
              <a:rPr lang="en-GB" sz="1400" i="1" dirty="0"/>
              <a:t>Scalable Unsupervised Learning of Hierarchical </a:t>
            </a:r>
            <a:r>
              <a:rPr lang="en-GB" sz="1400" i="1" dirty="0" smtClean="0"/>
              <a:t>Representations</a:t>
            </a:r>
            <a:r>
              <a:rPr lang="hu-HU" sz="1400" i="1" dirty="0" smtClean="0"/>
              <a:t>, </a:t>
            </a:r>
            <a:r>
              <a:rPr lang="hu-HU" sz="1400" dirty="0" err="1" smtClean="0"/>
              <a:t>ICMS</a:t>
            </a:r>
            <a:r>
              <a:rPr lang="hu-HU" sz="1400" dirty="0" smtClean="0"/>
              <a:t> 2009.</a:t>
            </a:r>
            <a:endParaRPr lang="en-GB" sz="1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715" y="4437112"/>
            <a:ext cx="8724900" cy="2319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2142444"/>
            <a:ext cx="3960440" cy="1569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26269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87405" y="1268760"/>
            <a:ext cx="8229600" cy="4929411"/>
          </a:xfrm>
        </p:spPr>
        <p:txBody>
          <a:bodyPr/>
          <a:lstStyle/>
          <a:p>
            <a:r>
              <a:rPr lang="hu-HU" sz="2400" dirty="0" smtClean="0"/>
              <a:t>2. példa: Rokoni kapcsolatok tanulása</a:t>
            </a:r>
            <a:endParaRPr lang="hu-HU" sz="2000" dirty="0" smtClean="0"/>
          </a:p>
          <a:p>
            <a:pPr lvl="1"/>
            <a:r>
              <a:rPr lang="hu-HU" sz="1600" dirty="0" smtClean="0"/>
              <a:t>Nem mély, hanem hagyományos neurális háló, forrás: </a:t>
            </a:r>
            <a:r>
              <a:rPr lang="hu-HU" sz="1600" dirty="0" err="1" smtClean="0"/>
              <a:t>Rumelhart</a:t>
            </a:r>
            <a:r>
              <a:rPr lang="hu-HU" sz="1600" dirty="0" smtClean="0"/>
              <a:t>, </a:t>
            </a:r>
            <a:r>
              <a:rPr lang="hu-HU" sz="1600" dirty="0" err="1" smtClean="0"/>
              <a:t>Hinton</a:t>
            </a:r>
            <a:r>
              <a:rPr lang="hu-HU" sz="1600" dirty="0" smtClean="0"/>
              <a:t>, Williams: </a:t>
            </a:r>
            <a:r>
              <a:rPr lang="en-GB" sz="1600" i="1" dirty="0" smtClean="0"/>
              <a:t>Learning </a:t>
            </a:r>
            <a:r>
              <a:rPr lang="en-GB" sz="1600" i="1" dirty="0"/>
              <a:t>representations by back-propagating </a:t>
            </a:r>
            <a:r>
              <a:rPr lang="en-GB" sz="1600" i="1" dirty="0" smtClean="0"/>
              <a:t>errors</a:t>
            </a:r>
            <a:r>
              <a:rPr lang="hu-HU" sz="1600" i="1" dirty="0" smtClean="0"/>
              <a:t>. </a:t>
            </a:r>
            <a:r>
              <a:rPr lang="hu-HU" sz="1600" dirty="0" err="1" smtClean="0"/>
              <a:t>Nature</a:t>
            </a:r>
            <a:r>
              <a:rPr lang="hu-HU" sz="1600" dirty="0" smtClean="0"/>
              <a:t>, 1986.</a:t>
            </a:r>
          </a:p>
          <a:p>
            <a:pPr lvl="1"/>
            <a:r>
              <a:rPr lang="hu-HU" sz="1600" dirty="0" smtClean="0"/>
              <a:t>Két izomorf családfát leíró tényekkel tanítunk, &lt;személy 1&gt;&lt;kapcsolat&gt;&lt;személy 2&gt; formában adjuk meg ezeket; személyek és kapcsolat </a:t>
            </a:r>
            <a:r>
              <a:rPr lang="hu-HU" sz="1600" dirty="0" err="1" smtClean="0"/>
              <a:t>one-hot</a:t>
            </a:r>
            <a:r>
              <a:rPr lang="hu-HU" sz="1600" dirty="0" smtClean="0"/>
              <a:t> kódolva. A kapcsolat lehet apa, anya, férj, feleség, nővér, fivér stb. Személy 1 és kapcsolat a bemeneti réteg, személy 2 a kimenet</a:t>
            </a:r>
          </a:p>
          <a:p>
            <a:pPr lvl="1"/>
            <a:r>
              <a:rPr lang="hu-HU" sz="1600" dirty="0" smtClean="0"/>
              <a:t>Az 1. rejtett rétegben 6 neuron van, a jobb oldali ábra az egyes személyeket képviselő bemeneti jegyekből az egyes neuronokba (1–6) vezető súlyok értékét ábrázolja (fekete negatív, fehér pozitív, méret a nagyság). Az 1-es neuron az olasz és angol fát különbözteti meg, a 2-es a nemzedéket, a 6-os az apai és anyai ágat.</a:t>
            </a:r>
          </a:p>
        </p:txBody>
      </p:sp>
      <p:sp>
        <p:nvSpPr>
          <p:cNvPr id="4" name="Cím 1"/>
          <p:cNvSpPr txBox="1">
            <a:spLocks/>
          </p:cNvSpPr>
          <p:nvPr/>
        </p:nvSpPr>
        <p:spPr>
          <a:xfrm>
            <a:off x="457200" y="274638"/>
            <a:ext cx="8219256" cy="7780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3600" dirty="0"/>
              <a:t>Reprezentációtanulás</a:t>
            </a:r>
            <a:endParaRPr lang="en-GB" sz="3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791399"/>
            <a:ext cx="3456384" cy="1805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0108" y="4437112"/>
            <a:ext cx="5050964" cy="2304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4736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95536" y="1052736"/>
            <a:ext cx="8229600" cy="4525963"/>
          </a:xfrm>
        </p:spPr>
        <p:txBody>
          <a:bodyPr>
            <a:normAutofit fontScale="55000" lnSpcReduction="20000"/>
          </a:bodyPr>
          <a:lstStyle/>
          <a:p>
            <a:r>
              <a:rPr lang="hu-HU" sz="2900" dirty="0" smtClean="0"/>
              <a:t>3. példa: </a:t>
            </a:r>
            <a:r>
              <a:rPr lang="hu-HU" sz="2900" dirty="0" err="1" smtClean="0"/>
              <a:t>Autoencoder</a:t>
            </a:r>
            <a:endParaRPr lang="hu-HU" sz="2900" dirty="0" smtClean="0"/>
          </a:p>
          <a:p>
            <a:pPr lvl="1"/>
            <a:r>
              <a:rPr lang="hu-HU" sz="2200" dirty="0" smtClean="0"/>
              <a:t>Az </a:t>
            </a:r>
            <a:r>
              <a:rPr lang="hu-HU" sz="2200" b="1" dirty="0" err="1" smtClean="0"/>
              <a:t>autoencoder</a:t>
            </a:r>
            <a:r>
              <a:rPr lang="hu-HU" sz="2200" dirty="0" smtClean="0"/>
              <a:t> olyan neurális háló, amely megtanulja a </a:t>
            </a:r>
            <a:r>
              <a:rPr lang="hu-HU" sz="2200" b="1" dirty="0" smtClean="0"/>
              <a:t>bemeneteként kapott vektort kimenetként </a:t>
            </a:r>
            <a:r>
              <a:rPr lang="hu-HU" sz="2200" dirty="0" smtClean="0"/>
              <a:t>kiadni</a:t>
            </a:r>
          </a:p>
          <a:p>
            <a:pPr lvl="1"/>
            <a:r>
              <a:rPr lang="hu-HU" sz="2200" b="1" dirty="0" smtClean="0"/>
              <a:t>Két fele </a:t>
            </a:r>
            <a:r>
              <a:rPr lang="hu-HU" sz="2200" dirty="0" smtClean="0"/>
              <a:t>van:</a:t>
            </a:r>
          </a:p>
          <a:p>
            <a:pPr lvl="2"/>
            <a:r>
              <a:rPr lang="hu-HU" sz="1900" b="1" dirty="0" smtClean="0"/>
              <a:t>kódoló</a:t>
            </a:r>
            <a:r>
              <a:rPr lang="hu-HU" sz="1900" dirty="0" smtClean="0"/>
              <a:t>: a bemenetet a bemenet </a:t>
            </a:r>
            <a:r>
              <a:rPr lang="hu-HU" sz="1900" b="1" dirty="0" smtClean="0"/>
              <a:t>alacsony </a:t>
            </a:r>
            <a:r>
              <a:rPr lang="hu-HU" sz="1900" b="1" dirty="0" err="1" smtClean="0"/>
              <a:t>dimenzionalitású</a:t>
            </a:r>
            <a:r>
              <a:rPr lang="hu-HU" sz="1900" b="1" dirty="0" smtClean="0"/>
              <a:t> </a:t>
            </a:r>
            <a:r>
              <a:rPr lang="hu-HU" sz="1900" dirty="0" smtClean="0"/>
              <a:t>reprezentációjára képezi le (pl.: 28*</a:t>
            </a:r>
            <a:r>
              <a:rPr lang="hu-HU" sz="1900" dirty="0" err="1" smtClean="0"/>
              <a:t>28</a:t>
            </a:r>
            <a:r>
              <a:rPr lang="hu-HU" sz="1900" dirty="0" smtClean="0"/>
              <a:t>=754 jegyet 10 jegyre)</a:t>
            </a:r>
          </a:p>
          <a:p>
            <a:pPr lvl="2"/>
            <a:r>
              <a:rPr lang="hu-HU" sz="1900" b="1" dirty="0" smtClean="0"/>
              <a:t>dekódoló</a:t>
            </a:r>
            <a:r>
              <a:rPr lang="hu-HU" sz="1900" dirty="0" smtClean="0"/>
              <a:t>: közelítőleg visszaállítja az eredeti bemenetet az alacsony dimenziójú reprezentációból</a:t>
            </a:r>
          </a:p>
          <a:p>
            <a:pPr lvl="2"/>
            <a:r>
              <a:rPr lang="hu-HU" sz="1900" b="1" dirty="0" smtClean="0"/>
              <a:t>veszteséges tömörítés</a:t>
            </a:r>
          </a:p>
          <a:p>
            <a:pPr lvl="1"/>
            <a:r>
              <a:rPr lang="hu-HU" sz="2200" dirty="0"/>
              <a:t>A</a:t>
            </a:r>
            <a:r>
              <a:rPr lang="hu-HU" sz="2200" dirty="0" smtClean="0"/>
              <a:t>z </a:t>
            </a:r>
            <a:r>
              <a:rPr lang="hu-HU" sz="2200" dirty="0" err="1" smtClean="0"/>
              <a:t>autoencoder</a:t>
            </a:r>
            <a:r>
              <a:rPr lang="hu-HU" sz="2200" dirty="0" smtClean="0"/>
              <a:t> lényegében </a:t>
            </a:r>
            <a:r>
              <a:rPr lang="hu-HU" sz="2200" b="1" dirty="0" smtClean="0"/>
              <a:t>hasznos jegyeket von ki </a:t>
            </a:r>
            <a:r>
              <a:rPr lang="hu-HU" sz="2200" dirty="0" smtClean="0"/>
              <a:t>a magas </a:t>
            </a:r>
            <a:r>
              <a:rPr lang="hu-HU" sz="2200" dirty="0" err="1" smtClean="0"/>
              <a:t>dimenzionalitású</a:t>
            </a:r>
            <a:r>
              <a:rPr lang="hu-HU" sz="2200" dirty="0" smtClean="0"/>
              <a:t> adatokból</a:t>
            </a:r>
          </a:p>
          <a:p>
            <a:pPr lvl="1"/>
            <a:r>
              <a:rPr lang="hu-HU" sz="2200" dirty="0" smtClean="0"/>
              <a:t>hasonlít ahhoz, mint amikor egy képet néhány szóval írunk le</a:t>
            </a:r>
          </a:p>
          <a:p>
            <a:pPr lvl="1"/>
            <a:r>
              <a:rPr lang="hu-HU" sz="2200" dirty="0" smtClean="0"/>
              <a:t>Ábra forrása: </a:t>
            </a:r>
            <a:r>
              <a:rPr lang="hu-HU" sz="2200" dirty="0" err="1" smtClean="0"/>
              <a:t>Guo</a:t>
            </a:r>
            <a:r>
              <a:rPr lang="hu-HU" sz="2200" dirty="0" smtClean="0"/>
              <a:t>, </a:t>
            </a:r>
            <a:r>
              <a:rPr lang="hu-HU" sz="2200" dirty="0" err="1" smtClean="0"/>
              <a:t>Liu</a:t>
            </a:r>
            <a:r>
              <a:rPr lang="hu-HU" sz="2200" dirty="0" smtClean="0"/>
              <a:t>, </a:t>
            </a:r>
            <a:r>
              <a:rPr lang="hu-HU" sz="2200" dirty="0" err="1" smtClean="0"/>
              <a:t>Yin</a:t>
            </a:r>
            <a:r>
              <a:rPr lang="hu-HU" sz="2200" dirty="0" smtClean="0"/>
              <a:t>: </a:t>
            </a:r>
            <a:r>
              <a:rPr lang="en-GB" sz="2200" i="1" dirty="0" smtClean="0"/>
              <a:t>Deep Clustering with Convolutional </a:t>
            </a:r>
            <a:r>
              <a:rPr lang="en-GB" sz="2200" i="1" dirty="0" err="1" smtClean="0"/>
              <a:t>Autoencoders</a:t>
            </a:r>
            <a:r>
              <a:rPr lang="hu-HU" sz="2200" i="1" dirty="0" smtClean="0"/>
              <a:t>, </a:t>
            </a:r>
            <a:r>
              <a:rPr lang="hu-HU" sz="2200" dirty="0" err="1" smtClean="0"/>
              <a:t>ICONIP</a:t>
            </a:r>
            <a:r>
              <a:rPr lang="hu-HU" sz="2200" dirty="0" smtClean="0"/>
              <a:t> 2017</a:t>
            </a:r>
          </a:p>
          <a:p>
            <a:pPr lvl="1"/>
            <a:endParaRPr lang="hu-HU" sz="2600" dirty="0"/>
          </a:p>
          <a:p>
            <a:pPr lvl="1"/>
            <a:endParaRPr lang="hu-HU" sz="2600" dirty="0" smtClean="0"/>
          </a:p>
          <a:p>
            <a:pPr lvl="1"/>
            <a:endParaRPr lang="hu-HU" sz="2600" dirty="0" smtClean="0"/>
          </a:p>
          <a:p>
            <a:pPr lvl="1"/>
            <a:endParaRPr lang="hu-HU" sz="2600" dirty="0"/>
          </a:p>
          <a:p>
            <a:pPr lvl="1"/>
            <a:endParaRPr lang="hu-HU" sz="2600" dirty="0" smtClean="0"/>
          </a:p>
          <a:p>
            <a:pPr lvl="1"/>
            <a:endParaRPr lang="hu-HU" sz="2600" dirty="0" smtClean="0"/>
          </a:p>
          <a:p>
            <a:pPr lvl="1"/>
            <a:endParaRPr lang="hu-HU" sz="2600" dirty="0" smtClean="0"/>
          </a:p>
          <a:p>
            <a:pPr lvl="1"/>
            <a:endParaRPr lang="hu-HU" sz="2600" dirty="0"/>
          </a:p>
          <a:p>
            <a:pPr lvl="1"/>
            <a:endParaRPr lang="hu-HU" sz="2600" dirty="0"/>
          </a:p>
          <a:p>
            <a:pPr lvl="1"/>
            <a:endParaRPr lang="hu-HU" sz="2200" dirty="0" smtClean="0"/>
          </a:p>
          <a:p>
            <a:pPr lvl="1"/>
            <a:r>
              <a:rPr lang="hu-HU" sz="2200" dirty="0" smtClean="0"/>
              <a:t>Egyebek mellett az </a:t>
            </a:r>
            <a:r>
              <a:rPr lang="hu-HU" sz="2200" dirty="0" err="1" smtClean="0"/>
              <a:t>autoencodereket</a:t>
            </a:r>
            <a:r>
              <a:rPr lang="hu-HU" sz="2200" dirty="0" smtClean="0"/>
              <a:t> </a:t>
            </a:r>
            <a:r>
              <a:rPr lang="hu-HU" sz="2200" b="1" dirty="0" smtClean="0"/>
              <a:t>képek zajszűrésére</a:t>
            </a:r>
            <a:r>
              <a:rPr lang="hu-HU" sz="2200" dirty="0" smtClean="0"/>
              <a:t>, </a:t>
            </a:r>
            <a:r>
              <a:rPr lang="hu-HU" sz="2200" b="1" dirty="0" smtClean="0"/>
              <a:t>képgenerálásra </a:t>
            </a:r>
            <a:r>
              <a:rPr lang="hu-HU" sz="2200" dirty="0" smtClean="0"/>
              <a:t>lehet használni (pl. </a:t>
            </a:r>
            <a:r>
              <a:rPr lang="hu-HU" sz="2200" dirty="0" err="1" smtClean="0"/>
              <a:t>GAN-ban</a:t>
            </a:r>
            <a:r>
              <a:rPr lang="hu-HU" sz="2200" dirty="0" smtClean="0"/>
              <a:t>)</a:t>
            </a:r>
          </a:p>
          <a:p>
            <a:pPr lvl="1"/>
            <a:r>
              <a:rPr lang="hu-HU" sz="2200" dirty="0" smtClean="0"/>
              <a:t>Zajszűrő </a:t>
            </a:r>
            <a:r>
              <a:rPr lang="hu-HU" sz="2200" dirty="0" err="1" smtClean="0"/>
              <a:t>autoencoder</a:t>
            </a:r>
            <a:r>
              <a:rPr lang="hu-HU" sz="2200" dirty="0"/>
              <a:t>, </a:t>
            </a:r>
            <a:r>
              <a:rPr lang="hu-HU" sz="2200" dirty="0" err="1"/>
              <a:t>https</a:t>
            </a:r>
            <a:r>
              <a:rPr lang="hu-HU" sz="2200" dirty="0"/>
              <a:t>://</a:t>
            </a:r>
            <a:r>
              <a:rPr lang="hu-HU" sz="2200" dirty="0" err="1"/>
              <a:t>pyimagesearch.com</a:t>
            </a:r>
            <a:r>
              <a:rPr lang="hu-HU" sz="2200" dirty="0"/>
              <a:t>/2020/02/24/</a:t>
            </a:r>
            <a:r>
              <a:rPr lang="hu-HU" sz="2200" dirty="0" err="1"/>
              <a:t>denoising-autoencoders-with-keras-tensorflow-and-deep-learning</a:t>
            </a:r>
            <a:r>
              <a:rPr lang="hu-HU" sz="2200" dirty="0"/>
              <a:t>/</a:t>
            </a:r>
            <a:endParaRPr lang="hu-HU" sz="2200" dirty="0" smtClean="0"/>
          </a:p>
        </p:txBody>
      </p:sp>
      <p:sp>
        <p:nvSpPr>
          <p:cNvPr id="4" name="Cím 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3200" dirty="0"/>
              <a:t>Reprezentációtanulás</a:t>
            </a:r>
            <a:endParaRPr lang="en-GB" sz="3200" dirty="0"/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910" y="2780928"/>
            <a:ext cx="5146141" cy="1882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1" y="5373216"/>
            <a:ext cx="4680520" cy="1255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1104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000" dirty="0" smtClean="0"/>
              <a:t>A generatív modellek felemelkedése</a:t>
            </a:r>
            <a:endParaRPr lang="en-GB" sz="400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hu-HU" dirty="0" smtClean="0"/>
              <a:t>A </a:t>
            </a:r>
            <a:r>
              <a:rPr lang="hu-HU" b="1" dirty="0" smtClean="0"/>
              <a:t>generatív MI </a:t>
            </a:r>
            <a:r>
              <a:rPr lang="hu-HU" dirty="0" smtClean="0"/>
              <a:t>mindig valamilyen típusú mély neurális hálón alapul.</a:t>
            </a:r>
          </a:p>
          <a:p>
            <a:r>
              <a:rPr lang="hu-HU" dirty="0" smtClean="0"/>
              <a:t>A legkorábbi generatív neurális háló a </a:t>
            </a:r>
            <a:r>
              <a:rPr lang="hu-HU" b="1" dirty="0" err="1" smtClean="0"/>
              <a:t>GAN</a:t>
            </a:r>
            <a:r>
              <a:rPr lang="hu-HU" b="1" dirty="0"/>
              <a:t> </a:t>
            </a:r>
            <a:r>
              <a:rPr lang="hu-HU" b="1" dirty="0" smtClean="0"/>
              <a:t>(</a:t>
            </a:r>
            <a:r>
              <a:rPr lang="hu-HU" b="1" dirty="0" err="1" smtClean="0"/>
              <a:t>generative</a:t>
            </a:r>
            <a:r>
              <a:rPr lang="hu-HU" b="1" dirty="0" smtClean="0"/>
              <a:t> </a:t>
            </a:r>
            <a:r>
              <a:rPr lang="hu-HU" b="1" dirty="0" err="1" smtClean="0"/>
              <a:t>adversarial</a:t>
            </a:r>
            <a:r>
              <a:rPr lang="hu-HU" b="1" dirty="0" smtClean="0"/>
              <a:t> </a:t>
            </a:r>
            <a:r>
              <a:rPr lang="hu-HU" b="1" dirty="0" err="1" smtClean="0"/>
              <a:t>network</a:t>
            </a:r>
            <a:r>
              <a:rPr lang="hu-HU" b="1" dirty="0" smtClean="0"/>
              <a:t>, </a:t>
            </a:r>
            <a:r>
              <a:rPr lang="hu-HU" dirty="0" smtClean="0"/>
              <a:t>kb. generatív versengő hálózat) volt, ezt 2014-ben találták fel, nagyon befolyásos lett a 2010-es évek második felében és </a:t>
            </a:r>
            <a:r>
              <a:rPr lang="hu-HU" b="1" dirty="0" smtClean="0"/>
              <a:t>képgenerálásra </a:t>
            </a:r>
            <a:r>
              <a:rPr lang="hu-HU" dirty="0" smtClean="0"/>
              <a:t>használják</a:t>
            </a:r>
          </a:p>
          <a:p>
            <a:r>
              <a:rPr lang="hu-HU" dirty="0" smtClean="0"/>
              <a:t>A </a:t>
            </a:r>
            <a:r>
              <a:rPr lang="hu-HU" b="1" dirty="0" err="1" smtClean="0"/>
              <a:t>transzformer</a:t>
            </a:r>
            <a:r>
              <a:rPr lang="hu-HU" b="1" dirty="0" smtClean="0"/>
              <a:t> </a:t>
            </a:r>
            <a:r>
              <a:rPr lang="hu-HU" dirty="0" smtClean="0"/>
              <a:t>neurális architektúra 2017-es feltalálása </a:t>
            </a:r>
            <a:r>
              <a:rPr lang="hu-HU" b="1" dirty="0" smtClean="0"/>
              <a:t>fordulópont volt a mélytanulás fejlődésében</a:t>
            </a:r>
          </a:p>
          <a:p>
            <a:pPr lvl="1"/>
            <a:r>
              <a:rPr lang="hu-HU" dirty="0" err="1" smtClean="0"/>
              <a:t>Vaswani</a:t>
            </a:r>
            <a:r>
              <a:rPr lang="hu-HU" dirty="0" smtClean="0"/>
              <a:t> et </a:t>
            </a:r>
            <a:r>
              <a:rPr lang="hu-HU" dirty="0" err="1" smtClean="0"/>
              <a:t>al</a:t>
            </a:r>
            <a:r>
              <a:rPr lang="hu-HU" dirty="0" smtClean="0"/>
              <a:t>. (</a:t>
            </a:r>
            <a:r>
              <a:rPr lang="hu-HU" dirty="0" err="1" smtClean="0"/>
              <a:t>Google</a:t>
            </a:r>
            <a:r>
              <a:rPr lang="hu-HU" dirty="0" smtClean="0"/>
              <a:t> Research):</a:t>
            </a:r>
            <a:r>
              <a:rPr lang="hu-HU" i="1" dirty="0" smtClean="0"/>
              <a:t> </a:t>
            </a:r>
            <a:r>
              <a:rPr lang="en-GB" i="1" dirty="0" smtClean="0"/>
              <a:t>Attention </a:t>
            </a:r>
            <a:r>
              <a:rPr lang="en-GB" i="1" dirty="0"/>
              <a:t>Is All You </a:t>
            </a:r>
            <a:r>
              <a:rPr lang="en-GB" i="1" dirty="0" smtClean="0"/>
              <a:t>Need</a:t>
            </a:r>
            <a:r>
              <a:rPr lang="hu-HU" i="1" dirty="0"/>
              <a:t>, </a:t>
            </a:r>
            <a:r>
              <a:rPr lang="hu-HU" dirty="0" err="1"/>
              <a:t>https</a:t>
            </a:r>
            <a:r>
              <a:rPr lang="hu-HU" dirty="0"/>
              <a:t>://</a:t>
            </a:r>
            <a:r>
              <a:rPr lang="hu-HU" dirty="0" err="1" smtClean="0"/>
              <a:t>arxiv.org</a:t>
            </a:r>
            <a:r>
              <a:rPr lang="hu-HU" dirty="0" smtClean="0"/>
              <a:t>/</a:t>
            </a:r>
            <a:r>
              <a:rPr lang="hu-HU" dirty="0" err="1" smtClean="0"/>
              <a:t>abs</a:t>
            </a:r>
            <a:r>
              <a:rPr lang="hu-HU" dirty="0" smtClean="0"/>
              <a:t>/1706.03762, 2017 (208 000 hivatkozás)</a:t>
            </a:r>
          </a:p>
          <a:p>
            <a:r>
              <a:rPr lang="hu-HU" dirty="0" smtClean="0"/>
              <a:t>Első befolyásos alkalmazása a </a:t>
            </a:r>
            <a:r>
              <a:rPr lang="hu-HU" dirty="0" err="1" smtClean="0"/>
              <a:t>BERT</a:t>
            </a:r>
            <a:r>
              <a:rPr lang="hu-HU" dirty="0" smtClean="0"/>
              <a:t> kódoló nyelvmodell volt 2018-ban</a:t>
            </a:r>
          </a:p>
          <a:p>
            <a:pPr lvl="1"/>
            <a:r>
              <a:rPr lang="hu-HU" dirty="0" err="1" smtClean="0"/>
              <a:t>Devlin</a:t>
            </a:r>
            <a:r>
              <a:rPr lang="hu-HU" dirty="0" smtClean="0"/>
              <a:t> et </a:t>
            </a:r>
            <a:r>
              <a:rPr lang="hu-HU" dirty="0" err="1" smtClean="0"/>
              <a:t>al</a:t>
            </a:r>
            <a:r>
              <a:rPr lang="hu-HU" dirty="0" smtClean="0"/>
              <a:t>. (</a:t>
            </a:r>
            <a:r>
              <a:rPr lang="hu-HU" dirty="0" err="1" smtClean="0"/>
              <a:t>Google</a:t>
            </a:r>
            <a:r>
              <a:rPr lang="hu-HU" dirty="0" smtClean="0"/>
              <a:t> </a:t>
            </a:r>
            <a:r>
              <a:rPr lang="hu-HU" dirty="0" err="1" smtClean="0"/>
              <a:t>AI</a:t>
            </a:r>
            <a:r>
              <a:rPr lang="hu-HU" dirty="0" smtClean="0"/>
              <a:t>): </a:t>
            </a:r>
            <a:r>
              <a:rPr lang="en-GB" i="1" dirty="0"/>
              <a:t>BERT: Pre-training of Deep Bidirectional Transformers for Language </a:t>
            </a:r>
            <a:r>
              <a:rPr lang="en-GB" i="1" dirty="0" smtClean="0"/>
              <a:t>Understanding</a:t>
            </a:r>
            <a:r>
              <a:rPr lang="hu-HU" i="1" dirty="0"/>
              <a:t>, </a:t>
            </a:r>
            <a:r>
              <a:rPr lang="hu-HU" dirty="0" err="1"/>
              <a:t>https</a:t>
            </a:r>
            <a:r>
              <a:rPr lang="hu-HU" dirty="0"/>
              <a:t>://</a:t>
            </a:r>
            <a:r>
              <a:rPr lang="hu-HU" dirty="0" err="1" smtClean="0"/>
              <a:t>arxiv.org</a:t>
            </a:r>
            <a:r>
              <a:rPr lang="hu-HU" dirty="0" smtClean="0"/>
              <a:t>/</a:t>
            </a:r>
            <a:r>
              <a:rPr lang="hu-HU" dirty="0" err="1" smtClean="0"/>
              <a:t>abs</a:t>
            </a:r>
            <a:r>
              <a:rPr lang="hu-HU" dirty="0" smtClean="0"/>
              <a:t>/1810.04805, 2018 (150 000 hivatkozás)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4880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000" dirty="0"/>
              <a:t>A generatív modellek felemelkedése</a:t>
            </a:r>
            <a:endParaRPr lang="en-GB" sz="400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hu-HU" dirty="0" smtClean="0"/>
              <a:t>A generatív MI minden mérföldköve egy-egy úttörő tanulmányhoz köthető:</a:t>
            </a:r>
          </a:p>
          <a:p>
            <a:pPr lvl="1"/>
            <a:r>
              <a:rPr lang="hu-HU" dirty="0" err="1" smtClean="0"/>
              <a:t>Radford</a:t>
            </a:r>
            <a:r>
              <a:rPr lang="hu-HU" dirty="0" smtClean="0"/>
              <a:t> et </a:t>
            </a:r>
            <a:r>
              <a:rPr lang="hu-HU" dirty="0" err="1" smtClean="0"/>
              <a:t>al</a:t>
            </a:r>
            <a:r>
              <a:rPr lang="hu-HU" dirty="0" smtClean="0"/>
              <a:t>.: </a:t>
            </a:r>
            <a:r>
              <a:rPr lang="en-GB" i="1" dirty="0" smtClean="0"/>
              <a:t>Improving </a:t>
            </a:r>
            <a:r>
              <a:rPr lang="en-GB" i="1" dirty="0"/>
              <a:t>language understanding by generative </a:t>
            </a:r>
            <a:r>
              <a:rPr lang="en-GB" i="1" dirty="0" smtClean="0"/>
              <a:t>pre-training</a:t>
            </a:r>
            <a:r>
              <a:rPr lang="hu-HU" i="1" dirty="0" smtClean="0"/>
              <a:t> </a:t>
            </a:r>
            <a:r>
              <a:rPr lang="hu-HU" dirty="0" smtClean="0"/>
              <a:t>(</a:t>
            </a:r>
            <a:r>
              <a:rPr lang="hu-HU" dirty="0" err="1" smtClean="0"/>
              <a:t>OpenAI</a:t>
            </a:r>
            <a:r>
              <a:rPr lang="hu-HU" dirty="0" smtClean="0"/>
              <a:t>), 2018</a:t>
            </a:r>
          </a:p>
          <a:p>
            <a:pPr lvl="2"/>
            <a:r>
              <a:rPr lang="hu-HU" dirty="0" smtClean="0"/>
              <a:t>ez a cikk mutatta be a </a:t>
            </a:r>
            <a:r>
              <a:rPr lang="hu-HU" b="1" dirty="0" smtClean="0"/>
              <a:t>GPT-1 modellt, az első csak dekódoló, </a:t>
            </a:r>
            <a:r>
              <a:rPr lang="hu-HU" b="1" dirty="0" err="1" smtClean="0"/>
              <a:t>transzformeralapú</a:t>
            </a:r>
            <a:r>
              <a:rPr lang="hu-HU" b="1" dirty="0" smtClean="0"/>
              <a:t> generatív nyelvmodellt</a:t>
            </a:r>
          </a:p>
          <a:p>
            <a:pPr lvl="1"/>
            <a:r>
              <a:rPr lang="hu-HU" dirty="0" err="1" smtClean="0"/>
              <a:t>Radford</a:t>
            </a:r>
            <a:r>
              <a:rPr lang="hu-HU" dirty="0" smtClean="0"/>
              <a:t> et </a:t>
            </a:r>
            <a:r>
              <a:rPr lang="hu-HU" dirty="0" err="1" smtClean="0"/>
              <a:t>al</a:t>
            </a:r>
            <a:r>
              <a:rPr lang="hu-HU" dirty="0" smtClean="0"/>
              <a:t>.: </a:t>
            </a:r>
            <a:r>
              <a:rPr lang="en-GB" i="1" dirty="0"/>
              <a:t>Language Models are Unsupervised Multitask </a:t>
            </a:r>
            <a:r>
              <a:rPr lang="en-GB" i="1" dirty="0" smtClean="0"/>
              <a:t>Learners</a:t>
            </a:r>
            <a:r>
              <a:rPr lang="hu-HU" i="1" dirty="0" smtClean="0"/>
              <a:t> </a:t>
            </a:r>
            <a:r>
              <a:rPr lang="hu-HU" dirty="0" smtClean="0"/>
              <a:t>(</a:t>
            </a:r>
            <a:r>
              <a:rPr lang="hu-HU" dirty="0" err="1" smtClean="0"/>
              <a:t>OpenAI</a:t>
            </a:r>
            <a:r>
              <a:rPr lang="hu-HU" dirty="0" smtClean="0"/>
              <a:t>), 2019</a:t>
            </a:r>
          </a:p>
          <a:p>
            <a:pPr lvl="2"/>
            <a:r>
              <a:rPr lang="hu-HU" dirty="0" smtClean="0"/>
              <a:t>a GPT-2 megjelenésekor kiderült, hogy a nagyobb, milliárd paraméter nagyságrendű generatív nyelvmodellek számos </a:t>
            </a:r>
            <a:r>
              <a:rPr lang="hu-HU" dirty="0" err="1" smtClean="0"/>
              <a:t>NLP-feladatot</a:t>
            </a:r>
            <a:r>
              <a:rPr lang="hu-HU" dirty="0" smtClean="0"/>
              <a:t> (összefoglalás, fordítás, kérdésmegválaszolás) meg képesek oldani </a:t>
            </a:r>
            <a:r>
              <a:rPr lang="hu-HU" b="1" dirty="0" smtClean="0"/>
              <a:t>anélkül, hogy erre kifejezetten tanították volna</a:t>
            </a:r>
            <a:r>
              <a:rPr lang="hu-HU" b="1" dirty="0"/>
              <a:t> </a:t>
            </a:r>
            <a:r>
              <a:rPr lang="hu-HU" b="1" dirty="0" smtClean="0"/>
              <a:t>ezeket</a:t>
            </a:r>
          </a:p>
          <a:p>
            <a:pPr lvl="1"/>
            <a:r>
              <a:rPr lang="hu-HU" dirty="0" err="1" smtClean="0"/>
              <a:t>Ziegler</a:t>
            </a:r>
            <a:r>
              <a:rPr lang="hu-HU" dirty="0" smtClean="0"/>
              <a:t> et </a:t>
            </a:r>
            <a:r>
              <a:rPr lang="hu-HU" dirty="0" err="1" smtClean="0"/>
              <a:t>al</a:t>
            </a:r>
            <a:r>
              <a:rPr lang="hu-HU" dirty="0" smtClean="0"/>
              <a:t>: </a:t>
            </a:r>
            <a:r>
              <a:rPr lang="en-GB" i="1" dirty="0" smtClean="0"/>
              <a:t>Fine-tuning language models from human preferences</a:t>
            </a:r>
            <a:r>
              <a:rPr lang="hu-HU" i="1" dirty="0" smtClean="0"/>
              <a:t> </a:t>
            </a:r>
            <a:r>
              <a:rPr lang="hu-HU" dirty="0" smtClean="0"/>
              <a:t>(</a:t>
            </a:r>
            <a:r>
              <a:rPr lang="hu-HU" dirty="0" err="1" smtClean="0"/>
              <a:t>OpenAI</a:t>
            </a:r>
            <a:r>
              <a:rPr lang="hu-HU" dirty="0" smtClean="0"/>
              <a:t>), 2019</a:t>
            </a:r>
          </a:p>
          <a:p>
            <a:pPr lvl="2"/>
            <a:r>
              <a:rPr lang="hu-HU" dirty="0" smtClean="0"/>
              <a:t>bemutatta az </a:t>
            </a:r>
            <a:r>
              <a:rPr lang="hu-HU" b="1" dirty="0" smtClean="0"/>
              <a:t>emberi visszacsatolásból történő megerősítéses tanulás </a:t>
            </a:r>
            <a:r>
              <a:rPr lang="hu-HU" dirty="0" smtClean="0"/>
              <a:t>ötletét, amely később meghatározó eleme lett annak, hogy chatbotként tanuljon meg viselkedni egy generatív nyelvmodell; így hozták létre a </a:t>
            </a:r>
            <a:r>
              <a:rPr lang="hu-HU" dirty="0" err="1" smtClean="0"/>
              <a:t>ChatGPT-t</a:t>
            </a:r>
            <a:r>
              <a:rPr lang="hu-HU" dirty="0" smtClean="0"/>
              <a:t> </a:t>
            </a:r>
            <a:r>
              <a:rPr lang="hu-HU" dirty="0" err="1" smtClean="0"/>
              <a:t>a</a:t>
            </a:r>
            <a:r>
              <a:rPr lang="hu-HU" dirty="0" smtClean="0"/>
              <a:t> 2020-ban kiadott GPT-3 generatív nyelvmodellt továbbtanítva</a:t>
            </a:r>
          </a:p>
        </p:txBody>
      </p:sp>
    </p:spTree>
    <p:extLst>
      <p:ext uri="{BB962C8B-B14F-4D97-AF65-F5344CB8AC3E}">
        <p14:creationId xmlns:p14="http://schemas.microsoft.com/office/powerpoint/2010/main" val="40944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hu-HU" dirty="0"/>
              <a:t>A generatív MI minden mérföldköve egy-egy úttörő tanulmányhoz köthető:</a:t>
            </a:r>
          </a:p>
          <a:p>
            <a:pPr lvl="1"/>
            <a:r>
              <a:rPr lang="hu-HU" dirty="0" smtClean="0"/>
              <a:t>Brown et </a:t>
            </a:r>
            <a:r>
              <a:rPr lang="hu-HU" dirty="0" err="1" smtClean="0"/>
              <a:t>al</a:t>
            </a:r>
            <a:r>
              <a:rPr lang="hu-HU" dirty="0" smtClean="0"/>
              <a:t>.: </a:t>
            </a:r>
            <a:r>
              <a:rPr lang="en-GB" i="1" dirty="0" smtClean="0"/>
              <a:t>Language </a:t>
            </a:r>
            <a:r>
              <a:rPr lang="en-GB" i="1" dirty="0"/>
              <a:t>models are few-shot </a:t>
            </a:r>
            <a:r>
              <a:rPr lang="en-GB" i="1" dirty="0" smtClean="0"/>
              <a:t>learners</a:t>
            </a:r>
            <a:r>
              <a:rPr lang="hu-HU" i="1" dirty="0" smtClean="0"/>
              <a:t>. </a:t>
            </a:r>
            <a:r>
              <a:rPr lang="hu-HU" dirty="0" smtClean="0"/>
              <a:t>(</a:t>
            </a:r>
            <a:r>
              <a:rPr lang="hu-HU" dirty="0" err="1" smtClean="0"/>
              <a:t>OpenAI</a:t>
            </a:r>
            <a:r>
              <a:rPr lang="hu-HU" dirty="0" smtClean="0"/>
              <a:t>), </a:t>
            </a:r>
            <a:r>
              <a:rPr lang="hu-HU" dirty="0" err="1" smtClean="0"/>
              <a:t>NeurIPS</a:t>
            </a:r>
            <a:r>
              <a:rPr lang="hu-HU" dirty="0" smtClean="0"/>
              <a:t> 2020</a:t>
            </a:r>
          </a:p>
          <a:p>
            <a:pPr lvl="2"/>
            <a:r>
              <a:rPr lang="hu-HU" dirty="0" smtClean="0"/>
              <a:t>a GPT-3-ról, az </a:t>
            </a:r>
            <a:r>
              <a:rPr lang="hu-HU" b="1" dirty="0" smtClean="0"/>
              <a:t>első valódi nagy nyelvmodellről (175 millió paraméter) </a:t>
            </a:r>
            <a:r>
              <a:rPr lang="hu-HU" dirty="0" smtClean="0"/>
              <a:t>szóló cikk; ha generatív nyelvmodellt felskálázunk 10 és 100 milliárd paraméteres tartományba, </a:t>
            </a:r>
            <a:r>
              <a:rPr lang="hu-HU" b="1" dirty="0" smtClean="0"/>
              <a:t>jelentősen javul a teljesítménye </a:t>
            </a:r>
            <a:r>
              <a:rPr lang="hu-HU" dirty="0" smtClean="0"/>
              <a:t>olyan </a:t>
            </a:r>
            <a:r>
              <a:rPr lang="hu-HU" dirty="0" err="1" smtClean="0"/>
              <a:t>NLP-feladatokon</a:t>
            </a:r>
            <a:r>
              <a:rPr lang="hu-HU" dirty="0" smtClean="0"/>
              <a:t>, amelyekre nem lett kifejezetten tanítva</a:t>
            </a:r>
          </a:p>
          <a:p>
            <a:pPr lvl="1"/>
            <a:r>
              <a:rPr lang="hu-HU" dirty="0" smtClean="0"/>
              <a:t>Kaplan et </a:t>
            </a:r>
            <a:r>
              <a:rPr lang="hu-HU" dirty="0" err="1" smtClean="0"/>
              <a:t>al</a:t>
            </a:r>
            <a:r>
              <a:rPr lang="hu-HU" dirty="0" smtClean="0"/>
              <a:t>.: </a:t>
            </a:r>
            <a:r>
              <a:rPr lang="en-GB" i="1" dirty="0"/>
              <a:t>Scaling laws for neural language </a:t>
            </a:r>
            <a:r>
              <a:rPr lang="en-GB" i="1" dirty="0" smtClean="0"/>
              <a:t>models</a:t>
            </a:r>
            <a:r>
              <a:rPr lang="hu-HU" i="1" dirty="0" smtClean="0"/>
              <a:t>. </a:t>
            </a:r>
            <a:r>
              <a:rPr lang="hu-HU" dirty="0" smtClean="0"/>
              <a:t>(</a:t>
            </a:r>
            <a:r>
              <a:rPr lang="hu-HU" dirty="0" err="1" smtClean="0"/>
              <a:t>OpenAI</a:t>
            </a:r>
            <a:r>
              <a:rPr lang="hu-HU" dirty="0" smtClean="0"/>
              <a:t>), 2020</a:t>
            </a:r>
          </a:p>
          <a:p>
            <a:pPr lvl="2"/>
            <a:r>
              <a:rPr lang="hu-HU" b="1" dirty="0" err="1" smtClean="0"/>
              <a:t>exactly</a:t>
            </a:r>
            <a:r>
              <a:rPr lang="hu-HU" b="1" dirty="0" smtClean="0"/>
              <a:t> </a:t>
            </a:r>
            <a:r>
              <a:rPr lang="hu-HU" b="1" dirty="0" err="1" smtClean="0"/>
              <a:t>how</a:t>
            </a:r>
            <a:r>
              <a:rPr lang="hu-HU" b="1" dirty="0"/>
              <a:t> </a:t>
            </a:r>
            <a:r>
              <a:rPr lang="hu-HU" dirty="0" err="1" smtClean="0"/>
              <a:t>does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b="1" dirty="0" err="1" smtClean="0"/>
              <a:t>loss</a:t>
            </a:r>
            <a:r>
              <a:rPr lang="hu-HU" b="1" dirty="0" smtClean="0"/>
              <a:t> </a:t>
            </a:r>
            <a:r>
              <a:rPr lang="hu-HU" dirty="0" smtClean="0"/>
              <a:t>of a </a:t>
            </a:r>
            <a:r>
              <a:rPr lang="hu-HU" dirty="0" err="1" smtClean="0"/>
              <a:t>language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dirty="0" err="1" smtClean="0"/>
              <a:t>scale</a:t>
            </a:r>
            <a:r>
              <a:rPr lang="hu-HU" dirty="0" smtClean="0"/>
              <a:t> </a:t>
            </a:r>
            <a:r>
              <a:rPr lang="hu-HU" dirty="0" err="1" smtClean="0"/>
              <a:t>with</a:t>
            </a:r>
            <a:r>
              <a:rPr lang="hu-HU" dirty="0" smtClean="0"/>
              <a:t> </a:t>
            </a:r>
            <a:r>
              <a:rPr lang="hu-HU" b="1" dirty="0" err="1" smtClean="0"/>
              <a:t>model</a:t>
            </a:r>
            <a:r>
              <a:rPr lang="hu-HU" b="1" dirty="0" smtClean="0"/>
              <a:t> </a:t>
            </a:r>
            <a:r>
              <a:rPr lang="hu-HU" b="1" dirty="0" err="1" smtClean="0"/>
              <a:t>size</a:t>
            </a:r>
            <a:r>
              <a:rPr lang="hu-HU" b="1" dirty="0" smtClean="0"/>
              <a:t>, </a:t>
            </a:r>
            <a:r>
              <a:rPr lang="hu-HU" b="1" dirty="0" err="1" smtClean="0"/>
              <a:t>dataset</a:t>
            </a:r>
            <a:r>
              <a:rPr lang="hu-HU" b="1" dirty="0" smtClean="0"/>
              <a:t> </a:t>
            </a:r>
            <a:r>
              <a:rPr lang="hu-HU" b="1" dirty="0" err="1" smtClean="0"/>
              <a:t>size</a:t>
            </a:r>
            <a:r>
              <a:rPr lang="hu-HU" b="1" dirty="0" smtClean="0"/>
              <a:t> </a:t>
            </a:r>
            <a:r>
              <a:rPr lang="hu-HU" dirty="0" smtClean="0"/>
              <a:t>and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amount</a:t>
            </a:r>
            <a:r>
              <a:rPr lang="hu-HU" dirty="0" smtClean="0"/>
              <a:t> of </a:t>
            </a:r>
            <a:r>
              <a:rPr lang="hu-HU" dirty="0" err="1" smtClean="0"/>
              <a:t>compute</a:t>
            </a:r>
            <a:r>
              <a:rPr lang="hu-HU" dirty="0" smtClean="0"/>
              <a:t> </a:t>
            </a:r>
            <a:r>
              <a:rPr lang="hu-HU" dirty="0" err="1" smtClean="0"/>
              <a:t>used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training</a:t>
            </a:r>
            <a:r>
              <a:rPr lang="hu-HU" dirty="0" smtClean="0"/>
              <a:t>?</a:t>
            </a:r>
          </a:p>
          <a:p>
            <a:pPr lvl="1"/>
            <a:r>
              <a:rPr lang="hu-HU" dirty="0" err="1" smtClean="0"/>
              <a:t>Radford</a:t>
            </a:r>
            <a:r>
              <a:rPr lang="hu-HU" dirty="0" smtClean="0"/>
              <a:t> et </a:t>
            </a:r>
            <a:r>
              <a:rPr lang="hu-HU" dirty="0" err="1" smtClean="0"/>
              <a:t>al</a:t>
            </a:r>
            <a:r>
              <a:rPr lang="hu-HU" dirty="0" smtClean="0"/>
              <a:t>.: </a:t>
            </a:r>
            <a:r>
              <a:rPr lang="en-GB" dirty="0"/>
              <a:t>Learning Transferable Visual Models From Natural Language </a:t>
            </a:r>
            <a:r>
              <a:rPr lang="en-GB" dirty="0" smtClean="0"/>
              <a:t>Supervision</a:t>
            </a:r>
            <a:r>
              <a:rPr lang="hu-HU" dirty="0"/>
              <a:t> </a:t>
            </a:r>
            <a:r>
              <a:rPr lang="hu-HU" dirty="0" smtClean="0"/>
              <a:t>(</a:t>
            </a:r>
            <a:r>
              <a:rPr lang="hu-HU" dirty="0" err="1" smtClean="0"/>
              <a:t>OpenAI</a:t>
            </a:r>
            <a:r>
              <a:rPr lang="hu-HU" dirty="0" smtClean="0"/>
              <a:t>), </a:t>
            </a:r>
            <a:r>
              <a:rPr lang="hu-HU" dirty="0" err="1" smtClean="0"/>
              <a:t>PMLR</a:t>
            </a:r>
            <a:r>
              <a:rPr lang="hu-HU" dirty="0" smtClean="0"/>
              <a:t> 139, 2021</a:t>
            </a:r>
          </a:p>
          <a:p>
            <a:pPr lvl="2"/>
            <a:r>
              <a:rPr lang="hu-HU" dirty="0" err="1" smtClean="0"/>
              <a:t>instead</a:t>
            </a:r>
            <a:r>
              <a:rPr lang="hu-HU" dirty="0" smtClean="0"/>
              <a:t> of </a:t>
            </a:r>
            <a:r>
              <a:rPr lang="hu-HU" dirty="0" err="1" smtClean="0"/>
              <a:t>training</a:t>
            </a:r>
            <a:r>
              <a:rPr lang="hu-HU" dirty="0" smtClean="0"/>
              <a:t> </a:t>
            </a:r>
            <a:r>
              <a:rPr lang="hu-HU" dirty="0" err="1" smtClean="0"/>
              <a:t>vision</a:t>
            </a:r>
            <a:r>
              <a:rPr lang="hu-HU" dirty="0" smtClean="0"/>
              <a:t> </a:t>
            </a:r>
            <a:r>
              <a:rPr lang="hu-HU" dirty="0" err="1" smtClean="0"/>
              <a:t>models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classify</a:t>
            </a:r>
            <a:r>
              <a:rPr lang="hu-HU" dirty="0" smtClean="0"/>
              <a:t> </a:t>
            </a:r>
            <a:r>
              <a:rPr lang="hu-HU" dirty="0" err="1" smtClean="0"/>
              <a:t>images</a:t>
            </a:r>
            <a:r>
              <a:rPr lang="hu-HU" dirty="0" smtClean="0"/>
              <a:t> </a:t>
            </a:r>
            <a:r>
              <a:rPr lang="hu-HU" dirty="0" err="1" smtClean="0"/>
              <a:t>into</a:t>
            </a:r>
            <a:r>
              <a:rPr lang="hu-HU" dirty="0" smtClean="0"/>
              <a:t> </a:t>
            </a:r>
            <a:r>
              <a:rPr lang="hu-HU" dirty="0" err="1" smtClean="0"/>
              <a:t>predetermined</a:t>
            </a:r>
            <a:r>
              <a:rPr lang="hu-HU" dirty="0" smtClean="0"/>
              <a:t> </a:t>
            </a:r>
            <a:r>
              <a:rPr lang="hu-HU" dirty="0" err="1" smtClean="0"/>
              <a:t>categories</a:t>
            </a:r>
            <a:r>
              <a:rPr lang="hu-HU" dirty="0" smtClean="0"/>
              <a:t>, </a:t>
            </a:r>
            <a:r>
              <a:rPr lang="hu-HU" dirty="0" err="1" smtClean="0"/>
              <a:t>they</a:t>
            </a:r>
            <a:r>
              <a:rPr lang="hu-HU" dirty="0" smtClean="0"/>
              <a:t> </a:t>
            </a:r>
            <a:r>
              <a:rPr lang="hu-HU" dirty="0" err="1" smtClean="0"/>
              <a:t>can</a:t>
            </a:r>
            <a:r>
              <a:rPr lang="hu-HU" dirty="0" smtClean="0"/>
              <a:t> be </a:t>
            </a:r>
            <a:r>
              <a:rPr lang="hu-HU" dirty="0" err="1" smtClean="0"/>
              <a:t>trained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b="1" dirty="0" err="1" smtClean="0"/>
              <a:t>associate</a:t>
            </a:r>
            <a:r>
              <a:rPr lang="hu-HU" b="1" dirty="0" smtClean="0"/>
              <a:t> </a:t>
            </a:r>
            <a:r>
              <a:rPr lang="hu-HU" b="1" dirty="0" err="1" smtClean="0"/>
              <a:t>images</a:t>
            </a:r>
            <a:r>
              <a:rPr lang="hu-HU" b="1" dirty="0" smtClean="0"/>
              <a:t> </a:t>
            </a:r>
            <a:r>
              <a:rPr lang="hu-HU" b="1" dirty="0" err="1" smtClean="0"/>
              <a:t>with</a:t>
            </a:r>
            <a:r>
              <a:rPr lang="hu-HU" b="1" dirty="0" smtClean="0"/>
              <a:t> </a:t>
            </a:r>
            <a:r>
              <a:rPr lang="hu-HU" b="1" dirty="0" err="1" smtClean="0"/>
              <a:t>raw</a:t>
            </a:r>
            <a:r>
              <a:rPr lang="hu-HU" b="1" dirty="0" smtClean="0"/>
              <a:t> text </a:t>
            </a:r>
            <a:r>
              <a:rPr lang="hu-HU" b="1" dirty="0" err="1" smtClean="0"/>
              <a:t>captions</a:t>
            </a:r>
            <a:r>
              <a:rPr lang="hu-HU" dirty="0" smtClean="0"/>
              <a:t>; </a:t>
            </a:r>
            <a:r>
              <a:rPr lang="hu-HU" dirty="0" err="1" smtClean="0"/>
              <a:t>this</a:t>
            </a:r>
            <a:r>
              <a:rPr lang="hu-HU" dirty="0" smtClean="0"/>
              <a:t> </a:t>
            </a:r>
            <a:r>
              <a:rPr lang="hu-HU" dirty="0" err="1" smtClean="0"/>
              <a:t>was</a:t>
            </a:r>
            <a:r>
              <a:rPr lang="hu-HU" dirty="0" smtClean="0"/>
              <a:t> </a:t>
            </a:r>
            <a:r>
              <a:rPr lang="hu-HU" dirty="0" err="1" smtClean="0"/>
              <a:t>crucial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development</a:t>
            </a:r>
            <a:r>
              <a:rPr lang="hu-HU" dirty="0" smtClean="0"/>
              <a:t> of </a:t>
            </a:r>
            <a:r>
              <a:rPr lang="hu-HU" b="1" dirty="0" smtClean="0"/>
              <a:t>image </a:t>
            </a:r>
            <a:r>
              <a:rPr lang="hu-HU" b="1" dirty="0" err="1" smtClean="0"/>
              <a:t>generation</a:t>
            </a:r>
            <a:r>
              <a:rPr lang="hu-HU" b="1" dirty="0" smtClean="0"/>
              <a:t> </a:t>
            </a:r>
            <a:r>
              <a:rPr lang="hu-HU" b="1" dirty="0" err="1" smtClean="0"/>
              <a:t>based</a:t>
            </a:r>
            <a:r>
              <a:rPr lang="hu-HU" b="1" dirty="0" smtClean="0"/>
              <a:t> </a:t>
            </a:r>
            <a:r>
              <a:rPr lang="hu-HU" b="1" dirty="0" err="1" smtClean="0"/>
              <a:t>on</a:t>
            </a:r>
            <a:r>
              <a:rPr lang="hu-HU" b="1" dirty="0" smtClean="0"/>
              <a:t> text </a:t>
            </a:r>
            <a:r>
              <a:rPr lang="hu-HU" b="1" dirty="0" err="1" smtClean="0"/>
              <a:t>prompts</a:t>
            </a:r>
            <a:endParaRPr lang="hu-HU" b="1" dirty="0" smtClean="0"/>
          </a:p>
        </p:txBody>
      </p:sp>
      <p:sp>
        <p:nvSpPr>
          <p:cNvPr id="7" name="Cím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hu-HU" sz="4000" dirty="0"/>
              <a:t>A generatív modellek felemelkedése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4126254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Az MI helyzete napjainkban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hu-HU" b="1" dirty="0" smtClean="0"/>
              <a:t>Szimbolikus </a:t>
            </a:r>
            <a:r>
              <a:rPr lang="hu-HU" b="1" dirty="0" err="1" smtClean="0"/>
              <a:t>MI-n</a:t>
            </a:r>
            <a:r>
              <a:rPr lang="hu-HU" b="1" dirty="0" smtClean="0"/>
              <a:t> </a:t>
            </a:r>
            <a:r>
              <a:rPr lang="hu-HU" dirty="0" smtClean="0"/>
              <a:t>alapuló eszközöket (</a:t>
            </a:r>
            <a:r>
              <a:rPr lang="hu-HU" dirty="0" err="1" smtClean="0"/>
              <a:t>nemklasszikus</a:t>
            </a:r>
            <a:r>
              <a:rPr lang="hu-HU" dirty="0" smtClean="0"/>
              <a:t> logikák, tudásreprezentáció, logikai következtető rendszerek, kereső algoritmusok) továbbra is kutatják az informatikában, sok területen alkalmazzák</a:t>
            </a:r>
          </a:p>
          <a:p>
            <a:r>
              <a:rPr lang="hu-HU" b="1" dirty="0" err="1" smtClean="0"/>
              <a:t>Feladatspecifikus</a:t>
            </a:r>
            <a:r>
              <a:rPr lang="hu-HU" b="1" dirty="0" smtClean="0"/>
              <a:t> gépi tanulási modellek, </a:t>
            </a:r>
            <a:r>
              <a:rPr lang="hu-HU" dirty="0" smtClean="0"/>
              <a:t>többek között mély neurális hálók kulcsfontosságúak számos alkalmazási területen</a:t>
            </a:r>
          </a:p>
          <a:p>
            <a:r>
              <a:rPr lang="hu-HU" dirty="0" smtClean="0"/>
              <a:t>A </a:t>
            </a:r>
            <a:r>
              <a:rPr lang="hu-HU" b="1" dirty="0"/>
              <a:t>g</a:t>
            </a:r>
            <a:r>
              <a:rPr lang="hu-HU" b="1" dirty="0" smtClean="0"/>
              <a:t>eneratív nyelvmodelleket természetesnyelv-feldolgozási </a:t>
            </a:r>
            <a:r>
              <a:rPr lang="hu-HU" dirty="0" smtClean="0"/>
              <a:t>(</a:t>
            </a:r>
            <a:r>
              <a:rPr lang="hu-HU" dirty="0" err="1" smtClean="0"/>
              <a:t>NLP</a:t>
            </a:r>
            <a:r>
              <a:rPr lang="hu-HU" dirty="0" smtClean="0"/>
              <a:t>) feladatokra használják, pl. gépi fordítás, chat, programozók támogatása programozási asszisztensként – sok egyébre nem jók</a:t>
            </a:r>
          </a:p>
          <a:p>
            <a:r>
              <a:rPr lang="hu-HU" b="1" dirty="0" smtClean="0"/>
              <a:t>Generatív képfeldolgozó modellek </a:t>
            </a:r>
            <a:r>
              <a:rPr lang="hu-HU" dirty="0" smtClean="0"/>
              <a:t>népszerűek álló- és mozgóképek generálására</a:t>
            </a:r>
          </a:p>
        </p:txBody>
      </p:sp>
    </p:spTree>
    <p:extLst>
      <p:ext uri="{BB962C8B-B14F-4D97-AF65-F5344CB8AC3E}">
        <p14:creationId xmlns:p14="http://schemas.microsoft.com/office/powerpoint/2010/main" val="42614640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Az MI helyzete napjainkban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hu-HU" b="1" dirty="0" smtClean="0"/>
              <a:t>Mélytanulási modelleket számos területen </a:t>
            </a:r>
            <a:r>
              <a:rPr lang="hu-HU" dirty="0" smtClean="0"/>
              <a:t>használnak, ezeknek csak kis hányada generatív. Általános célkitűzések:</a:t>
            </a:r>
          </a:p>
          <a:p>
            <a:pPr lvl="1"/>
            <a:r>
              <a:rPr lang="hu-HU" dirty="0" smtClean="0"/>
              <a:t>1. Gépi látás (~ képfeldolgozás)</a:t>
            </a:r>
          </a:p>
          <a:p>
            <a:pPr lvl="2"/>
            <a:r>
              <a:rPr lang="hu-HU" dirty="0" smtClean="0"/>
              <a:t>képosztályozás: tárgyak felismerése, képfelirat generálása</a:t>
            </a:r>
          </a:p>
          <a:p>
            <a:pPr lvl="2"/>
            <a:r>
              <a:rPr lang="hu-HU" dirty="0" smtClean="0"/>
              <a:t>tárgyészlelés: hol vannak tárgyak a képen, hányan vannak, pl. </a:t>
            </a:r>
            <a:r>
              <a:rPr lang="hu-HU" dirty="0" err="1" smtClean="0"/>
              <a:t>okostelefonok</a:t>
            </a:r>
            <a:r>
              <a:rPr lang="hu-HU" dirty="0" smtClean="0"/>
              <a:t> kameráját működtető szoftver, biztonsági rendszerek</a:t>
            </a:r>
          </a:p>
          <a:p>
            <a:pPr lvl="2"/>
            <a:r>
              <a:rPr lang="hu-HU" dirty="0" smtClean="0"/>
              <a:t>képszegmentálás: az előbbihez hasonló, hol vannak érdekes területek a képen, pl. orvosi képalkotás (daganatok felismerése)</a:t>
            </a:r>
          </a:p>
          <a:p>
            <a:pPr lvl="2"/>
            <a:r>
              <a:rPr lang="hu-HU" dirty="0" smtClean="0"/>
              <a:t>arcfelismerés: azonosítás, beléptetés, érzelmek észlelése</a:t>
            </a:r>
          </a:p>
          <a:p>
            <a:pPr lvl="2"/>
            <a:r>
              <a:rPr lang="hu-HU" dirty="0" smtClean="0"/>
              <a:t>OCR: szöveg kinyerése képekből vagy </a:t>
            </a:r>
            <a:r>
              <a:rPr lang="hu-HU" dirty="0" err="1" smtClean="0"/>
              <a:t>szkennelt</a:t>
            </a:r>
            <a:r>
              <a:rPr lang="hu-HU" dirty="0" smtClean="0"/>
              <a:t> dokumentumokból</a:t>
            </a:r>
          </a:p>
          <a:p>
            <a:pPr lvl="2"/>
            <a:r>
              <a:rPr lang="hu-HU" b="1" dirty="0" smtClean="0"/>
              <a:t>képgenerálás: </a:t>
            </a:r>
            <a:r>
              <a:rPr lang="hu-HU" dirty="0" smtClean="0"/>
              <a:t>szöveges </a:t>
            </a:r>
            <a:r>
              <a:rPr lang="hu-HU" dirty="0" err="1" smtClean="0"/>
              <a:t>promtból</a:t>
            </a:r>
            <a:r>
              <a:rPr lang="hu-HU" dirty="0" smtClean="0"/>
              <a:t> vagy anélkül, stílusátvitel, </a:t>
            </a:r>
            <a:r>
              <a:rPr lang="hu-HU" dirty="0" err="1" smtClean="0"/>
              <a:t>deepfake</a:t>
            </a:r>
            <a:r>
              <a:rPr lang="hu-HU" dirty="0" smtClean="0"/>
              <a:t>, </a:t>
            </a:r>
            <a:r>
              <a:rPr lang="hu-HU" dirty="0" err="1" smtClean="0"/>
              <a:t>MI-művészet</a:t>
            </a:r>
            <a:endParaRPr lang="hu-HU" dirty="0" smtClean="0"/>
          </a:p>
          <a:p>
            <a:pPr lvl="1"/>
            <a:r>
              <a:rPr lang="hu-HU" dirty="0" smtClean="0"/>
              <a:t>2. Természetes nyelveken írt szövegek feldolgozása (</a:t>
            </a:r>
            <a:r>
              <a:rPr lang="hu-HU" dirty="0" err="1" smtClean="0"/>
              <a:t>NLP</a:t>
            </a:r>
            <a:r>
              <a:rPr lang="hu-HU" dirty="0" smtClean="0"/>
              <a:t>)</a:t>
            </a:r>
          </a:p>
          <a:p>
            <a:pPr lvl="2"/>
            <a:r>
              <a:rPr lang="hu-HU" dirty="0" smtClean="0"/>
              <a:t>információ-visszakeresés: egy kérdéshez kapcsolódó dokumentumok megtalálása egy szöveges adatbázisban</a:t>
            </a:r>
            <a:endParaRPr lang="hu-HU" b="1" dirty="0" smtClean="0"/>
          </a:p>
          <a:p>
            <a:pPr lvl="2"/>
            <a:r>
              <a:rPr lang="hu-HU" b="1" dirty="0" smtClean="0"/>
              <a:t>összefoglalás: </a:t>
            </a:r>
            <a:r>
              <a:rPr lang="hu-HU" dirty="0" smtClean="0"/>
              <a:t>dokumentum tartalmának rövid összegzése</a:t>
            </a:r>
          </a:p>
          <a:p>
            <a:pPr lvl="2"/>
            <a:r>
              <a:rPr lang="hu-HU" b="1" dirty="0" smtClean="0"/>
              <a:t>szöveggenerálás</a:t>
            </a:r>
            <a:r>
              <a:rPr lang="hu-HU" dirty="0" smtClean="0"/>
              <a:t>: chatbotok (pl. </a:t>
            </a:r>
            <a:r>
              <a:rPr lang="hu-HU" dirty="0" err="1" smtClean="0"/>
              <a:t>ChatGPT</a:t>
            </a:r>
            <a:r>
              <a:rPr lang="hu-HU" dirty="0" smtClean="0"/>
              <a:t>), tartalmak generálása</a:t>
            </a:r>
          </a:p>
          <a:p>
            <a:pPr lvl="2"/>
            <a:r>
              <a:rPr lang="hu-HU" b="1" dirty="0" smtClean="0"/>
              <a:t>gépi fordítás</a:t>
            </a:r>
          </a:p>
        </p:txBody>
      </p:sp>
    </p:spTree>
    <p:extLst>
      <p:ext uri="{BB962C8B-B14F-4D97-AF65-F5344CB8AC3E}">
        <p14:creationId xmlns:p14="http://schemas.microsoft.com/office/powerpoint/2010/main" val="4868314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Az MI helyzete napjainkban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hu-HU" sz="2400" b="1" dirty="0"/>
              <a:t>Mélytanulási modelleket számos területen </a:t>
            </a:r>
            <a:r>
              <a:rPr lang="hu-HU" sz="2400" dirty="0"/>
              <a:t>használnak, ezeknek csak kis hányada </a:t>
            </a:r>
            <a:r>
              <a:rPr lang="hu-HU" sz="2400" dirty="0" smtClean="0"/>
              <a:t>generatív. </a:t>
            </a:r>
            <a:r>
              <a:rPr lang="hu-HU" sz="2000" dirty="0"/>
              <a:t>Általános célkitűzések</a:t>
            </a:r>
            <a:r>
              <a:rPr lang="hu-HU" sz="2000" dirty="0" smtClean="0"/>
              <a:t>:</a:t>
            </a:r>
            <a:endParaRPr lang="hu-HU" sz="2400" dirty="0"/>
          </a:p>
          <a:p>
            <a:pPr marL="800100" lvl="3" indent="-342900"/>
            <a:r>
              <a:rPr lang="hu-HU" dirty="0" smtClean="0"/>
              <a:t>3. Beszéd- és hangfeldolgozás</a:t>
            </a:r>
          </a:p>
          <a:p>
            <a:pPr marL="1257300" lvl="4" indent="-342900">
              <a:buFont typeface="Arial" panose="020B0604020202020204" pitchFamily="34" charset="0"/>
              <a:buChar char="•"/>
            </a:pPr>
            <a:r>
              <a:rPr lang="hu-HU" dirty="0"/>
              <a:t>b</a:t>
            </a:r>
            <a:r>
              <a:rPr lang="hu-HU" dirty="0" smtClean="0"/>
              <a:t>eszédfelismerés (</a:t>
            </a:r>
            <a:r>
              <a:rPr lang="hu-HU" dirty="0" err="1" smtClean="0"/>
              <a:t>ASR</a:t>
            </a:r>
            <a:r>
              <a:rPr lang="hu-HU" dirty="0" smtClean="0"/>
              <a:t>): digitális asszisztensek vagy leirat készítése hangfelvételről, pl. az </a:t>
            </a:r>
            <a:r>
              <a:rPr lang="hu-HU" dirty="0" err="1" smtClean="0"/>
              <a:t>OpenAI</a:t>
            </a:r>
            <a:r>
              <a:rPr lang="hu-HU" dirty="0" smtClean="0"/>
              <a:t> </a:t>
            </a:r>
            <a:r>
              <a:rPr lang="hu-HU" dirty="0" err="1" smtClean="0"/>
              <a:t>whisper</a:t>
            </a:r>
            <a:r>
              <a:rPr lang="hu-HU" dirty="0" smtClean="0"/>
              <a:t> modellje</a:t>
            </a:r>
          </a:p>
          <a:p>
            <a:pPr marL="1257300" lvl="4" indent="-342900">
              <a:buFont typeface="Arial" panose="020B0604020202020204" pitchFamily="34" charset="0"/>
              <a:buChar char="•"/>
            </a:pPr>
            <a:r>
              <a:rPr lang="hu-HU" dirty="0" smtClean="0"/>
              <a:t>beszédszintetizálás (</a:t>
            </a:r>
            <a:r>
              <a:rPr lang="hu-HU" dirty="0" err="1" smtClean="0"/>
              <a:t>TTS</a:t>
            </a:r>
            <a:r>
              <a:rPr lang="hu-HU" dirty="0" smtClean="0"/>
              <a:t>): természetes beszédhang generálása, szövegfelolvasás</a:t>
            </a:r>
          </a:p>
          <a:p>
            <a:pPr marL="1257300" lvl="4" indent="-342900">
              <a:buFont typeface="Arial" panose="020B0604020202020204" pitchFamily="34" charset="0"/>
              <a:buChar char="•"/>
            </a:pPr>
            <a:r>
              <a:rPr lang="hu-HU" dirty="0" smtClean="0"/>
              <a:t>beszélő azonosítása</a:t>
            </a:r>
          </a:p>
          <a:p>
            <a:pPr marL="1257300" lvl="4" indent="-342900">
              <a:buFont typeface="Arial" panose="020B0604020202020204" pitchFamily="34" charset="0"/>
              <a:buChar char="•"/>
            </a:pPr>
            <a:r>
              <a:rPr lang="hu-HU" dirty="0" smtClean="0"/>
              <a:t>zene osztályba sorolása: műfajfelismerés stb.</a:t>
            </a:r>
          </a:p>
          <a:p>
            <a:pPr marL="1257300" lvl="4" indent="-342900">
              <a:buFont typeface="Arial" panose="020B0604020202020204" pitchFamily="34" charset="0"/>
              <a:buChar char="•"/>
            </a:pPr>
            <a:r>
              <a:rPr lang="hu-HU" b="1" dirty="0" smtClean="0"/>
              <a:t>zenegenerálás</a:t>
            </a:r>
            <a:r>
              <a:rPr lang="hu-HU" dirty="0" smtClean="0"/>
              <a:t>: </a:t>
            </a:r>
            <a:r>
              <a:rPr lang="hu-HU" dirty="0" err="1" smtClean="0"/>
              <a:t>MI-zeneszerző</a:t>
            </a:r>
            <a:endParaRPr lang="hu-HU" dirty="0" smtClean="0"/>
          </a:p>
          <a:p>
            <a:pPr marL="342900" lvl="2" indent="-342900"/>
            <a:r>
              <a:rPr lang="hu-HU" dirty="0" smtClean="0"/>
              <a:t>Konkrétabb alkalmazási területek:</a:t>
            </a:r>
          </a:p>
          <a:p>
            <a:pPr marL="800100" lvl="3" indent="-342900"/>
            <a:r>
              <a:rPr lang="hu-HU" dirty="0"/>
              <a:t>1</a:t>
            </a:r>
            <a:r>
              <a:rPr lang="hu-HU" dirty="0" smtClean="0"/>
              <a:t>. Egészségügy, </a:t>
            </a:r>
            <a:r>
              <a:rPr lang="hu-HU" dirty="0" err="1" smtClean="0"/>
              <a:t>bioinformatika</a:t>
            </a:r>
            <a:endParaRPr lang="hu-HU" dirty="0" smtClean="0"/>
          </a:p>
          <a:p>
            <a:pPr marL="1257300" lvl="4" indent="-342900">
              <a:buFont typeface="Arial" panose="020B0604020202020204" pitchFamily="34" charset="0"/>
              <a:buChar char="•"/>
            </a:pPr>
            <a:r>
              <a:rPr lang="hu-HU" dirty="0" smtClean="0"/>
              <a:t>orvosi képelemzés: anomáliák észlelése röntgen-, </a:t>
            </a:r>
            <a:r>
              <a:rPr lang="hu-HU" dirty="0" err="1" smtClean="0"/>
              <a:t>MRI-</a:t>
            </a:r>
            <a:r>
              <a:rPr lang="hu-HU" dirty="0" smtClean="0"/>
              <a:t>, CT-felvételeken</a:t>
            </a:r>
          </a:p>
          <a:p>
            <a:pPr marL="1257300" lvl="4" indent="-342900">
              <a:buFont typeface="Arial" panose="020B0604020202020204" pitchFamily="34" charset="0"/>
              <a:buChar char="•"/>
            </a:pPr>
            <a:r>
              <a:rPr lang="hu-HU" dirty="0" smtClean="0"/>
              <a:t>prediktív diagnosztika: betegség előrejelzése páciensadatokból</a:t>
            </a:r>
          </a:p>
          <a:p>
            <a:pPr marL="1257300" lvl="4" indent="-342900">
              <a:buFont typeface="Arial" panose="020B0604020202020204" pitchFamily="34" charset="0"/>
              <a:buChar char="•"/>
            </a:pPr>
            <a:r>
              <a:rPr lang="hu-HU" dirty="0" err="1" smtClean="0"/>
              <a:t>genomika</a:t>
            </a:r>
            <a:r>
              <a:rPr lang="hu-HU" dirty="0" smtClean="0"/>
              <a:t>: nagy áteresztőképességű </a:t>
            </a:r>
            <a:r>
              <a:rPr lang="hu-HU" dirty="0" err="1" smtClean="0"/>
              <a:t>DNS-szekvenálás</a:t>
            </a:r>
            <a:r>
              <a:rPr lang="hu-HU" dirty="0" smtClean="0"/>
              <a:t> és </a:t>
            </a:r>
            <a:r>
              <a:rPr lang="hu-HU" dirty="0" err="1" smtClean="0"/>
              <a:t>-elemzés</a:t>
            </a:r>
            <a:endParaRPr lang="hu-HU" dirty="0" smtClean="0"/>
          </a:p>
          <a:p>
            <a:pPr marL="1257300" lvl="4" indent="-342900">
              <a:buFont typeface="Arial" panose="020B0604020202020204" pitchFamily="34" charset="0"/>
              <a:buChar char="•"/>
            </a:pPr>
            <a:r>
              <a:rPr lang="hu-HU" dirty="0" smtClean="0"/>
              <a:t>új gyógyszerek felfedezése: molekuláris struktúrák, pl. fehérjeszerkezetek </a:t>
            </a:r>
            <a:r>
              <a:rPr lang="hu-HU" dirty="0" err="1" smtClean="0"/>
              <a:t>predikciója</a:t>
            </a:r>
            <a:r>
              <a:rPr lang="hu-HU" dirty="0" smtClean="0"/>
              <a:t> (</a:t>
            </a:r>
            <a:r>
              <a:rPr lang="hu-HU" dirty="0" err="1" smtClean="0"/>
              <a:t>AlphaFold</a:t>
            </a:r>
            <a:r>
              <a:rPr lang="hu-HU" dirty="0" smtClean="0"/>
              <a:t>)</a:t>
            </a:r>
          </a:p>
          <a:p>
            <a:pPr marL="1257300" lvl="4" indent="-342900">
              <a:buFont typeface="Arial" panose="020B0604020202020204" pitchFamily="34" charset="0"/>
              <a:buChar char="•"/>
            </a:pPr>
            <a:r>
              <a:rPr lang="hu-HU" dirty="0" smtClean="0"/>
              <a:t>személyre szabott orvoslás: nem azonos protokoll minden páciensnek, hanem olyan kezelés és adagolás, amely a páciens genetikai profiljához illik</a:t>
            </a:r>
          </a:p>
        </p:txBody>
      </p:sp>
    </p:spTree>
    <p:extLst>
      <p:ext uri="{BB962C8B-B14F-4D97-AF65-F5344CB8AC3E}">
        <p14:creationId xmlns:p14="http://schemas.microsoft.com/office/powerpoint/2010/main" val="25943415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Az MI helyzete napjainkban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hu-HU" b="1" dirty="0"/>
              <a:t>Mélytanulási modelleket számos területen </a:t>
            </a:r>
            <a:r>
              <a:rPr lang="hu-HU" dirty="0"/>
              <a:t>használnak, ezeknek csak kis hányada generatív:</a:t>
            </a:r>
          </a:p>
          <a:p>
            <a:pPr lvl="1"/>
            <a:r>
              <a:rPr lang="hu-HU" dirty="0"/>
              <a:t>2</a:t>
            </a:r>
            <a:r>
              <a:rPr lang="hu-HU" dirty="0" smtClean="0"/>
              <a:t>. Autonóm rendszerek</a:t>
            </a:r>
          </a:p>
          <a:p>
            <a:pPr lvl="2"/>
            <a:r>
              <a:rPr lang="hu-HU" dirty="0" smtClean="0"/>
              <a:t>önvezető gépkocsik</a:t>
            </a:r>
            <a:r>
              <a:rPr lang="en-GB" dirty="0" smtClean="0"/>
              <a:t>, </a:t>
            </a:r>
            <a:r>
              <a:rPr lang="hu-HU" dirty="0" err="1" smtClean="0"/>
              <a:t>drónok</a:t>
            </a:r>
            <a:r>
              <a:rPr lang="en-GB" dirty="0" smtClean="0"/>
              <a:t>: </a:t>
            </a:r>
            <a:r>
              <a:rPr lang="hu-HU" dirty="0" smtClean="0"/>
              <a:t>látás</a:t>
            </a:r>
            <a:r>
              <a:rPr lang="en-GB" dirty="0" smtClean="0"/>
              <a:t>, </a:t>
            </a:r>
            <a:r>
              <a:rPr lang="hu-HU" dirty="0" smtClean="0"/>
              <a:t>navigáció, döntéshozatal kombinációja</a:t>
            </a:r>
            <a:endParaRPr lang="en-GB" dirty="0"/>
          </a:p>
          <a:p>
            <a:pPr lvl="2"/>
            <a:r>
              <a:rPr lang="hu-HU" dirty="0" smtClean="0"/>
              <a:t>robotika</a:t>
            </a:r>
            <a:r>
              <a:rPr lang="en-GB" dirty="0" smtClean="0"/>
              <a:t>: </a:t>
            </a:r>
            <a:r>
              <a:rPr lang="hu-HU" dirty="0" smtClean="0"/>
              <a:t>tárgyfelismerés</a:t>
            </a:r>
            <a:r>
              <a:rPr lang="en-GB" dirty="0" smtClean="0"/>
              <a:t>, </a:t>
            </a:r>
            <a:r>
              <a:rPr lang="hu-HU" dirty="0" smtClean="0"/>
              <a:t>mozgás tervezése</a:t>
            </a:r>
            <a:endParaRPr lang="en-GB" dirty="0"/>
          </a:p>
          <a:p>
            <a:pPr lvl="1"/>
            <a:r>
              <a:rPr lang="hu-HU" dirty="0"/>
              <a:t>3</a:t>
            </a:r>
            <a:r>
              <a:rPr lang="hu-HU" dirty="0" smtClean="0"/>
              <a:t>. Pénzügy, üzleti intelligencia</a:t>
            </a:r>
          </a:p>
          <a:p>
            <a:pPr lvl="2"/>
            <a:r>
              <a:rPr lang="hu-HU" dirty="0" smtClean="0"/>
              <a:t>„algoritmikus kereskedés”: piaci mozgások előrejelzése</a:t>
            </a:r>
          </a:p>
          <a:p>
            <a:pPr lvl="2"/>
            <a:r>
              <a:rPr lang="hu-HU" dirty="0" smtClean="0"/>
              <a:t>csalások észlelése:</a:t>
            </a:r>
            <a:r>
              <a:rPr lang="en-GB" dirty="0" smtClean="0"/>
              <a:t> </a:t>
            </a:r>
            <a:r>
              <a:rPr lang="hu-HU" dirty="0" smtClean="0"/>
              <a:t>anomáliák észlelése üzleti vagy banki tranzakciókban</a:t>
            </a:r>
          </a:p>
          <a:p>
            <a:pPr lvl="2"/>
            <a:r>
              <a:rPr lang="hu-HU" dirty="0" smtClean="0"/>
              <a:t>hitelminősítés:</a:t>
            </a:r>
            <a:r>
              <a:rPr lang="en-GB" dirty="0" smtClean="0"/>
              <a:t> </a:t>
            </a:r>
            <a:r>
              <a:rPr lang="hu-HU" dirty="0" smtClean="0"/>
              <a:t>kockázatbecslés korábbi adatok és profil alapján</a:t>
            </a:r>
          </a:p>
          <a:p>
            <a:pPr lvl="2"/>
            <a:r>
              <a:rPr lang="hu-HU" dirty="0" smtClean="0"/>
              <a:t>vásárlói magatartás elemzése: lemorzsolódás előrejelzése (ki nem használja tovább a terméket?), személyre szabás (akciók, termékek ajánlása)</a:t>
            </a:r>
            <a:endParaRPr lang="hu-HU" dirty="0"/>
          </a:p>
          <a:p>
            <a:pPr lvl="1"/>
            <a:r>
              <a:rPr lang="hu-HU" dirty="0" smtClean="0"/>
              <a:t>4. Ipar, gyártás</a:t>
            </a:r>
          </a:p>
          <a:p>
            <a:pPr lvl="2"/>
            <a:r>
              <a:rPr lang="hu-HU" dirty="0" smtClean="0"/>
              <a:t>m</a:t>
            </a:r>
            <a:r>
              <a:rPr lang="hu-HU" dirty="0" smtClean="0"/>
              <a:t>inőségellenőrzés: gyártási hibás termékek vizuális azonosítása</a:t>
            </a:r>
            <a:endParaRPr lang="hu-HU" dirty="0" smtClean="0"/>
          </a:p>
          <a:p>
            <a:pPr lvl="2"/>
            <a:r>
              <a:rPr lang="hu-HU" dirty="0" smtClean="0"/>
              <a:t>prediktív karbantartás: meghibásodások korai azonosítása</a:t>
            </a:r>
          </a:p>
          <a:p>
            <a:pPr lvl="2"/>
            <a:r>
              <a:rPr lang="hu-HU" dirty="0" smtClean="0"/>
              <a:t>folyamatok optimalizálása: szűk keresztmetszetek azonosítása</a:t>
            </a:r>
          </a:p>
        </p:txBody>
      </p:sp>
    </p:spTree>
    <p:extLst>
      <p:ext uri="{BB962C8B-B14F-4D97-AF65-F5344CB8AC3E}">
        <p14:creationId xmlns:p14="http://schemas.microsoft.com/office/powerpoint/2010/main" val="30583485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Az MI helyzete napjainkban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hu-HU" b="1" dirty="0"/>
              <a:t>Mélytanulási modelleket számos területen </a:t>
            </a:r>
            <a:r>
              <a:rPr lang="hu-HU" dirty="0"/>
              <a:t>használnak, ezeknek csak kis hányada generatív:</a:t>
            </a:r>
          </a:p>
          <a:p>
            <a:pPr lvl="1"/>
            <a:r>
              <a:rPr lang="hu-HU" dirty="0"/>
              <a:t>5</a:t>
            </a:r>
            <a:r>
              <a:rPr lang="hu-HU" dirty="0" smtClean="0"/>
              <a:t>. Szórakozás</a:t>
            </a:r>
            <a:endParaRPr lang="hu-HU" dirty="0" smtClean="0"/>
          </a:p>
          <a:p>
            <a:pPr lvl="2"/>
            <a:r>
              <a:rPr lang="hu-HU" dirty="0" smtClean="0"/>
              <a:t>játék MI</a:t>
            </a:r>
            <a:r>
              <a:rPr lang="hu-HU" dirty="0" smtClean="0"/>
              <a:t>: alkalmazkodó, intelligens ellenfelek, </a:t>
            </a:r>
            <a:r>
              <a:rPr lang="hu-HU" dirty="0" err="1" smtClean="0"/>
              <a:t>NPC-k</a:t>
            </a:r>
            <a:endParaRPr lang="hu-HU" dirty="0" smtClean="0"/>
          </a:p>
          <a:p>
            <a:pPr lvl="2"/>
            <a:r>
              <a:rPr lang="hu-HU" dirty="0" smtClean="0"/>
              <a:t>játékot játszó MI: videojátékot önállóan játszó szoftverrendszer</a:t>
            </a:r>
          </a:p>
          <a:p>
            <a:pPr lvl="2"/>
            <a:r>
              <a:rPr lang="hu-HU" b="1" dirty="0" smtClean="0"/>
              <a:t>tartalomgenerálás</a:t>
            </a:r>
            <a:r>
              <a:rPr lang="hu-HU" dirty="0" smtClean="0"/>
              <a:t>: zene, műalkotás, videó</a:t>
            </a:r>
            <a:endParaRPr lang="en-GB" dirty="0"/>
          </a:p>
          <a:p>
            <a:pPr lvl="1"/>
            <a:r>
              <a:rPr lang="hu-HU" dirty="0"/>
              <a:t>6</a:t>
            </a:r>
            <a:r>
              <a:rPr lang="hu-HU" dirty="0" smtClean="0"/>
              <a:t>. </a:t>
            </a:r>
            <a:r>
              <a:rPr lang="hu-HU" dirty="0" err="1" smtClean="0"/>
              <a:t>Kiberbiztonság</a:t>
            </a:r>
            <a:endParaRPr lang="hu-HU" dirty="0" smtClean="0"/>
          </a:p>
          <a:p>
            <a:pPr lvl="2"/>
            <a:r>
              <a:rPr lang="hu-HU" dirty="0" err="1" smtClean="0"/>
              <a:t>behatolásészlelés</a:t>
            </a:r>
            <a:r>
              <a:rPr lang="hu-HU" dirty="0" smtClean="0"/>
              <a:t>: rendhagy</a:t>
            </a:r>
            <a:r>
              <a:rPr lang="hu-HU" dirty="0" smtClean="0"/>
              <a:t>ó hálózati tevékenység felismerése</a:t>
            </a:r>
            <a:endParaRPr lang="hu-HU" dirty="0" smtClean="0"/>
          </a:p>
          <a:p>
            <a:pPr lvl="2"/>
            <a:r>
              <a:rPr lang="hu-HU" dirty="0" smtClean="0"/>
              <a:t>rosszindulatú szoftver észlelése: vírusok, ártalmas programkód felismerése</a:t>
            </a:r>
          </a:p>
          <a:p>
            <a:pPr lvl="2"/>
            <a:r>
              <a:rPr lang="hu-HU" dirty="0" smtClean="0"/>
              <a:t>felhasználói viselkedés elemzése: belső veszélyforrások észlelése</a:t>
            </a:r>
            <a:endParaRPr lang="hu-HU" dirty="0" smtClean="0"/>
          </a:p>
          <a:p>
            <a:pPr lvl="1"/>
            <a:r>
              <a:rPr lang="hu-HU" dirty="0"/>
              <a:t>7</a:t>
            </a:r>
            <a:r>
              <a:rPr lang="hu-HU" dirty="0" smtClean="0"/>
              <a:t>. Tudomány</a:t>
            </a:r>
            <a:endParaRPr lang="hu-HU" dirty="0" smtClean="0"/>
          </a:p>
          <a:p>
            <a:pPr lvl="2"/>
            <a:r>
              <a:rPr lang="hu-HU" dirty="0" smtClean="0"/>
              <a:t>időjárás, éghajlat modellezése: időjárás, éghajlati változások előrejelzése</a:t>
            </a:r>
          </a:p>
          <a:p>
            <a:pPr lvl="2"/>
            <a:r>
              <a:rPr lang="hu-HU" dirty="0" smtClean="0"/>
              <a:t>csillagászat: égbolt objektumainak azonosítása teleszkópadatok alapján</a:t>
            </a:r>
          </a:p>
          <a:p>
            <a:pPr lvl="2"/>
            <a:r>
              <a:rPr lang="hu-HU" dirty="0" smtClean="0"/>
              <a:t>fizika: szenzoradatok értelmezése</a:t>
            </a:r>
          </a:p>
          <a:p>
            <a:pPr lvl="2"/>
            <a:r>
              <a:rPr lang="hu-HU" dirty="0" smtClean="0"/>
              <a:t>mezőgazdaság: kártevők észlelése, terményhozam előrejelzése</a:t>
            </a:r>
          </a:p>
        </p:txBody>
      </p:sp>
    </p:spTree>
    <p:extLst>
      <p:ext uri="{BB962C8B-B14F-4D97-AF65-F5344CB8AC3E}">
        <p14:creationId xmlns:p14="http://schemas.microsoft.com/office/powerpoint/2010/main" val="4485877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Az MI helyzete napjainkban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67544" y="1600200"/>
            <a:ext cx="8229600" cy="4525963"/>
          </a:xfrm>
        </p:spPr>
        <p:txBody>
          <a:bodyPr>
            <a:normAutofit fontScale="77500" lnSpcReduction="20000"/>
          </a:bodyPr>
          <a:lstStyle/>
          <a:p>
            <a:r>
              <a:rPr lang="hu-HU" dirty="0" smtClean="0"/>
              <a:t>Erőteljesen j</a:t>
            </a:r>
            <a:r>
              <a:rPr lang="hu-HU" dirty="0" smtClean="0"/>
              <a:t>ellemző a </a:t>
            </a:r>
            <a:r>
              <a:rPr lang="hu-HU" b="1" dirty="0" smtClean="0"/>
              <a:t>tudás nyílt megosztásának kultúrája</a:t>
            </a:r>
          </a:p>
          <a:p>
            <a:pPr lvl="1"/>
            <a:r>
              <a:rPr lang="hu-HU" dirty="0" smtClean="0"/>
              <a:t>hagyományosan a cégeknek üzleti titkai voltak, a tudósok nyilvánosan közzétették eredményeiket</a:t>
            </a:r>
          </a:p>
          <a:p>
            <a:pPr lvl="1"/>
            <a:r>
              <a:rPr lang="hu-HU" dirty="0" smtClean="0"/>
              <a:t>ma az </a:t>
            </a:r>
            <a:r>
              <a:rPr lang="hu-HU" dirty="0" err="1" smtClean="0"/>
              <a:t>MI-ben</a:t>
            </a:r>
            <a:r>
              <a:rPr lang="hu-HU" dirty="0" smtClean="0"/>
              <a:t> a K+F-fel foglalkozó csapatok is többnyire </a:t>
            </a:r>
            <a:r>
              <a:rPr lang="hu-HU" b="1" dirty="0" smtClean="0"/>
              <a:t>azonnal nyilvánosságra hozzák </a:t>
            </a:r>
            <a:r>
              <a:rPr lang="hu-HU" dirty="0" smtClean="0"/>
              <a:t>az eredményeiket</a:t>
            </a:r>
          </a:p>
          <a:p>
            <a:pPr lvl="2"/>
            <a:r>
              <a:rPr lang="hu-HU" dirty="0" smtClean="0"/>
              <a:t>leírják a módszerüket, közzéteszik a benchmarkeredményeket </a:t>
            </a:r>
            <a:r>
              <a:rPr lang="hu-HU" b="1" dirty="0" smtClean="0"/>
              <a:t>tudományos publikációban </a:t>
            </a:r>
            <a:r>
              <a:rPr lang="hu-HU" dirty="0" smtClean="0"/>
              <a:t>konferencián vagy az </a:t>
            </a:r>
            <a:r>
              <a:rPr lang="hu-HU" dirty="0" err="1" smtClean="0"/>
              <a:t>arXiv</a:t>
            </a:r>
            <a:r>
              <a:rPr lang="hu-HU" dirty="0" smtClean="0"/>
              <a:t> </a:t>
            </a:r>
            <a:r>
              <a:rPr lang="hu-HU" dirty="0" err="1" smtClean="0"/>
              <a:t>preprintoldalon</a:t>
            </a:r>
            <a:r>
              <a:rPr lang="hu-HU" dirty="0" smtClean="0"/>
              <a:t>, szakmai lektorálás nélkül</a:t>
            </a:r>
          </a:p>
          <a:p>
            <a:pPr lvl="2"/>
            <a:r>
              <a:rPr lang="hu-HU" dirty="0" smtClean="0"/>
              <a:t>nyilvánosan megosztják a </a:t>
            </a:r>
            <a:r>
              <a:rPr lang="hu-HU" b="1" dirty="0" smtClean="0"/>
              <a:t>programkódot </a:t>
            </a:r>
            <a:r>
              <a:rPr lang="hu-HU" dirty="0" smtClean="0"/>
              <a:t>a </a:t>
            </a:r>
            <a:r>
              <a:rPr lang="hu-HU" dirty="0" err="1" smtClean="0"/>
              <a:t>GitHubon</a:t>
            </a:r>
            <a:endParaRPr lang="hu-HU" dirty="0" smtClean="0"/>
          </a:p>
          <a:p>
            <a:pPr lvl="2"/>
            <a:r>
              <a:rPr lang="hu-HU" dirty="0" smtClean="0"/>
              <a:t>megosztják a </a:t>
            </a:r>
            <a:r>
              <a:rPr lang="hu-HU" b="1" dirty="0" smtClean="0"/>
              <a:t>betanított modelleket </a:t>
            </a:r>
            <a:r>
              <a:rPr lang="hu-HU" dirty="0" smtClean="0"/>
              <a:t>a </a:t>
            </a:r>
            <a:r>
              <a:rPr lang="hu-HU" dirty="0" err="1" smtClean="0"/>
              <a:t>Hugging</a:t>
            </a:r>
            <a:r>
              <a:rPr lang="hu-HU" dirty="0"/>
              <a:t> </a:t>
            </a:r>
            <a:r>
              <a:rPr lang="hu-HU" dirty="0" err="1" smtClean="0"/>
              <a:t>Face-en</a:t>
            </a:r>
            <a:endParaRPr lang="hu-HU" dirty="0" smtClean="0"/>
          </a:p>
          <a:p>
            <a:pPr lvl="2"/>
            <a:r>
              <a:rPr lang="hu-HU" dirty="0" smtClean="0"/>
              <a:t>közzétesznek megoldandó problémákat a </a:t>
            </a:r>
            <a:r>
              <a:rPr lang="hu-HU" dirty="0" err="1" smtClean="0"/>
              <a:t>Kaggle-ön</a:t>
            </a:r>
            <a:r>
              <a:rPr lang="hu-HU" dirty="0" smtClean="0"/>
              <a:t> verseny formájában, megoldásokat kérnek rájuk, és a győztesnek jelképes összeget fizetnek</a:t>
            </a:r>
            <a:endParaRPr lang="hu-HU" dirty="0" smtClean="0"/>
          </a:p>
          <a:p>
            <a:pPr lvl="1"/>
            <a:r>
              <a:rPr lang="hu-HU" dirty="0" smtClean="0"/>
              <a:t>ez </a:t>
            </a:r>
            <a:r>
              <a:rPr lang="hu-HU" b="1" dirty="0" smtClean="0"/>
              <a:t>ingyenes nyilvánosságot és reklámot </a:t>
            </a:r>
            <a:r>
              <a:rPr lang="hu-HU" dirty="0" smtClean="0"/>
              <a:t>jelent a </a:t>
            </a:r>
            <a:r>
              <a:rPr lang="hu-HU" b="1" dirty="0" smtClean="0"/>
              <a:t>termék</a:t>
            </a:r>
            <a:r>
              <a:rPr lang="hu-HU" dirty="0" smtClean="0"/>
              <a:t> és </a:t>
            </a:r>
            <a:r>
              <a:rPr lang="hu-HU" b="1" dirty="0" smtClean="0"/>
              <a:t>maguk </a:t>
            </a:r>
            <a:r>
              <a:rPr lang="hu-HU" dirty="0" smtClean="0"/>
              <a:t>a fejlesztők számára</a:t>
            </a:r>
            <a:endParaRPr lang="hu-HU" dirty="0" smtClean="0"/>
          </a:p>
        </p:txBody>
      </p:sp>
    </p:spTree>
    <p:extLst>
      <p:ext uri="{BB962C8B-B14F-4D97-AF65-F5344CB8AC3E}">
        <p14:creationId xmlns:p14="http://schemas.microsoft.com/office/powerpoint/2010/main" val="29459293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Az MI helyzete napjainkban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hu-HU" dirty="0" smtClean="0"/>
              <a:t>A nyílt tudásmegosztásnak köszönhetően tökéletesen tudható, hogy hogyan működnek az </a:t>
            </a:r>
            <a:r>
              <a:rPr lang="hu-HU" dirty="0" err="1" smtClean="0"/>
              <a:t>MI-rendszerek</a:t>
            </a:r>
            <a:r>
              <a:rPr lang="hu-HU" dirty="0" smtClean="0"/>
              <a:t>, </a:t>
            </a:r>
            <a:r>
              <a:rPr lang="hu-HU" b="1" dirty="0" smtClean="0"/>
              <a:t>nincsenek nagy céges vagy kormányzati titkok</a:t>
            </a:r>
          </a:p>
          <a:p>
            <a:pPr lvl="1"/>
            <a:r>
              <a:rPr lang="hu-HU" dirty="0" smtClean="0"/>
              <a:t>mi az architektúra (</a:t>
            </a:r>
            <a:r>
              <a:rPr lang="hu-HU" dirty="0" err="1" smtClean="0"/>
              <a:t>transzformer</a:t>
            </a:r>
            <a:r>
              <a:rPr lang="hu-HU" dirty="0" smtClean="0"/>
              <a:t> stb.)</a:t>
            </a:r>
          </a:p>
          <a:p>
            <a:pPr lvl="2"/>
            <a:r>
              <a:rPr lang="hu-HU" dirty="0" smtClean="0"/>
              <a:t>A konkrét implementáció részleteit esetleg titokban tartják, pl. tanítóadatok mennyisége, típusa, forrása, a futó alkalmazásban használt rétegek és </a:t>
            </a:r>
            <a:r>
              <a:rPr lang="hu-HU" dirty="0" err="1" smtClean="0"/>
              <a:t>transzformerblokkok</a:t>
            </a:r>
            <a:r>
              <a:rPr lang="hu-HU" dirty="0" smtClean="0"/>
              <a:t> száma, paraméterek, tanítási </a:t>
            </a:r>
            <a:r>
              <a:rPr lang="hu-HU" dirty="0" err="1" smtClean="0"/>
              <a:t>hiperparaméterek</a:t>
            </a:r>
            <a:r>
              <a:rPr lang="hu-HU" dirty="0" smtClean="0"/>
              <a:t> stb.</a:t>
            </a:r>
          </a:p>
          <a:p>
            <a:pPr lvl="1"/>
            <a:r>
              <a:rPr lang="hu-HU" dirty="0" smtClean="0"/>
              <a:t>milyen hardveren fut</a:t>
            </a:r>
          </a:p>
          <a:p>
            <a:pPr lvl="2"/>
            <a:r>
              <a:rPr lang="hu-HU" dirty="0" smtClean="0"/>
              <a:t>a </a:t>
            </a:r>
            <a:r>
              <a:rPr lang="hu-HU" dirty="0" err="1" smtClean="0"/>
              <a:t>GPU-k</a:t>
            </a:r>
            <a:r>
              <a:rPr lang="hu-HU" dirty="0" smtClean="0"/>
              <a:t> pontos számát stb. nem tudjuk, de ez eleve dinamikusan változik a szerverterhelés függvényében</a:t>
            </a:r>
          </a:p>
          <a:p>
            <a:r>
              <a:rPr lang="hu-HU" dirty="0" smtClean="0"/>
              <a:t>A felhasználó a </a:t>
            </a:r>
            <a:r>
              <a:rPr lang="hu-HU" b="1" dirty="0" smtClean="0"/>
              <a:t>saját hardverén </a:t>
            </a:r>
            <a:r>
              <a:rPr lang="hu-HU" dirty="0" smtClean="0"/>
              <a:t>vagy felhőszolgáltatótól </a:t>
            </a:r>
            <a:r>
              <a:rPr lang="hu-HU" dirty="0"/>
              <a:t>(</a:t>
            </a:r>
            <a:r>
              <a:rPr lang="hu-HU" dirty="0" err="1"/>
              <a:t>Google</a:t>
            </a:r>
            <a:r>
              <a:rPr lang="hu-HU" dirty="0"/>
              <a:t> </a:t>
            </a:r>
            <a:r>
              <a:rPr lang="hu-HU" dirty="0" err="1"/>
              <a:t>Cloud</a:t>
            </a:r>
            <a:r>
              <a:rPr lang="hu-HU" dirty="0"/>
              <a:t>, Amazon </a:t>
            </a:r>
            <a:r>
              <a:rPr lang="hu-HU" dirty="0" err="1"/>
              <a:t>AWS</a:t>
            </a:r>
            <a:r>
              <a:rPr lang="hu-HU" dirty="0"/>
              <a:t>, Microsoft </a:t>
            </a:r>
            <a:r>
              <a:rPr lang="hu-HU" dirty="0" err="1"/>
              <a:t>Azure</a:t>
            </a:r>
            <a:r>
              <a:rPr lang="hu-HU" dirty="0"/>
              <a:t>) </a:t>
            </a:r>
            <a:r>
              <a:rPr lang="hu-HU" dirty="0" smtClean="0"/>
              <a:t>bérelt hardveren </a:t>
            </a:r>
            <a:r>
              <a:rPr lang="hu-HU" b="1" dirty="0" smtClean="0"/>
              <a:t>reprodukálni </a:t>
            </a:r>
            <a:r>
              <a:rPr lang="hu-HU" dirty="0" smtClean="0"/>
              <a:t>tud olyan </a:t>
            </a:r>
            <a:r>
              <a:rPr lang="hu-HU" dirty="0" err="1" smtClean="0"/>
              <a:t>MI-rendszereket</a:t>
            </a:r>
            <a:r>
              <a:rPr lang="hu-HU" dirty="0" smtClean="0"/>
              <a:t>, amelyek </a:t>
            </a:r>
            <a:r>
              <a:rPr lang="hu-HU" b="1" dirty="0" smtClean="0"/>
              <a:t>majdnem ugyanazt csinálják</a:t>
            </a:r>
            <a:r>
              <a:rPr lang="hu-HU" dirty="0" smtClean="0"/>
              <a:t>, mint egy kereskedelmi rendszer</a:t>
            </a:r>
          </a:p>
          <a:p>
            <a:pPr lvl="1"/>
            <a:r>
              <a:rPr lang="hu-HU" dirty="0" smtClean="0"/>
              <a:t>gépi tanulási szoftverek lehetnek </a:t>
            </a:r>
            <a:r>
              <a:rPr lang="hu-HU" dirty="0" err="1" smtClean="0"/>
              <a:t>platformspecifikusak</a:t>
            </a:r>
            <a:r>
              <a:rPr lang="hu-HU" dirty="0" smtClean="0"/>
              <a:t> vagy nyílt forráskódúak, pl. </a:t>
            </a:r>
            <a:r>
              <a:rPr lang="hu-HU" dirty="0" err="1" smtClean="0"/>
              <a:t>TensorFlow</a:t>
            </a:r>
            <a:r>
              <a:rPr lang="hu-HU" dirty="0"/>
              <a:t> </a:t>
            </a:r>
            <a:r>
              <a:rPr lang="hu-HU" dirty="0" smtClean="0"/>
              <a:t>és </a:t>
            </a:r>
            <a:r>
              <a:rPr lang="hu-HU" dirty="0" err="1" smtClean="0"/>
              <a:t>Pytorch</a:t>
            </a:r>
            <a:endParaRPr lang="hu-HU" dirty="0" smtClean="0"/>
          </a:p>
          <a:p>
            <a:pPr lvl="1"/>
            <a:r>
              <a:rPr lang="hu-HU" dirty="0" smtClean="0"/>
              <a:t>ha a felhasználó ún. fogyasztói hardvert használ, a teljesítmény és a </a:t>
            </a:r>
            <a:r>
              <a:rPr lang="hu-HU" dirty="0" err="1" smtClean="0"/>
              <a:t>predikciók</a:t>
            </a:r>
            <a:r>
              <a:rPr lang="hu-HU" dirty="0" smtClean="0"/>
              <a:t> pontossága többnyire gyengébb lesz az erőforrások nagyságrendjének különbsége miatt</a:t>
            </a:r>
          </a:p>
          <a:p>
            <a:r>
              <a:rPr lang="hu-HU" dirty="0" smtClean="0"/>
              <a:t>A felhasználó </a:t>
            </a:r>
            <a:r>
              <a:rPr lang="hu-HU" b="1" dirty="0" smtClean="0"/>
              <a:t>hozzáigazíthatja a modellt </a:t>
            </a:r>
            <a:r>
              <a:rPr lang="hu-HU" dirty="0" smtClean="0"/>
              <a:t>a saját adataihoz úgy, hogy </a:t>
            </a:r>
            <a:r>
              <a:rPr lang="hu-HU" b="1" dirty="0" smtClean="0"/>
              <a:t>részeket ad hozzá </a:t>
            </a:r>
            <a:r>
              <a:rPr lang="hu-HU" dirty="0" smtClean="0"/>
              <a:t>vagy </a:t>
            </a:r>
            <a:r>
              <a:rPr lang="hu-HU" b="1" dirty="0" err="1" smtClean="0"/>
              <a:t>finomhangolja</a:t>
            </a:r>
            <a:r>
              <a:rPr lang="hu-HU" b="1" dirty="0" smtClean="0"/>
              <a:t> a meglévő modellsúlyokat</a:t>
            </a:r>
            <a:r>
              <a:rPr lang="hu-HU" dirty="0" smtClean="0"/>
              <a:t>.</a:t>
            </a:r>
            <a:endParaRPr lang="hu-HU" dirty="0" smtClean="0"/>
          </a:p>
        </p:txBody>
      </p:sp>
    </p:spTree>
    <p:extLst>
      <p:ext uri="{BB962C8B-B14F-4D97-AF65-F5344CB8AC3E}">
        <p14:creationId xmlns:p14="http://schemas.microsoft.com/office/powerpoint/2010/main" val="4003016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7104</TotalTime>
  <Words>2692</Words>
  <Application>Microsoft Office PowerPoint</Application>
  <PresentationFormat>Diavetítés a képernyőre (4:3 oldalarány)</PresentationFormat>
  <Paragraphs>239</Paragraphs>
  <Slides>24</Slides>
  <Notes>2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24</vt:i4>
      </vt:variant>
    </vt:vector>
  </HeadingPairs>
  <TitlesOfParts>
    <vt:vector size="25" baseType="lpstr">
      <vt:lpstr>Office-téma</vt:lpstr>
      <vt:lpstr>Generatív mesterséges intelligencia Mélytanulás és az MI-kutatás állása ma</vt:lpstr>
      <vt:lpstr>Mélytanulás</vt:lpstr>
      <vt:lpstr>Mélytanulás</vt:lpstr>
      <vt:lpstr>Mélytanulás</vt:lpstr>
      <vt:lpstr>Mélytanulás</vt:lpstr>
      <vt:lpstr>Mélytanulás</vt:lpstr>
      <vt:lpstr>Mélytanulás</vt:lpstr>
      <vt:lpstr>Mélytanulás és hagyományos gépi tanulás viszonya</vt:lpstr>
      <vt:lpstr>Mélytanulás és hagyományos gépi tanulás viszonya</vt:lpstr>
      <vt:lpstr>Zaj</vt:lpstr>
      <vt:lpstr>Zaj</vt:lpstr>
      <vt:lpstr>Reprezentációtanulás</vt:lpstr>
      <vt:lpstr>PowerPoint bemutató</vt:lpstr>
      <vt:lpstr>Reprezentációtanulás</vt:lpstr>
      <vt:lpstr>A generatív modellek felemelkedése</vt:lpstr>
      <vt:lpstr>A generatív modellek felemelkedése</vt:lpstr>
      <vt:lpstr>A generatív modellek felemelkedése</vt:lpstr>
      <vt:lpstr>Az MI helyzete napjainkban</vt:lpstr>
      <vt:lpstr>Az MI helyzete napjainkban</vt:lpstr>
      <vt:lpstr>Az MI helyzete napjainkban</vt:lpstr>
      <vt:lpstr>Az MI helyzete napjainkban</vt:lpstr>
      <vt:lpstr>Az MI helyzete napjainkban</vt:lpstr>
      <vt:lpstr>Az MI helyzete napjainkban</vt:lpstr>
      <vt:lpstr>Az MI helyzete napjainkban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Generatív mesterséges intelligencia</dc:title>
  <dc:creator>Anonim</dc:creator>
  <cp:lastModifiedBy>Anonim</cp:lastModifiedBy>
  <cp:revision>148</cp:revision>
  <dcterms:created xsi:type="dcterms:W3CDTF">2025-09-30T21:12:38Z</dcterms:created>
  <dcterms:modified xsi:type="dcterms:W3CDTF">2025-10-16T11:20:34Z</dcterms:modified>
</cp:coreProperties>
</file>